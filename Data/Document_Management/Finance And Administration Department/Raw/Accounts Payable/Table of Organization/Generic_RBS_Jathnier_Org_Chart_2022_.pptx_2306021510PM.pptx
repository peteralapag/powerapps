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63" r:id="rId2"/>
    <p:sldId id="256" r:id="rId3"/>
    <p:sldId id="257" r:id="rId4"/>
    <p:sldId id="269" r:id="rId5"/>
    <p:sldId id="258" r:id="rId6"/>
    <p:sldId id="270" r:id="rId7"/>
    <p:sldId id="259" r:id="rId8"/>
    <p:sldId id="271" r:id="rId9"/>
    <p:sldId id="260" r:id="rId10"/>
    <p:sldId id="272" r:id="rId11"/>
    <p:sldId id="262" r:id="rId12"/>
    <p:sldId id="273" r:id="rId13"/>
    <p:sldId id="268" r:id="rId14"/>
    <p:sldId id="274" r:id="rId15"/>
    <p:sldId id="264" r:id="rId16"/>
    <p:sldId id="266" r:id="rId17"/>
    <p:sldId id="265" r:id="rId18"/>
  </p:sldIdLst>
  <p:sldSz cx="9144000" cy="6858000" type="screen4x3"/>
  <p:notesSz cx="6858000" cy="9313863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309" autoAdjust="0"/>
    <p:restoredTop sz="94660"/>
  </p:normalViewPr>
  <p:slideViewPr>
    <p:cSldViewPr>
      <p:cViewPr>
        <p:scale>
          <a:sx n="220" d="100"/>
          <a:sy n="220" d="100"/>
        </p:scale>
        <p:origin x="156" y="-2448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CC2DAA8-C562-4116-8E20-6C8DD300FD7A}" type="datetimeFigureOut">
              <a:rPr lang="en-PH" smtClean="0"/>
              <a:t>23/05/2023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33500" y="1163638"/>
            <a:ext cx="4191000" cy="31432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81513"/>
            <a:ext cx="5486400" cy="3668712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47138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847138"/>
            <a:ext cx="2971800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BD6EF1C-A8E7-461A-8009-F43194A46B91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2653773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D6EF1C-A8E7-461A-8009-F43194A46B91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316863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4972-05C2-417E-A03B-40683E824D9F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B4AE-BAD7-47F1-8277-08E8E831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33308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4972-05C2-417E-A03B-40683E824D9F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B4AE-BAD7-47F1-8277-08E8E831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667523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4972-05C2-417E-A03B-40683E824D9F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B4AE-BAD7-47F1-8277-08E8E831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3398528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4972-05C2-417E-A03B-40683E824D9F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B4AE-BAD7-47F1-8277-08E8E831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84461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4972-05C2-417E-A03B-40683E824D9F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B4AE-BAD7-47F1-8277-08E8E831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30071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4972-05C2-417E-A03B-40683E824D9F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B4AE-BAD7-47F1-8277-08E8E831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410140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4972-05C2-417E-A03B-40683E824D9F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B4AE-BAD7-47F1-8277-08E8E831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98921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4972-05C2-417E-A03B-40683E824D9F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B4AE-BAD7-47F1-8277-08E8E831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8544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4972-05C2-417E-A03B-40683E824D9F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B4AE-BAD7-47F1-8277-08E8E831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23591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4972-05C2-417E-A03B-40683E824D9F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B4AE-BAD7-47F1-8277-08E8E831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686873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23E4972-05C2-417E-A03B-40683E824D9F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290B4AE-BAD7-47F1-8277-08E8E831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0139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23E4972-05C2-417E-A03B-40683E824D9F}" type="datetimeFigureOut">
              <a:rPr lang="en-US" smtClean="0"/>
              <a:t>5/23/2023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290B4AE-BAD7-47F1-8277-08E8E8313FE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495704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162050" y="2713672"/>
            <a:ext cx="689610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JATHNIER CORPORATION ROSE BAKESHOP</a:t>
            </a:r>
          </a:p>
          <a:p>
            <a:pPr algn="ctr"/>
            <a:r>
              <a:rPr lang="en-US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ORGANIZATIONAL STRUCTURE</a:t>
            </a:r>
          </a:p>
          <a:p>
            <a:pPr algn="ctr"/>
            <a:r>
              <a:rPr lang="en-US" sz="3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2022</a:t>
            </a:r>
            <a:endParaRPr lang="en-US" sz="3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143000" y="5697379"/>
            <a:ext cx="68961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Revised version 06/28/2022</a:t>
            </a:r>
            <a:endParaRPr lang="en-US" sz="1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50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579813" y="1143000"/>
            <a:ext cx="1982788" cy="139169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34535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Rectangle 161"/>
          <p:cNvSpPr/>
          <p:nvPr/>
        </p:nvSpPr>
        <p:spPr>
          <a:xfrm>
            <a:off x="76200" y="1591857"/>
            <a:ext cx="8935594" cy="8823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52" name="Rectangle 151"/>
          <p:cNvSpPr/>
          <p:nvPr/>
        </p:nvSpPr>
        <p:spPr>
          <a:xfrm>
            <a:off x="76200" y="4156999"/>
            <a:ext cx="8935594" cy="869103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" name="Rectangle 2"/>
          <p:cNvSpPr/>
          <p:nvPr/>
        </p:nvSpPr>
        <p:spPr>
          <a:xfrm>
            <a:off x="76200" y="2468740"/>
            <a:ext cx="8935594" cy="168825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89" name="Straight Connector 88"/>
          <p:cNvCxnSpPr>
            <a:stCxn id="20" idx="2"/>
            <a:endCxn id="56" idx="2"/>
          </p:cNvCxnSpPr>
          <p:nvPr/>
        </p:nvCxnSpPr>
        <p:spPr>
          <a:xfrm flipH="1">
            <a:off x="8338218" y="2293843"/>
            <a:ext cx="20250" cy="26301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/>
          <p:nvPr/>
        </p:nvCxnSpPr>
        <p:spPr>
          <a:xfrm flipH="1">
            <a:off x="5397500" y="4524371"/>
            <a:ext cx="3140" cy="200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5" name="TextBox 124"/>
          <p:cNvSpPr txBox="1"/>
          <p:nvPr/>
        </p:nvSpPr>
        <p:spPr>
          <a:xfrm>
            <a:off x="1018364" y="131506"/>
            <a:ext cx="68961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 ORGANIZATIONAL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JATHNIER CORPORATION </a:t>
            </a:r>
          </a:p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EXECOM, TOP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LEVEL &amp; MID-LEVEL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MANAGEMENT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4080164" y="1981200"/>
            <a:ext cx="6858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762000" y="3748305"/>
            <a:ext cx="6096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/>
          <p:cNvSpPr/>
          <p:nvPr/>
        </p:nvSpPr>
        <p:spPr>
          <a:xfrm>
            <a:off x="2209800" y="3748305"/>
            <a:ext cx="6096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4610100" y="3748305"/>
            <a:ext cx="6096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5753100" y="3748305"/>
            <a:ext cx="6096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39100" y="3748305"/>
            <a:ext cx="6096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7391400" y="3756743"/>
            <a:ext cx="533400" cy="2949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743200" y="2362200"/>
            <a:ext cx="609600" cy="2286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723900" y="3777594"/>
            <a:ext cx="68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Human Resource</a:t>
            </a:r>
          </a:p>
          <a:p>
            <a:pPr algn="ctr"/>
            <a:r>
              <a:rPr lang="en-US" sz="500" b="1" dirty="0" smtClean="0"/>
              <a:t>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187425" y="3733399"/>
            <a:ext cx="685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Branch</a:t>
            </a:r>
          </a:p>
          <a:p>
            <a:pPr algn="ctr"/>
            <a:r>
              <a:rPr lang="en-US" sz="500" b="1" dirty="0" smtClean="0"/>
              <a:t>Operations</a:t>
            </a:r>
          </a:p>
          <a:p>
            <a:pPr algn="ctr"/>
            <a:r>
              <a:rPr lang="en-US" sz="500" b="1" dirty="0" smtClean="0"/>
              <a:t>Manager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3777592"/>
            <a:ext cx="68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Production</a:t>
            </a:r>
          </a:p>
          <a:p>
            <a:pPr algn="ctr"/>
            <a:r>
              <a:rPr lang="en-US" sz="500" b="1" dirty="0" smtClean="0"/>
              <a:t>Manager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15000" y="3773603"/>
            <a:ext cx="68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Marketing</a:t>
            </a:r>
          </a:p>
          <a:p>
            <a:pPr algn="ctr"/>
            <a:r>
              <a:rPr lang="en-US" sz="500" b="1" dirty="0" smtClean="0"/>
              <a:t>Manager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001000" y="3733800"/>
            <a:ext cx="685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Engineering &amp;</a:t>
            </a:r>
          </a:p>
          <a:p>
            <a:pPr algn="ctr"/>
            <a:r>
              <a:rPr lang="en-US" sz="500" b="1" dirty="0" smtClean="0"/>
              <a:t>Maintenance</a:t>
            </a:r>
          </a:p>
          <a:p>
            <a:pPr algn="ctr"/>
            <a:r>
              <a:rPr lang="en-US" sz="500" b="1" dirty="0" smtClean="0"/>
              <a:t>Manager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315200" y="3792379"/>
            <a:ext cx="68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Supply Chain</a:t>
            </a:r>
          </a:p>
          <a:p>
            <a:pPr algn="ctr"/>
            <a:r>
              <a:rPr lang="en-US" sz="500" b="1" dirty="0" smtClean="0"/>
              <a:t>Manager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15568" y="1989043"/>
            <a:ext cx="6858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/>
          <p:cNvSpPr txBox="1"/>
          <p:nvPr/>
        </p:nvSpPr>
        <p:spPr>
          <a:xfrm>
            <a:off x="8015568" y="2014069"/>
            <a:ext cx="67123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President / </a:t>
            </a:r>
          </a:p>
          <a:p>
            <a:pPr algn="ctr"/>
            <a:r>
              <a:rPr lang="en-US" sz="500" b="1" dirty="0" smtClean="0"/>
              <a:t>RFRC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080164" y="1970752"/>
            <a:ext cx="685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Vice President / </a:t>
            </a:r>
          </a:p>
          <a:p>
            <a:pPr algn="ctr"/>
            <a:r>
              <a:rPr lang="en-US" sz="500" b="1" dirty="0" smtClean="0"/>
              <a:t>Operations Director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43200" y="2343647"/>
            <a:ext cx="6096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Executive</a:t>
            </a:r>
          </a:p>
          <a:p>
            <a:pPr algn="ctr"/>
            <a:r>
              <a:rPr lang="en-US" sz="500" b="1" dirty="0" smtClean="0"/>
              <a:t>Assistant Office </a:t>
            </a:r>
          </a:p>
        </p:txBody>
      </p:sp>
      <p:sp>
        <p:nvSpPr>
          <p:cNvPr id="24" name="Rectangle 23"/>
          <p:cNvSpPr/>
          <p:nvPr/>
        </p:nvSpPr>
        <p:spPr>
          <a:xfrm>
            <a:off x="152400" y="4313226"/>
            <a:ext cx="381000" cy="2154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/>
          <p:cNvSpPr txBox="1"/>
          <p:nvPr/>
        </p:nvSpPr>
        <p:spPr>
          <a:xfrm>
            <a:off x="76200" y="4300070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Recruitment &amp;</a:t>
            </a:r>
          </a:p>
          <a:p>
            <a:pPr algn="ctr"/>
            <a:r>
              <a:rPr lang="en-US" sz="400" b="1" dirty="0" smtClean="0"/>
              <a:t>Staffing Officer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9600" y="4313226"/>
            <a:ext cx="381000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533400" y="4313225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Training &amp; </a:t>
            </a:r>
          </a:p>
          <a:p>
            <a:pPr algn="ctr"/>
            <a:r>
              <a:rPr lang="en-US" sz="400" b="1" dirty="0" smtClean="0"/>
              <a:t>Development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1066800" y="4313226"/>
            <a:ext cx="381000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995220" y="4285162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Employee &amp; Labor</a:t>
            </a:r>
          </a:p>
          <a:p>
            <a:pPr algn="ctr"/>
            <a:r>
              <a:rPr lang="en-US" sz="400" b="1" dirty="0" smtClean="0"/>
              <a:t>Relations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1524000" y="4313226"/>
            <a:ext cx="381000" cy="2154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1447046" y="4307669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Compensation</a:t>
            </a:r>
          </a:p>
          <a:p>
            <a:pPr algn="ctr"/>
            <a:r>
              <a:rPr lang="en-US" sz="400" b="1" dirty="0" smtClean="0"/>
              <a:t>&amp; Benefits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2011993" y="4314032"/>
            <a:ext cx="278370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1891546" y="4304105"/>
            <a:ext cx="533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" b="1" dirty="0" smtClean="0"/>
              <a:t>Area Branch Operations</a:t>
            </a:r>
          </a:p>
          <a:p>
            <a:pPr algn="ctr"/>
            <a:r>
              <a:rPr lang="en-US" sz="300" b="1" dirty="0" smtClean="0"/>
              <a:t>Head 1</a:t>
            </a:r>
          </a:p>
        </p:txBody>
      </p:sp>
      <p:sp>
        <p:nvSpPr>
          <p:cNvPr id="34" name="Rectangle 33"/>
          <p:cNvSpPr/>
          <p:nvPr/>
        </p:nvSpPr>
        <p:spPr>
          <a:xfrm>
            <a:off x="2348434" y="4322949"/>
            <a:ext cx="268944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/>
          <p:cNvSpPr/>
          <p:nvPr/>
        </p:nvSpPr>
        <p:spPr>
          <a:xfrm>
            <a:off x="2679832" y="4320919"/>
            <a:ext cx="273575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2308835" y="4290142"/>
            <a:ext cx="3678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" b="1" dirty="0" smtClean="0"/>
              <a:t>Area Branch </a:t>
            </a:r>
          </a:p>
          <a:p>
            <a:pPr algn="ctr"/>
            <a:r>
              <a:rPr lang="en-US" sz="300" b="1" dirty="0" smtClean="0"/>
              <a:t>Operations</a:t>
            </a:r>
          </a:p>
          <a:p>
            <a:pPr algn="ctr"/>
            <a:r>
              <a:rPr lang="en-US" sz="300" b="1" dirty="0" smtClean="0"/>
              <a:t>Head 2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570235" y="4313166"/>
            <a:ext cx="533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" b="1" dirty="0" smtClean="0"/>
              <a:t>Area Branch Operations</a:t>
            </a:r>
          </a:p>
          <a:p>
            <a:pPr algn="ctr"/>
            <a:r>
              <a:rPr lang="en-US" sz="300" b="1" dirty="0" smtClean="0"/>
              <a:t>Head 3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009900" y="4313226"/>
            <a:ext cx="266700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0" name="Rectangle 39"/>
          <p:cNvSpPr/>
          <p:nvPr/>
        </p:nvSpPr>
        <p:spPr>
          <a:xfrm>
            <a:off x="3626106" y="4313226"/>
            <a:ext cx="260093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2971800" y="4313226"/>
            <a:ext cx="3683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" b="1" dirty="0" smtClean="0"/>
              <a:t>General Accounting</a:t>
            </a:r>
          </a:p>
          <a:p>
            <a:pPr algn="ctr"/>
            <a:r>
              <a:rPr lang="en-US" sz="300" b="1" dirty="0" smtClean="0"/>
              <a:t>Head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548597" y="4334147"/>
            <a:ext cx="41485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" b="1" dirty="0" smtClean="0"/>
              <a:t>AP / AR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24400" y="4313226"/>
            <a:ext cx="381000" cy="2154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Rectangle 44"/>
          <p:cNvSpPr/>
          <p:nvPr/>
        </p:nvSpPr>
        <p:spPr>
          <a:xfrm>
            <a:off x="5207000" y="4313226"/>
            <a:ext cx="381000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6" name="TextBox 45"/>
          <p:cNvSpPr txBox="1"/>
          <p:nvPr/>
        </p:nvSpPr>
        <p:spPr>
          <a:xfrm>
            <a:off x="4654550" y="4282447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Quality</a:t>
            </a:r>
          </a:p>
          <a:p>
            <a:pPr algn="ctr"/>
            <a:r>
              <a:rPr lang="en-US" sz="400" b="1" dirty="0" smtClean="0"/>
              <a:t>Assurance</a:t>
            </a:r>
          </a:p>
          <a:p>
            <a:pPr algn="ctr"/>
            <a:r>
              <a:rPr lang="en-US" sz="400" b="1" dirty="0" smtClean="0"/>
              <a:t>Officer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130800" y="4313226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Baking Center</a:t>
            </a:r>
          </a:p>
          <a:p>
            <a:pPr algn="ctr"/>
            <a:r>
              <a:rPr lang="en-US" sz="400" b="1" dirty="0" smtClean="0"/>
              <a:t>Head</a:t>
            </a:r>
          </a:p>
        </p:txBody>
      </p:sp>
      <p:sp>
        <p:nvSpPr>
          <p:cNvPr id="49" name="Rectangle 48"/>
          <p:cNvSpPr/>
          <p:nvPr/>
        </p:nvSpPr>
        <p:spPr>
          <a:xfrm>
            <a:off x="5638800" y="4313226"/>
            <a:ext cx="381000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ectangle 49"/>
          <p:cNvSpPr/>
          <p:nvPr/>
        </p:nvSpPr>
        <p:spPr>
          <a:xfrm>
            <a:off x="6096000" y="4313226"/>
            <a:ext cx="381000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5559950" y="4313226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Sales, Promo &amp;</a:t>
            </a:r>
          </a:p>
          <a:p>
            <a:pPr algn="ctr"/>
            <a:r>
              <a:rPr lang="en-US" sz="400" b="1" dirty="0" smtClean="0"/>
              <a:t>Brand Officer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6019800" y="4282447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New Business</a:t>
            </a:r>
          </a:p>
          <a:p>
            <a:pPr algn="ctr"/>
            <a:r>
              <a:rPr lang="en-US" sz="400" b="1" dirty="0" smtClean="0"/>
              <a:t>Development</a:t>
            </a:r>
          </a:p>
          <a:p>
            <a:pPr algn="ctr"/>
            <a:r>
              <a:rPr lang="en-US" sz="400" b="1" dirty="0" smtClean="0"/>
              <a:t>Officer</a:t>
            </a:r>
          </a:p>
        </p:txBody>
      </p:sp>
      <p:sp>
        <p:nvSpPr>
          <p:cNvPr id="53" name="Rectangle 52"/>
          <p:cNvSpPr/>
          <p:nvPr/>
        </p:nvSpPr>
        <p:spPr>
          <a:xfrm>
            <a:off x="7928020" y="4624757"/>
            <a:ext cx="238090" cy="38794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8209510" y="4624757"/>
            <a:ext cx="245673" cy="28732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6511925" y="4619483"/>
            <a:ext cx="381000" cy="2154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70" name="Straight Connector 69"/>
          <p:cNvCxnSpPr/>
          <p:nvPr/>
        </p:nvCxnSpPr>
        <p:spPr>
          <a:xfrm>
            <a:off x="3577394" y="3526812"/>
            <a:ext cx="4006" cy="6971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TextBox 55"/>
          <p:cNvSpPr txBox="1"/>
          <p:nvPr/>
        </p:nvSpPr>
        <p:spPr>
          <a:xfrm>
            <a:off x="8137673" y="4600856"/>
            <a:ext cx="40109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" b="1" dirty="0" smtClean="0"/>
              <a:t>Fleet/ </a:t>
            </a:r>
          </a:p>
          <a:p>
            <a:pPr algn="ctr"/>
            <a:r>
              <a:rPr lang="en-US" sz="300" b="1" dirty="0" smtClean="0"/>
              <a:t>Equipment</a:t>
            </a:r>
          </a:p>
          <a:p>
            <a:pPr algn="ctr"/>
            <a:r>
              <a:rPr lang="en-US" sz="300" b="1" dirty="0" smtClean="0"/>
              <a:t>Repair &amp; </a:t>
            </a:r>
          </a:p>
          <a:p>
            <a:pPr algn="ctr"/>
            <a:r>
              <a:rPr lang="en-US" sz="300" b="1" dirty="0" smtClean="0"/>
              <a:t>Maintenance</a:t>
            </a:r>
          </a:p>
          <a:p>
            <a:pPr algn="ctr"/>
            <a:r>
              <a:rPr lang="en-US" sz="300" b="1" dirty="0" smtClean="0"/>
              <a:t>Supervisor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6438900" y="4592336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Information</a:t>
            </a:r>
          </a:p>
          <a:p>
            <a:pPr algn="ctr"/>
            <a:r>
              <a:rPr lang="en-US" sz="400" b="1" dirty="0" smtClean="0"/>
              <a:t>Technology</a:t>
            </a:r>
          </a:p>
          <a:p>
            <a:pPr algn="ctr"/>
            <a:r>
              <a:rPr lang="en-US" sz="400" b="1" dirty="0" smtClean="0"/>
              <a:t>(IT)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7828510" y="4613702"/>
            <a:ext cx="45455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" b="1" dirty="0" smtClean="0"/>
              <a:t>Building/</a:t>
            </a:r>
          </a:p>
          <a:p>
            <a:pPr algn="ctr"/>
            <a:r>
              <a:rPr lang="en-US" sz="300" b="1" dirty="0" smtClean="0"/>
              <a:t>Facilities</a:t>
            </a:r>
          </a:p>
          <a:p>
            <a:pPr algn="ctr"/>
            <a:r>
              <a:rPr lang="en-US" sz="300" b="1" dirty="0" smtClean="0"/>
              <a:t>Repair, Renovation, </a:t>
            </a:r>
          </a:p>
          <a:p>
            <a:pPr algn="ctr"/>
            <a:r>
              <a:rPr lang="en-US" sz="300" b="1" dirty="0" smtClean="0"/>
              <a:t>Machine &amp; Fabrication</a:t>
            </a:r>
          </a:p>
          <a:p>
            <a:pPr algn="ctr"/>
            <a:r>
              <a:rPr lang="en-US" sz="300" b="1" dirty="0" smtClean="0"/>
              <a:t>Supervisor</a:t>
            </a:r>
          </a:p>
        </p:txBody>
      </p:sp>
      <p:cxnSp>
        <p:nvCxnSpPr>
          <p:cNvPr id="61" name="Straight Connector 60"/>
          <p:cNvCxnSpPr/>
          <p:nvPr/>
        </p:nvCxnSpPr>
        <p:spPr>
          <a:xfrm>
            <a:off x="1080545" y="3529910"/>
            <a:ext cx="6578748" cy="67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stCxn id="22" idx="2"/>
          </p:cNvCxnSpPr>
          <p:nvPr/>
        </p:nvCxnSpPr>
        <p:spPr>
          <a:xfrm>
            <a:off x="4423064" y="2285439"/>
            <a:ext cx="2232" cy="1247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Connector 66"/>
          <p:cNvCxnSpPr>
            <a:endCxn id="5" idx="0"/>
          </p:cNvCxnSpPr>
          <p:nvPr/>
        </p:nvCxnSpPr>
        <p:spPr>
          <a:xfrm>
            <a:off x="1066800" y="3538070"/>
            <a:ext cx="0" cy="210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9" name="Straight Connector 68"/>
          <p:cNvCxnSpPr/>
          <p:nvPr/>
        </p:nvCxnSpPr>
        <p:spPr>
          <a:xfrm>
            <a:off x="2501037" y="3535686"/>
            <a:ext cx="0" cy="210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1" name="Straight Connector 70"/>
          <p:cNvCxnSpPr/>
          <p:nvPr/>
        </p:nvCxnSpPr>
        <p:spPr>
          <a:xfrm>
            <a:off x="4922303" y="3538070"/>
            <a:ext cx="0" cy="210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>
            <a:off x="6057900" y="3538069"/>
            <a:ext cx="0" cy="210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>
            <a:off x="7658100" y="3532590"/>
            <a:ext cx="0" cy="22415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342900" y="4223870"/>
            <a:ext cx="14097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8" name="Straight Connector 77"/>
          <p:cNvCxnSpPr/>
          <p:nvPr/>
        </p:nvCxnSpPr>
        <p:spPr>
          <a:xfrm>
            <a:off x="2171700" y="4223870"/>
            <a:ext cx="665235" cy="71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Connector 79"/>
          <p:cNvCxnSpPr/>
          <p:nvPr/>
        </p:nvCxnSpPr>
        <p:spPr>
          <a:xfrm>
            <a:off x="4457700" y="4223870"/>
            <a:ext cx="939800" cy="14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3" name="Straight Connector 82"/>
          <p:cNvCxnSpPr/>
          <p:nvPr/>
        </p:nvCxnSpPr>
        <p:spPr>
          <a:xfrm flipV="1">
            <a:off x="3137691" y="4221412"/>
            <a:ext cx="923820" cy="251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6" name="Straight Connector 85"/>
          <p:cNvCxnSpPr/>
          <p:nvPr/>
        </p:nvCxnSpPr>
        <p:spPr>
          <a:xfrm>
            <a:off x="5867400" y="4223870"/>
            <a:ext cx="41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8" name="Straight Connector 87"/>
          <p:cNvCxnSpPr/>
          <p:nvPr/>
        </p:nvCxnSpPr>
        <p:spPr>
          <a:xfrm>
            <a:off x="8037224" y="4572000"/>
            <a:ext cx="8763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2" name="Straight Connector 91"/>
          <p:cNvCxnSpPr/>
          <p:nvPr/>
        </p:nvCxnSpPr>
        <p:spPr>
          <a:xfrm>
            <a:off x="6715650" y="4529384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0" name="Straight Connector 99"/>
          <p:cNvCxnSpPr/>
          <p:nvPr/>
        </p:nvCxnSpPr>
        <p:spPr>
          <a:xfrm>
            <a:off x="5867400" y="4223870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6286500" y="4223870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4457700" y="4223870"/>
            <a:ext cx="2650" cy="5033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stCxn id="8" idx="2"/>
            <a:endCxn id="44" idx="0"/>
          </p:cNvCxnSpPr>
          <p:nvPr/>
        </p:nvCxnSpPr>
        <p:spPr>
          <a:xfrm>
            <a:off x="4914900" y="4053105"/>
            <a:ext cx="0" cy="26012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/>
          <p:nvPr/>
        </p:nvCxnSpPr>
        <p:spPr>
          <a:xfrm>
            <a:off x="5397500" y="4223126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>
            <a:off x="6073626" y="4053104"/>
            <a:ext cx="0" cy="170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/>
          <p:nvPr/>
        </p:nvCxnSpPr>
        <p:spPr>
          <a:xfrm>
            <a:off x="3142805" y="4223931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2" name="Straight Connector 111"/>
          <p:cNvCxnSpPr/>
          <p:nvPr/>
        </p:nvCxnSpPr>
        <p:spPr>
          <a:xfrm>
            <a:off x="4061511" y="4217569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2497932" y="4058339"/>
            <a:ext cx="0" cy="173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/>
          <p:nvPr/>
        </p:nvCxnSpPr>
        <p:spPr>
          <a:xfrm>
            <a:off x="2171956" y="4225300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2497932" y="4230820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2836935" y="4230820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/>
          <p:nvPr/>
        </p:nvCxnSpPr>
        <p:spPr>
          <a:xfrm>
            <a:off x="1067720" y="4050244"/>
            <a:ext cx="0" cy="173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>
            <a:off x="342900" y="4217570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>
            <a:off x="838200" y="4225300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1257300" y="4225300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1752600" y="4224599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12" idx="3"/>
          </p:cNvCxnSpPr>
          <p:nvPr/>
        </p:nvCxnSpPr>
        <p:spPr>
          <a:xfrm flipV="1">
            <a:off x="3352800" y="2466494"/>
            <a:ext cx="1070264" cy="10006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2" name="Rectangle 121"/>
          <p:cNvSpPr/>
          <p:nvPr/>
        </p:nvSpPr>
        <p:spPr>
          <a:xfrm>
            <a:off x="8153970" y="4313166"/>
            <a:ext cx="381000" cy="1919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8077786" y="4300070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 EMD Admin Officer</a:t>
            </a:r>
          </a:p>
        </p:txBody>
      </p:sp>
      <p:sp>
        <p:nvSpPr>
          <p:cNvPr id="2" name="TextBox 1"/>
          <p:cNvSpPr txBox="1"/>
          <p:nvPr/>
        </p:nvSpPr>
        <p:spPr>
          <a:xfrm>
            <a:off x="476250" y="5300384"/>
            <a:ext cx="1009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Legend:</a:t>
            </a:r>
            <a:endParaRPr lang="en-US" sz="1200" dirty="0"/>
          </a:p>
        </p:txBody>
      </p:sp>
      <p:sp>
        <p:nvSpPr>
          <p:cNvPr id="108" name="Rectangle 107"/>
          <p:cNvSpPr/>
          <p:nvPr/>
        </p:nvSpPr>
        <p:spPr>
          <a:xfrm>
            <a:off x="1183686" y="5400574"/>
            <a:ext cx="381000" cy="125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0" name="Rectangle 109"/>
          <p:cNvSpPr/>
          <p:nvPr/>
        </p:nvSpPr>
        <p:spPr>
          <a:xfrm>
            <a:off x="1181100" y="5588307"/>
            <a:ext cx="381000" cy="1253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8" name="TextBox 127"/>
          <p:cNvSpPr txBox="1"/>
          <p:nvPr/>
        </p:nvSpPr>
        <p:spPr>
          <a:xfrm>
            <a:off x="1562100" y="5376584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Specific functions hold by designated personnel.</a:t>
            </a:r>
            <a:endParaRPr lang="en-US" sz="600" dirty="0"/>
          </a:p>
        </p:txBody>
      </p:sp>
      <p:sp>
        <p:nvSpPr>
          <p:cNvPr id="129" name="TextBox 128"/>
          <p:cNvSpPr txBox="1"/>
          <p:nvPr/>
        </p:nvSpPr>
        <p:spPr>
          <a:xfrm>
            <a:off x="1562100" y="5561250"/>
            <a:ext cx="24765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Vacant – functions temporarily shared in part by designated personnel.</a:t>
            </a:r>
            <a:endParaRPr lang="en-US" sz="600" dirty="0"/>
          </a:p>
        </p:txBody>
      </p:sp>
      <p:sp>
        <p:nvSpPr>
          <p:cNvPr id="133" name="Rectangle 132"/>
          <p:cNvSpPr/>
          <p:nvPr/>
        </p:nvSpPr>
        <p:spPr>
          <a:xfrm>
            <a:off x="4080164" y="2595475"/>
            <a:ext cx="6858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4" name="TextBox 133"/>
          <p:cNvSpPr txBox="1"/>
          <p:nvPr/>
        </p:nvSpPr>
        <p:spPr>
          <a:xfrm>
            <a:off x="4080164" y="2624764"/>
            <a:ext cx="68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General</a:t>
            </a:r>
          </a:p>
          <a:p>
            <a:pPr algn="ctr"/>
            <a:r>
              <a:rPr lang="en-US" sz="500" b="1" dirty="0" smtClean="0"/>
              <a:t>Manager</a:t>
            </a:r>
          </a:p>
        </p:txBody>
      </p:sp>
      <p:cxnSp>
        <p:nvCxnSpPr>
          <p:cNvPr id="135" name="Straight Connector 134"/>
          <p:cNvCxnSpPr/>
          <p:nvPr/>
        </p:nvCxnSpPr>
        <p:spPr>
          <a:xfrm>
            <a:off x="8648700" y="4566552"/>
            <a:ext cx="0" cy="56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7" name="Rectangle 136"/>
          <p:cNvSpPr/>
          <p:nvPr/>
        </p:nvSpPr>
        <p:spPr>
          <a:xfrm>
            <a:off x="6629400" y="3749019"/>
            <a:ext cx="609600" cy="3048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/>
          <p:cNvSpPr txBox="1"/>
          <p:nvPr/>
        </p:nvSpPr>
        <p:spPr>
          <a:xfrm>
            <a:off x="6591300" y="3774317"/>
            <a:ext cx="68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Internal Audit</a:t>
            </a:r>
          </a:p>
          <a:p>
            <a:pPr algn="ctr"/>
            <a:r>
              <a:rPr lang="en-US" sz="500" b="1" dirty="0" smtClean="0"/>
              <a:t>Manager</a:t>
            </a:r>
          </a:p>
        </p:txBody>
      </p:sp>
      <p:sp>
        <p:nvSpPr>
          <p:cNvPr id="139" name="Rectangle 138"/>
          <p:cNvSpPr/>
          <p:nvPr/>
        </p:nvSpPr>
        <p:spPr>
          <a:xfrm>
            <a:off x="6515100" y="4313940"/>
            <a:ext cx="381000" cy="2154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Rectangle 139"/>
          <p:cNvSpPr/>
          <p:nvPr/>
        </p:nvSpPr>
        <p:spPr>
          <a:xfrm>
            <a:off x="6972300" y="4313940"/>
            <a:ext cx="432850" cy="2154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/>
          <p:cNvSpPr txBox="1"/>
          <p:nvPr/>
        </p:nvSpPr>
        <p:spPr>
          <a:xfrm>
            <a:off x="6445127" y="4280048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Management</a:t>
            </a:r>
          </a:p>
          <a:p>
            <a:pPr algn="ctr"/>
            <a:r>
              <a:rPr lang="en-US" sz="400" b="1" dirty="0" smtClean="0"/>
              <a:t>Information</a:t>
            </a:r>
          </a:p>
          <a:p>
            <a:pPr algn="ctr"/>
            <a:r>
              <a:rPr lang="en-US" sz="400" b="1" dirty="0" smtClean="0"/>
              <a:t>System (MIS)</a:t>
            </a:r>
          </a:p>
        </p:txBody>
      </p:sp>
      <p:sp>
        <p:nvSpPr>
          <p:cNvPr id="142" name="TextBox 141"/>
          <p:cNvSpPr txBox="1"/>
          <p:nvPr/>
        </p:nvSpPr>
        <p:spPr>
          <a:xfrm>
            <a:off x="6902975" y="4287748"/>
            <a:ext cx="57145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Financial / Quality</a:t>
            </a:r>
          </a:p>
          <a:p>
            <a:pPr algn="ctr"/>
            <a:r>
              <a:rPr lang="en-US" sz="400" b="1" dirty="0" smtClean="0"/>
              <a:t>Control</a:t>
            </a:r>
          </a:p>
          <a:p>
            <a:pPr algn="ctr"/>
            <a:r>
              <a:rPr lang="en-US" sz="400" b="1" dirty="0" smtClean="0"/>
              <a:t>Auditor</a:t>
            </a:r>
          </a:p>
        </p:txBody>
      </p:sp>
      <p:cxnSp>
        <p:nvCxnSpPr>
          <p:cNvPr id="143" name="Straight Connector 142"/>
          <p:cNvCxnSpPr/>
          <p:nvPr/>
        </p:nvCxnSpPr>
        <p:spPr>
          <a:xfrm>
            <a:off x="6934200" y="3538783"/>
            <a:ext cx="0" cy="21023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4" name="Straight Connector 143"/>
          <p:cNvCxnSpPr/>
          <p:nvPr/>
        </p:nvCxnSpPr>
        <p:spPr>
          <a:xfrm>
            <a:off x="6743700" y="4224584"/>
            <a:ext cx="4191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5" name="Straight Connector 144"/>
          <p:cNvCxnSpPr/>
          <p:nvPr/>
        </p:nvCxnSpPr>
        <p:spPr>
          <a:xfrm>
            <a:off x="6743700" y="4224584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Connector 145"/>
          <p:cNvCxnSpPr/>
          <p:nvPr/>
        </p:nvCxnSpPr>
        <p:spPr>
          <a:xfrm>
            <a:off x="7162800" y="4224584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Straight Connector 146"/>
          <p:cNvCxnSpPr/>
          <p:nvPr/>
        </p:nvCxnSpPr>
        <p:spPr>
          <a:xfrm>
            <a:off x="6949926" y="4053818"/>
            <a:ext cx="0" cy="170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8" name="Rectangle 147"/>
          <p:cNvSpPr/>
          <p:nvPr/>
        </p:nvSpPr>
        <p:spPr>
          <a:xfrm>
            <a:off x="6969125" y="4623114"/>
            <a:ext cx="381000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49" name="Straight Connector 148"/>
          <p:cNvCxnSpPr/>
          <p:nvPr/>
        </p:nvCxnSpPr>
        <p:spPr>
          <a:xfrm>
            <a:off x="7172850" y="4533015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0" name="TextBox 149"/>
          <p:cNvSpPr txBox="1"/>
          <p:nvPr/>
        </p:nvSpPr>
        <p:spPr>
          <a:xfrm>
            <a:off x="6892925" y="4592336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400" b="1" dirty="0" smtClean="0"/>
          </a:p>
          <a:p>
            <a:pPr algn="ctr"/>
            <a:r>
              <a:rPr lang="en-US" sz="400" b="1" dirty="0" smtClean="0"/>
              <a:t>Auditors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724400" y="4616190"/>
            <a:ext cx="381000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5" name="Straight Connector 154"/>
          <p:cNvCxnSpPr/>
          <p:nvPr/>
        </p:nvCxnSpPr>
        <p:spPr>
          <a:xfrm>
            <a:off x="4914900" y="4526090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6" name="TextBox 155"/>
          <p:cNvSpPr txBox="1"/>
          <p:nvPr/>
        </p:nvSpPr>
        <p:spPr>
          <a:xfrm>
            <a:off x="4648200" y="4612728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Research &amp;</a:t>
            </a:r>
          </a:p>
          <a:p>
            <a:pPr algn="ctr"/>
            <a:r>
              <a:rPr lang="en-US" sz="400" b="1" dirty="0" smtClean="0"/>
              <a:t>Development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5261020" y="4622581"/>
            <a:ext cx="288401" cy="15196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9" name="TextBox 158"/>
          <p:cNvSpPr txBox="1"/>
          <p:nvPr/>
        </p:nvSpPr>
        <p:spPr>
          <a:xfrm>
            <a:off x="5181600" y="4622830"/>
            <a:ext cx="457200" cy="1461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50" b="1" dirty="0" smtClean="0"/>
              <a:t>BC Supervisor</a:t>
            </a:r>
          </a:p>
        </p:txBody>
      </p:sp>
      <p:sp>
        <p:nvSpPr>
          <p:cNvPr id="181" name="Rectangle 180"/>
          <p:cNvSpPr/>
          <p:nvPr/>
        </p:nvSpPr>
        <p:spPr>
          <a:xfrm>
            <a:off x="1562356" y="3747691"/>
            <a:ext cx="533400" cy="294931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TextBox 181"/>
          <p:cNvSpPr txBox="1"/>
          <p:nvPr/>
        </p:nvSpPr>
        <p:spPr>
          <a:xfrm>
            <a:off x="1485900" y="3762206"/>
            <a:ext cx="6858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Legal Services</a:t>
            </a:r>
          </a:p>
          <a:p>
            <a:pPr algn="ctr"/>
            <a:r>
              <a:rPr lang="en-US" sz="500" b="1" dirty="0" smtClean="0"/>
              <a:t>Manager</a:t>
            </a:r>
          </a:p>
        </p:txBody>
      </p:sp>
      <p:cxnSp>
        <p:nvCxnSpPr>
          <p:cNvPr id="183" name="Straight Connector 182"/>
          <p:cNvCxnSpPr/>
          <p:nvPr/>
        </p:nvCxnSpPr>
        <p:spPr>
          <a:xfrm>
            <a:off x="1829056" y="3538783"/>
            <a:ext cx="0" cy="2089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9" name="Straight Connector 188"/>
          <p:cNvCxnSpPr>
            <a:endCxn id="204" idx="2"/>
          </p:cNvCxnSpPr>
          <p:nvPr/>
        </p:nvCxnSpPr>
        <p:spPr>
          <a:xfrm>
            <a:off x="7658100" y="4049160"/>
            <a:ext cx="4263" cy="11273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026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59933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5" name="Rectangle 164"/>
          <p:cNvSpPr/>
          <p:nvPr/>
        </p:nvSpPr>
        <p:spPr>
          <a:xfrm>
            <a:off x="3318851" y="4313223"/>
            <a:ext cx="266700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extBox 165"/>
          <p:cNvSpPr txBox="1"/>
          <p:nvPr/>
        </p:nvSpPr>
        <p:spPr>
          <a:xfrm>
            <a:off x="3252525" y="4307650"/>
            <a:ext cx="406400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" b="1" dirty="0" smtClean="0"/>
              <a:t>Cost</a:t>
            </a:r>
          </a:p>
          <a:p>
            <a:pPr algn="ctr"/>
            <a:r>
              <a:rPr lang="en-US" sz="300" b="1" dirty="0" smtClean="0"/>
              <a:t>Management</a:t>
            </a:r>
          </a:p>
          <a:p>
            <a:pPr algn="ctr"/>
            <a:r>
              <a:rPr lang="en-US" sz="300" b="1" dirty="0" smtClean="0"/>
              <a:t>Specialist</a:t>
            </a:r>
          </a:p>
        </p:txBody>
      </p:sp>
      <p:sp>
        <p:nvSpPr>
          <p:cNvPr id="167" name="Rectangle 166"/>
          <p:cNvSpPr/>
          <p:nvPr/>
        </p:nvSpPr>
        <p:spPr>
          <a:xfrm>
            <a:off x="8488350" y="4620757"/>
            <a:ext cx="245673" cy="1537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8" name="TextBox 167"/>
          <p:cNvSpPr txBox="1"/>
          <p:nvPr/>
        </p:nvSpPr>
        <p:spPr>
          <a:xfrm>
            <a:off x="8412150" y="4636047"/>
            <a:ext cx="401090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" b="1" dirty="0" smtClean="0"/>
              <a:t>Purchaser</a:t>
            </a:r>
          </a:p>
        </p:txBody>
      </p:sp>
      <p:sp>
        <p:nvSpPr>
          <p:cNvPr id="169" name="Rectangle 168"/>
          <p:cNvSpPr/>
          <p:nvPr/>
        </p:nvSpPr>
        <p:spPr>
          <a:xfrm>
            <a:off x="8766121" y="4620757"/>
            <a:ext cx="245673" cy="15378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TextBox 169"/>
          <p:cNvSpPr txBox="1"/>
          <p:nvPr/>
        </p:nvSpPr>
        <p:spPr>
          <a:xfrm>
            <a:off x="8689921" y="4610486"/>
            <a:ext cx="40109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" b="1" dirty="0" smtClean="0"/>
              <a:t>Material</a:t>
            </a:r>
          </a:p>
          <a:p>
            <a:pPr algn="ctr"/>
            <a:r>
              <a:rPr lang="en-US" sz="300" b="1" dirty="0" smtClean="0"/>
              <a:t>Control</a:t>
            </a:r>
          </a:p>
        </p:txBody>
      </p:sp>
      <p:cxnSp>
        <p:nvCxnSpPr>
          <p:cNvPr id="171" name="Straight Connector 170"/>
          <p:cNvCxnSpPr/>
          <p:nvPr/>
        </p:nvCxnSpPr>
        <p:spPr>
          <a:xfrm>
            <a:off x="8915400" y="4566552"/>
            <a:ext cx="0" cy="56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Connector 171"/>
          <p:cNvCxnSpPr/>
          <p:nvPr/>
        </p:nvCxnSpPr>
        <p:spPr>
          <a:xfrm>
            <a:off x="8039100" y="4564728"/>
            <a:ext cx="0" cy="5602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3" name="Rectangle 152"/>
          <p:cNvSpPr/>
          <p:nvPr/>
        </p:nvSpPr>
        <p:spPr>
          <a:xfrm>
            <a:off x="1181100" y="5785991"/>
            <a:ext cx="381000" cy="12534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extBox 157"/>
          <p:cNvSpPr txBox="1"/>
          <p:nvPr/>
        </p:nvSpPr>
        <p:spPr>
          <a:xfrm>
            <a:off x="1562100" y="5758934"/>
            <a:ext cx="24765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Retainer or third party services.</a:t>
            </a:r>
            <a:endParaRPr lang="en-US" sz="600" dirty="0"/>
          </a:p>
        </p:txBody>
      </p:sp>
      <p:sp>
        <p:nvSpPr>
          <p:cNvPr id="160" name="TextBox 159"/>
          <p:cNvSpPr txBox="1"/>
          <p:nvPr/>
        </p:nvSpPr>
        <p:spPr>
          <a:xfrm>
            <a:off x="219074" y="2466201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Top Management</a:t>
            </a:r>
            <a:endParaRPr lang="en-US" sz="1200" dirty="0"/>
          </a:p>
        </p:txBody>
      </p:sp>
      <p:sp>
        <p:nvSpPr>
          <p:cNvPr id="161" name="TextBox 160"/>
          <p:cNvSpPr txBox="1"/>
          <p:nvPr/>
        </p:nvSpPr>
        <p:spPr>
          <a:xfrm>
            <a:off x="214313" y="4747760"/>
            <a:ext cx="1538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Middle Management</a:t>
            </a:r>
            <a:endParaRPr lang="en-US" sz="1200" dirty="0"/>
          </a:p>
        </p:txBody>
      </p:sp>
      <p:sp>
        <p:nvSpPr>
          <p:cNvPr id="163" name="TextBox 162"/>
          <p:cNvSpPr txBox="1"/>
          <p:nvPr/>
        </p:nvSpPr>
        <p:spPr>
          <a:xfrm>
            <a:off x="219074" y="1600200"/>
            <a:ext cx="2066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Board / Executive Committee</a:t>
            </a:r>
            <a:endParaRPr lang="en-US" sz="1200" dirty="0"/>
          </a:p>
        </p:txBody>
      </p:sp>
      <p:sp>
        <p:nvSpPr>
          <p:cNvPr id="35" name="Isosceles Triangle 34"/>
          <p:cNvSpPr/>
          <p:nvPr/>
        </p:nvSpPr>
        <p:spPr>
          <a:xfrm>
            <a:off x="5521325" y="5358394"/>
            <a:ext cx="1222376" cy="1138514"/>
          </a:xfrm>
          <a:prstGeom prst="triangle">
            <a:avLst/>
          </a:prstGeom>
          <a:noFill/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4" name="Isosceles Triangle 173"/>
          <p:cNvSpPr/>
          <p:nvPr/>
        </p:nvSpPr>
        <p:spPr>
          <a:xfrm>
            <a:off x="5711826" y="5358394"/>
            <a:ext cx="841374" cy="783650"/>
          </a:xfrm>
          <a:prstGeom prst="triangle">
            <a:avLst/>
          </a:prstGeom>
          <a:solidFill>
            <a:schemeClr val="accent6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5" name="Isosceles Triangle 174"/>
          <p:cNvSpPr/>
          <p:nvPr/>
        </p:nvSpPr>
        <p:spPr>
          <a:xfrm>
            <a:off x="5902326" y="5357201"/>
            <a:ext cx="460374" cy="428790"/>
          </a:xfrm>
          <a:prstGeom prst="triangle">
            <a:avLst/>
          </a:prstGeom>
          <a:solidFill>
            <a:schemeClr val="bg2">
              <a:lumMod val="75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6" name="Isosceles Triangle 175"/>
          <p:cNvSpPr/>
          <p:nvPr/>
        </p:nvSpPr>
        <p:spPr>
          <a:xfrm>
            <a:off x="6016626" y="5355308"/>
            <a:ext cx="231774" cy="215874"/>
          </a:xfrm>
          <a:prstGeom prst="triangle">
            <a:avLst/>
          </a:prstGeom>
          <a:solidFill>
            <a:schemeClr val="tx2">
              <a:lumMod val="40000"/>
              <a:lumOff val="60000"/>
            </a:schemeClr>
          </a:solidFill>
          <a:ln w="31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77" name="TextBox 176"/>
          <p:cNvSpPr txBox="1"/>
          <p:nvPr/>
        </p:nvSpPr>
        <p:spPr>
          <a:xfrm>
            <a:off x="5427419" y="6534215"/>
            <a:ext cx="24765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Ideal Organization </a:t>
            </a:r>
            <a:r>
              <a:rPr lang="en-US" sz="600" b="1" dirty="0" err="1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Hierarchial</a:t>
            </a:r>
            <a:r>
              <a:rPr lang="en-US" sz="6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Structure</a:t>
            </a:r>
            <a:endParaRPr lang="en-US" sz="600" b="1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78" name="TextBox 177"/>
          <p:cNvSpPr txBox="1"/>
          <p:nvPr/>
        </p:nvSpPr>
        <p:spPr>
          <a:xfrm>
            <a:off x="5664200" y="6208277"/>
            <a:ext cx="9271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Rank &amp; File and Labor</a:t>
            </a:r>
            <a:endParaRPr lang="en-US" sz="600" b="1" dirty="0"/>
          </a:p>
        </p:txBody>
      </p:sp>
      <p:sp>
        <p:nvSpPr>
          <p:cNvPr id="179" name="TextBox 178"/>
          <p:cNvSpPr txBox="1"/>
          <p:nvPr/>
        </p:nvSpPr>
        <p:spPr>
          <a:xfrm>
            <a:off x="5728771" y="5820309"/>
            <a:ext cx="8294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Middle</a:t>
            </a:r>
          </a:p>
          <a:p>
            <a:pPr algn="ctr"/>
            <a:r>
              <a:rPr lang="en-US" sz="600" b="1" dirty="0" smtClean="0"/>
              <a:t>Management</a:t>
            </a:r>
            <a:endParaRPr lang="en-US" sz="600" b="1" dirty="0"/>
          </a:p>
        </p:txBody>
      </p:sp>
      <p:sp>
        <p:nvSpPr>
          <p:cNvPr id="180" name="TextBox 179"/>
          <p:cNvSpPr txBox="1"/>
          <p:nvPr/>
        </p:nvSpPr>
        <p:spPr>
          <a:xfrm>
            <a:off x="5717774" y="5575624"/>
            <a:ext cx="829478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dirty="0" smtClean="0"/>
              <a:t>Top</a:t>
            </a:r>
          </a:p>
          <a:p>
            <a:pPr algn="ctr"/>
            <a:r>
              <a:rPr lang="en-US" sz="400" dirty="0" smtClean="0"/>
              <a:t>Management</a:t>
            </a:r>
            <a:endParaRPr lang="en-US" sz="400" dirty="0"/>
          </a:p>
        </p:txBody>
      </p:sp>
      <p:sp>
        <p:nvSpPr>
          <p:cNvPr id="184" name="TextBox 183"/>
          <p:cNvSpPr txBox="1"/>
          <p:nvPr/>
        </p:nvSpPr>
        <p:spPr>
          <a:xfrm>
            <a:off x="5726247" y="5441887"/>
            <a:ext cx="829478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" dirty="0" smtClean="0"/>
              <a:t>Board</a:t>
            </a:r>
          </a:p>
        </p:txBody>
      </p:sp>
      <p:cxnSp>
        <p:nvCxnSpPr>
          <p:cNvPr id="68" name="Straight Connector 67"/>
          <p:cNvCxnSpPr/>
          <p:nvPr/>
        </p:nvCxnSpPr>
        <p:spPr>
          <a:xfrm>
            <a:off x="6243504" y="5571867"/>
            <a:ext cx="590550" cy="4274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5" name="Straight Connector 184"/>
          <p:cNvCxnSpPr/>
          <p:nvPr/>
        </p:nvCxnSpPr>
        <p:spPr>
          <a:xfrm flipV="1">
            <a:off x="6362700" y="5786528"/>
            <a:ext cx="645671" cy="493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/>
          <p:nvPr/>
        </p:nvCxnSpPr>
        <p:spPr>
          <a:xfrm>
            <a:off x="6547252" y="6140853"/>
            <a:ext cx="802873" cy="1191"/>
          </a:xfrm>
          <a:prstGeom prst="line">
            <a:avLst/>
          </a:prstGeom>
          <a:ln w="3175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TextBox 192"/>
          <p:cNvSpPr txBox="1"/>
          <p:nvPr/>
        </p:nvSpPr>
        <p:spPr>
          <a:xfrm>
            <a:off x="6400800" y="5874032"/>
            <a:ext cx="9271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 smtClean="0"/>
              <a:t>Progressive Level</a:t>
            </a:r>
            <a:endParaRPr lang="en-US" sz="600" dirty="0"/>
          </a:p>
        </p:txBody>
      </p:sp>
      <p:sp>
        <p:nvSpPr>
          <p:cNvPr id="194" name="TextBox 193"/>
          <p:cNvSpPr txBox="1"/>
          <p:nvPr/>
        </p:nvSpPr>
        <p:spPr>
          <a:xfrm>
            <a:off x="6629400" y="6212464"/>
            <a:ext cx="9271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 smtClean="0"/>
              <a:t>Entry and Dormant Level</a:t>
            </a:r>
            <a:endParaRPr lang="en-US" sz="600" dirty="0"/>
          </a:p>
        </p:txBody>
      </p:sp>
      <p:sp>
        <p:nvSpPr>
          <p:cNvPr id="195" name="TextBox 194"/>
          <p:cNvSpPr txBox="1"/>
          <p:nvPr/>
        </p:nvSpPr>
        <p:spPr>
          <a:xfrm>
            <a:off x="6159499" y="5583841"/>
            <a:ext cx="9271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 smtClean="0"/>
              <a:t>Core Group</a:t>
            </a:r>
            <a:endParaRPr lang="en-US" sz="600" dirty="0"/>
          </a:p>
        </p:txBody>
      </p:sp>
      <p:sp>
        <p:nvSpPr>
          <p:cNvPr id="196" name="TextBox 195"/>
          <p:cNvSpPr txBox="1"/>
          <p:nvPr/>
        </p:nvSpPr>
        <p:spPr>
          <a:xfrm>
            <a:off x="6019800" y="5377934"/>
            <a:ext cx="92710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dirty="0" smtClean="0"/>
              <a:t>Stakeholder</a:t>
            </a:r>
            <a:endParaRPr lang="en-US" sz="600" dirty="0"/>
          </a:p>
        </p:txBody>
      </p:sp>
      <p:sp>
        <p:nvSpPr>
          <p:cNvPr id="197" name="TextBox 196"/>
          <p:cNvSpPr txBox="1"/>
          <p:nvPr/>
        </p:nvSpPr>
        <p:spPr>
          <a:xfrm>
            <a:off x="4953000" y="6216134"/>
            <a:ext cx="927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>
                <a:solidFill>
                  <a:srgbClr val="FF0000"/>
                </a:solidFill>
              </a:rPr>
              <a:t>70%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198" name="TextBox 197"/>
          <p:cNvSpPr txBox="1"/>
          <p:nvPr/>
        </p:nvSpPr>
        <p:spPr>
          <a:xfrm>
            <a:off x="5153026" y="5843794"/>
            <a:ext cx="927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2</a:t>
            </a:r>
            <a:r>
              <a:rPr lang="en-US" sz="800" b="1" dirty="0" smtClean="0">
                <a:solidFill>
                  <a:srgbClr val="FF0000"/>
                </a:solidFill>
              </a:rPr>
              <a:t>0%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199" name="TextBox 198"/>
          <p:cNvSpPr txBox="1"/>
          <p:nvPr/>
        </p:nvSpPr>
        <p:spPr>
          <a:xfrm>
            <a:off x="5333798" y="5556355"/>
            <a:ext cx="927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>
                <a:solidFill>
                  <a:srgbClr val="FF0000"/>
                </a:solidFill>
              </a:rPr>
              <a:t>9</a:t>
            </a:r>
            <a:r>
              <a:rPr lang="en-US" sz="800" b="1" dirty="0" smtClean="0">
                <a:solidFill>
                  <a:srgbClr val="FF0000"/>
                </a:solidFill>
              </a:rPr>
              <a:t>%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200" name="TextBox 199"/>
          <p:cNvSpPr txBox="1"/>
          <p:nvPr/>
        </p:nvSpPr>
        <p:spPr>
          <a:xfrm>
            <a:off x="5486198" y="5334000"/>
            <a:ext cx="927101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>
                <a:solidFill>
                  <a:srgbClr val="FF0000"/>
                </a:solidFill>
              </a:rPr>
              <a:t>1%</a:t>
            </a:r>
            <a:endParaRPr lang="en-US" sz="800" b="1" dirty="0">
              <a:solidFill>
                <a:srgbClr val="FF0000"/>
              </a:solidFill>
            </a:endParaRPr>
          </a:p>
        </p:txBody>
      </p:sp>
      <p:sp>
        <p:nvSpPr>
          <p:cNvPr id="187" name="Rectangle 186"/>
          <p:cNvSpPr/>
          <p:nvPr/>
        </p:nvSpPr>
        <p:spPr>
          <a:xfrm>
            <a:off x="7464950" y="4321582"/>
            <a:ext cx="381000" cy="24775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TextBox 187"/>
          <p:cNvSpPr txBox="1"/>
          <p:nvPr/>
        </p:nvSpPr>
        <p:spPr>
          <a:xfrm>
            <a:off x="7392593" y="4297330"/>
            <a:ext cx="5334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Procurement</a:t>
            </a:r>
          </a:p>
          <a:p>
            <a:pPr algn="ctr"/>
            <a:r>
              <a:rPr lang="en-US" sz="400" b="1" dirty="0" smtClean="0"/>
              <a:t>Warehouse</a:t>
            </a:r>
          </a:p>
          <a:p>
            <a:pPr algn="ctr"/>
            <a:r>
              <a:rPr lang="en-US" sz="400" b="1" dirty="0" smtClean="0"/>
              <a:t>Logistics</a:t>
            </a:r>
          </a:p>
          <a:p>
            <a:pPr algn="ctr"/>
            <a:endParaRPr lang="en-US" sz="400" b="1" dirty="0" smtClean="0"/>
          </a:p>
        </p:txBody>
      </p:sp>
      <p:sp>
        <p:nvSpPr>
          <p:cNvPr id="190" name="Rectangle 189"/>
          <p:cNvSpPr/>
          <p:nvPr/>
        </p:nvSpPr>
        <p:spPr>
          <a:xfrm>
            <a:off x="7461917" y="4627757"/>
            <a:ext cx="381000" cy="2154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2" name="TextBox 191"/>
          <p:cNvSpPr txBox="1"/>
          <p:nvPr/>
        </p:nvSpPr>
        <p:spPr>
          <a:xfrm>
            <a:off x="7402643" y="4610732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Purchasing</a:t>
            </a:r>
          </a:p>
          <a:p>
            <a:pPr algn="ctr"/>
            <a:r>
              <a:rPr lang="en-US" sz="400" b="1" dirty="0" smtClean="0"/>
              <a:t>Staff</a:t>
            </a:r>
          </a:p>
          <a:p>
            <a:pPr algn="ctr"/>
            <a:r>
              <a:rPr lang="en-US" sz="400" b="1" dirty="0" smtClean="0"/>
              <a:t>Drivers</a:t>
            </a:r>
          </a:p>
        </p:txBody>
      </p:sp>
      <p:sp>
        <p:nvSpPr>
          <p:cNvPr id="203" name="Rectangle 202"/>
          <p:cNvSpPr/>
          <p:nvPr/>
        </p:nvSpPr>
        <p:spPr>
          <a:xfrm>
            <a:off x="7464950" y="5021450"/>
            <a:ext cx="381000" cy="14909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TextBox 203"/>
          <p:cNvSpPr txBox="1"/>
          <p:nvPr/>
        </p:nvSpPr>
        <p:spPr>
          <a:xfrm>
            <a:off x="7395663" y="5022592"/>
            <a:ext cx="533400" cy="1538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Helpers</a:t>
            </a:r>
          </a:p>
        </p:txBody>
      </p:sp>
      <p:sp>
        <p:nvSpPr>
          <p:cNvPr id="7" name="Rectangle 6"/>
          <p:cNvSpPr/>
          <p:nvPr/>
        </p:nvSpPr>
        <p:spPr>
          <a:xfrm>
            <a:off x="3276600" y="3748305"/>
            <a:ext cx="609600" cy="3048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3249549" y="3742903"/>
            <a:ext cx="6858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Finance &amp; Administration </a:t>
            </a:r>
          </a:p>
          <a:p>
            <a:pPr algn="ctr"/>
            <a:r>
              <a:rPr lang="en-US" sz="500" b="1" dirty="0" smtClean="0"/>
              <a:t>Manager</a:t>
            </a:r>
          </a:p>
        </p:txBody>
      </p:sp>
      <p:sp>
        <p:nvSpPr>
          <p:cNvPr id="205" name="Rectangle 204"/>
          <p:cNvSpPr/>
          <p:nvPr/>
        </p:nvSpPr>
        <p:spPr>
          <a:xfrm>
            <a:off x="4268832" y="4615617"/>
            <a:ext cx="381000" cy="2154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1" name="TextBox 190"/>
          <p:cNvSpPr txBox="1"/>
          <p:nvPr/>
        </p:nvSpPr>
        <p:spPr>
          <a:xfrm>
            <a:off x="4193730" y="4580788"/>
            <a:ext cx="5334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 Pre Mix</a:t>
            </a:r>
          </a:p>
          <a:p>
            <a:pPr algn="ctr"/>
            <a:r>
              <a:rPr lang="en-US" sz="400" b="1" dirty="0" smtClean="0"/>
              <a:t>Stuffed Ingredient</a:t>
            </a:r>
          </a:p>
        </p:txBody>
      </p:sp>
      <p:sp>
        <p:nvSpPr>
          <p:cNvPr id="43" name="Rectangle 42"/>
          <p:cNvSpPr/>
          <p:nvPr/>
        </p:nvSpPr>
        <p:spPr>
          <a:xfrm>
            <a:off x="4267200" y="4313226"/>
            <a:ext cx="381000" cy="21544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8" name="TextBox 47"/>
          <p:cNvSpPr txBox="1"/>
          <p:nvPr/>
        </p:nvSpPr>
        <p:spPr>
          <a:xfrm>
            <a:off x="4191000" y="4325887"/>
            <a:ext cx="5334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400" b="1" dirty="0" smtClean="0"/>
              <a:t>Raw Materials Controller</a:t>
            </a:r>
          </a:p>
        </p:txBody>
      </p:sp>
      <p:sp>
        <p:nvSpPr>
          <p:cNvPr id="206" name="Rectangle 205"/>
          <p:cNvSpPr/>
          <p:nvPr/>
        </p:nvSpPr>
        <p:spPr>
          <a:xfrm>
            <a:off x="3931465" y="4308659"/>
            <a:ext cx="260093" cy="215444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6"/>
          <p:cNvSpPr txBox="1"/>
          <p:nvPr/>
        </p:nvSpPr>
        <p:spPr>
          <a:xfrm>
            <a:off x="3864520" y="4321222"/>
            <a:ext cx="414856" cy="1384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00" b="1" dirty="0" smtClean="0"/>
              <a:t>Treasury</a:t>
            </a:r>
          </a:p>
        </p:txBody>
      </p:sp>
      <p:cxnSp>
        <p:nvCxnSpPr>
          <p:cNvPr id="208" name="Straight Connector 207"/>
          <p:cNvCxnSpPr/>
          <p:nvPr/>
        </p:nvCxnSpPr>
        <p:spPr>
          <a:xfrm>
            <a:off x="3756152" y="4218239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Straight Connector 208"/>
          <p:cNvCxnSpPr/>
          <p:nvPr/>
        </p:nvCxnSpPr>
        <p:spPr>
          <a:xfrm>
            <a:off x="3450537" y="4223943"/>
            <a:ext cx="0" cy="900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Straight Connector 209"/>
          <p:cNvCxnSpPr>
            <a:stCxn id="4" idx="3"/>
            <a:endCxn id="21" idx="1"/>
          </p:cNvCxnSpPr>
          <p:nvPr/>
        </p:nvCxnSpPr>
        <p:spPr>
          <a:xfrm>
            <a:off x="4765964" y="2133600"/>
            <a:ext cx="3249604" cy="358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Straight Connector 210"/>
          <p:cNvCxnSpPr/>
          <p:nvPr/>
        </p:nvCxnSpPr>
        <p:spPr>
          <a:xfrm flipV="1">
            <a:off x="7629588" y="3538069"/>
            <a:ext cx="718755" cy="5003"/>
          </a:xfrm>
          <a:prstGeom prst="line">
            <a:avLst/>
          </a:prstGeom>
          <a:ln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4439889"/>
      </p:ext>
    </p:extLst>
  </p:cSld>
  <p:clrMapOvr>
    <a:masterClrMapping/>
  </p:clrMapOvr>
  <p:transition spd="slow">
    <p:wipe/>
  </p:transition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Rectangle 87"/>
          <p:cNvSpPr/>
          <p:nvPr/>
        </p:nvSpPr>
        <p:spPr>
          <a:xfrm>
            <a:off x="76200" y="1323457"/>
            <a:ext cx="8935594" cy="83132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9" name="Rectangle 88"/>
          <p:cNvSpPr/>
          <p:nvPr/>
        </p:nvSpPr>
        <p:spPr>
          <a:xfrm>
            <a:off x="76200" y="3723621"/>
            <a:ext cx="8935594" cy="65124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1" name="Rectangle 90"/>
          <p:cNvSpPr/>
          <p:nvPr/>
        </p:nvSpPr>
        <p:spPr>
          <a:xfrm>
            <a:off x="76200" y="2154388"/>
            <a:ext cx="8935594" cy="15761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92" name="TextBox 91"/>
          <p:cNvSpPr txBox="1"/>
          <p:nvPr/>
        </p:nvSpPr>
        <p:spPr>
          <a:xfrm>
            <a:off x="219074" y="2466201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Top Management</a:t>
            </a:r>
            <a:endParaRPr lang="en-US" sz="1200" dirty="0"/>
          </a:p>
        </p:txBody>
      </p:sp>
      <p:sp>
        <p:nvSpPr>
          <p:cNvPr id="93" name="TextBox 92"/>
          <p:cNvSpPr txBox="1"/>
          <p:nvPr/>
        </p:nvSpPr>
        <p:spPr>
          <a:xfrm>
            <a:off x="110644" y="3733800"/>
            <a:ext cx="72755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dirty="0" smtClean="0"/>
              <a:t>Middle </a:t>
            </a:r>
          </a:p>
          <a:p>
            <a:pPr algn="ctr"/>
            <a:r>
              <a:rPr lang="en-US" sz="700" dirty="0" smtClean="0"/>
              <a:t>Management</a:t>
            </a:r>
            <a:endParaRPr lang="en-US" sz="700" dirty="0"/>
          </a:p>
        </p:txBody>
      </p:sp>
      <p:sp>
        <p:nvSpPr>
          <p:cNvPr id="102" name="TextBox 101"/>
          <p:cNvSpPr txBox="1"/>
          <p:nvPr/>
        </p:nvSpPr>
        <p:spPr>
          <a:xfrm>
            <a:off x="219074" y="1600200"/>
            <a:ext cx="2066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Board / Executive Committee</a:t>
            </a:r>
            <a:endParaRPr lang="en-US" sz="1200" dirty="0"/>
          </a:p>
        </p:txBody>
      </p:sp>
      <p:cxnSp>
        <p:nvCxnSpPr>
          <p:cNvPr id="66" name="Straight Connector 65"/>
          <p:cNvCxnSpPr/>
          <p:nvPr/>
        </p:nvCxnSpPr>
        <p:spPr>
          <a:xfrm>
            <a:off x="5175965" y="4461389"/>
            <a:ext cx="0" cy="153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5" name="Straight Connector 64"/>
          <p:cNvCxnSpPr/>
          <p:nvPr/>
        </p:nvCxnSpPr>
        <p:spPr>
          <a:xfrm>
            <a:off x="4183019" y="4457032"/>
            <a:ext cx="0" cy="153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Connector 119"/>
          <p:cNvCxnSpPr/>
          <p:nvPr/>
        </p:nvCxnSpPr>
        <p:spPr>
          <a:xfrm>
            <a:off x="5785800" y="4457032"/>
            <a:ext cx="0" cy="80076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 flipH="1">
            <a:off x="6494411" y="4459449"/>
            <a:ext cx="1237" cy="820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Straight Connector 53"/>
          <p:cNvCxnSpPr/>
          <p:nvPr/>
        </p:nvCxnSpPr>
        <p:spPr>
          <a:xfrm>
            <a:off x="1238250" y="3808153"/>
            <a:ext cx="0" cy="6290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Connector 116"/>
          <p:cNvCxnSpPr>
            <a:endCxn id="99" idx="0"/>
          </p:cNvCxnSpPr>
          <p:nvPr/>
        </p:nvCxnSpPr>
        <p:spPr>
          <a:xfrm>
            <a:off x="712018" y="4437250"/>
            <a:ext cx="4259" cy="6036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/>
          <p:nvPr/>
        </p:nvCxnSpPr>
        <p:spPr>
          <a:xfrm flipH="1">
            <a:off x="1702667" y="4437250"/>
            <a:ext cx="114" cy="119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/>
          <p:nvPr/>
        </p:nvCxnSpPr>
        <p:spPr>
          <a:xfrm flipV="1">
            <a:off x="708621" y="4437250"/>
            <a:ext cx="996711" cy="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2808767" y="4116139"/>
            <a:ext cx="0" cy="3240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 flipH="1">
            <a:off x="2417135" y="4443032"/>
            <a:ext cx="114" cy="119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 flipH="1">
            <a:off x="3405246" y="4444105"/>
            <a:ext cx="114" cy="1193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3276600" y="3224609"/>
            <a:ext cx="990600" cy="4099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3276600" y="3200400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 smtClean="0"/>
              <a:t>Human Resource</a:t>
            </a:r>
          </a:p>
          <a:p>
            <a:pPr algn="ctr"/>
            <a:r>
              <a:rPr lang="en-US" sz="700" b="1" dirty="0" smtClean="0"/>
              <a:t>Department</a:t>
            </a:r>
          </a:p>
          <a:p>
            <a:pPr algn="ctr"/>
            <a:r>
              <a:rPr lang="en-US" sz="700" b="1" dirty="0" smtClean="0"/>
              <a:t>Manager</a:t>
            </a:r>
          </a:p>
          <a:p>
            <a:pPr algn="ctr"/>
            <a:endParaRPr lang="en-US" sz="700" b="1" dirty="0" smtClean="0"/>
          </a:p>
        </p:txBody>
      </p:sp>
      <p:sp>
        <p:nvSpPr>
          <p:cNvPr id="8" name="Rectangle 7"/>
          <p:cNvSpPr/>
          <p:nvPr/>
        </p:nvSpPr>
        <p:spPr>
          <a:xfrm>
            <a:off x="4201810" y="3929419"/>
            <a:ext cx="903589" cy="3802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5731835" y="3930849"/>
            <a:ext cx="723900" cy="3453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1" name="Straight Connector 10"/>
          <p:cNvCxnSpPr>
            <a:stCxn id="68" idx="2"/>
            <a:endCxn id="2" idx="0"/>
          </p:cNvCxnSpPr>
          <p:nvPr/>
        </p:nvCxnSpPr>
        <p:spPr>
          <a:xfrm flipH="1">
            <a:off x="3771900" y="1981200"/>
            <a:ext cx="2215" cy="124340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3733800" y="3634527"/>
            <a:ext cx="0" cy="173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Rectangle 17"/>
          <p:cNvSpPr/>
          <p:nvPr/>
        </p:nvSpPr>
        <p:spPr>
          <a:xfrm>
            <a:off x="3257550" y="2239089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2180999" y="2921198"/>
            <a:ext cx="7832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3257550" y="2239089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General</a:t>
            </a:r>
          </a:p>
          <a:p>
            <a:pPr algn="ctr"/>
            <a:r>
              <a:rPr lang="en-US" sz="1200" b="1" dirty="0" smtClean="0"/>
              <a:t>Manager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188535" y="2921198"/>
            <a:ext cx="7832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Executive</a:t>
            </a:r>
          </a:p>
          <a:p>
            <a:pPr algn="ctr"/>
            <a:r>
              <a:rPr lang="en-US" sz="500" b="1" dirty="0" smtClean="0"/>
              <a:t>Assistant Office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2438400" y="3929419"/>
            <a:ext cx="723900" cy="3033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Rectangle 22"/>
          <p:cNvSpPr/>
          <p:nvPr/>
        </p:nvSpPr>
        <p:spPr>
          <a:xfrm>
            <a:off x="876300" y="3929419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838200" y="3929419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Recruitment &amp;</a:t>
            </a:r>
          </a:p>
          <a:p>
            <a:pPr algn="ctr"/>
            <a:r>
              <a:rPr lang="en-US" sz="600" b="1" dirty="0" smtClean="0"/>
              <a:t>Staffing Officer</a:t>
            </a:r>
          </a:p>
          <a:p>
            <a:pPr algn="ctr"/>
            <a:endParaRPr lang="en-US" sz="600" b="1" dirty="0" smtClean="0"/>
          </a:p>
        </p:txBody>
      </p:sp>
      <p:sp>
        <p:nvSpPr>
          <p:cNvPr id="25" name="TextBox 24"/>
          <p:cNvSpPr txBox="1"/>
          <p:nvPr/>
        </p:nvSpPr>
        <p:spPr>
          <a:xfrm>
            <a:off x="2417134" y="3886250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Training &amp; Development Officer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201810" y="3962400"/>
            <a:ext cx="922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Employee &amp;</a:t>
            </a:r>
          </a:p>
          <a:p>
            <a:pPr algn="ctr"/>
            <a:r>
              <a:rPr lang="en-US" sz="600" b="1" dirty="0" smtClean="0"/>
              <a:t>Labor Relations Officer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712383" y="3906912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Compensation &amp;</a:t>
            </a:r>
          </a:p>
          <a:p>
            <a:pPr algn="ctr"/>
            <a:r>
              <a:rPr lang="en-US" sz="600" b="1" dirty="0" smtClean="0"/>
              <a:t>Benefits Officer</a:t>
            </a:r>
          </a:p>
          <a:p>
            <a:pPr algn="ctr"/>
            <a:r>
              <a:rPr lang="en-US" sz="600" b="1" dirty="0" smtClean="0"/>
              <a:t>(Mam Nancy)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2141870" y="4546696"/>
            <a:ext cx="610896" cy="393071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2059756" y="4505734"/>
            <a:ext cx="75964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Basic Operation Training Program</a:t>
            </a:r>
          </a:p>
          <a:p>
            <a:pPr algn="ctr"/>
            <a:r>
              <a:rPr lang="en-US" sz="600" b="1" dirty="0" smtClean="0"/>
              <a:t>(BOTP)</a:t>
            </a:r>
          </a:p>
          <a:p>
            <a:pPr algn="ctr"/>
            <a:r>
              <a:rPr lang="en-US" sz="600" b="1" dirty="0" smtClean="0"/>
              <a:t>Trainor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3847422" y="4549669"/>
            <a:ext cx="723900" cy="276999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3826550" y="4507880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Counseling, Evaluation &amp; Sanctions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4725273" y="4546325"/>
            <a:ext cx="723900" cy="29081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TextBox 34"/>
          <p:cNvSpPr txBox="1"/>
          <p:nvPr/>
        </p:nvSpPr>
        <p:spPr>
          <a:xfrm>
            <a:off x="4710308" y="4580736"/>
            <a:ext cx="7832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00" b="1" dirty="0" smtClean="0"/>
              <a:t>Gov’t Labor Relations &amp;  Representation</a:t>
            </a:r>
          </a:p>
          <a:p>
            <a:r>
              <a:rPr lang="en-US" sz="500" b="1" dirty="0" smtClean="0"/>
              <a:t>         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42900" y="4534306"/>
            <a:ext cx="723900" cy="34997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23675" y="4550605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Recruitment</a:t>
            </a:r>
          </a:p>
          <a:p>
            <a:pPr algn="ctr"/>
            <a:r>
              <a:rPr lang="en-US" sz="600" b="1" dirty="0" smtClean="0"/>
              <a:t>Assistant</a:t>
            </a:r>
          </a:p>
          <a:p>
            <a:pPr algn="ctr"/>
            <a:endParaRPr lang="en-US" sz="600" b="1" dirty="0" smtClean="0"/>
          </a:p>
        </p:txBody>
      </p:sp>
      <p:sp>
        <p:nvSpPr>
          <p:cNvPr id="40" name="Rectangle 39"/>
          <p:cNvSpPr/>
          <p:nvPr/>
        </p:nvSpPr>
        <p:spPr>
          <a:xfrm>
            <a:off x="1293267" y="4553868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1236094" y="4565182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Staffing Assistant</a:t>
            </a:r>
          </a:p>
          <a:p>
            <a:pPr algn="ctr"/>
            <a:r>
              <a:rPr lang="en-US" sz="600" b="1" dirty="0" smtClean="0"/>
              <a:t>(Deployment &amp; Exit)</a:t>
            </a:r>
          </a:p>
          <a:p>
            <a:pPr algn="ctr"/>
            <a:endParaRPr lang="en-US" sz="600" b="1" dirty="0" smtClean="0"/>
          </a:p>
        </p:txBody>
      </p:sp>
      <p:sp>
        <p:nvSpPr>
          <p:cNvPr id="42" name="Rectangle 41"/>
          <p:cNvSpPr/>
          <p:nvPr/>
        </p:nvSpPr>
        <p:spPr>
          <a:xfrm>
            <a:off x="3843526" y="5124966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TextBox 42"/>
          <p:cNvSpPr txBox="1"/>
          <p:nvPr/>
        </p:nvSpPr>
        <p:spPr>
          <a:xfrm>
            <a:off x="3826549" y="5099917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Documentation &amp; Database 201 Control</a:t>
            </a:r>
          </a:p>
        </p:txBody>
      </p:sp>
      <p:cxnSp>
        <p:nvCxnSpPr>
          <p:cNvPr id="47" name="Straight Connector 46"/>
          <p:cNvCxnSpPr/>
          <p:nvPr/>
        </p:nvCxnSpPr>
        <p:spPr>
          <a:xfrm>
            <a:off x="1238250" y="3805292"/>
            <a:ext cx="6363502" cy="4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Connector 51"/>
          <p:cNvCxnSpPr/>
          <p:nvPr/>
        </p:nvCxnSpPr>
        <p:spPr>
          <a:xfrm flipV="1">
            <a:off x="4183019" y="4461389"/>
            <a:ext cx="996711" cy="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2800350" y="3808153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Straight Connector 57"/>
          <p:cNvCxnSpPr/>
          <p:nvPr/>
        </p:nvCxnSpPr>
        <p:spPr>
          <a:xfrm>
            <a:off x="4658832" y="3808153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Straight Connector 58"/>
          <p:cNvCxnSpPr/>
          <p:nvPr/>
        </p:nvCxnSpPr>
        <p:spPr>
          <a:xfrm>
            <a:off x="6085367" y="3804756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3" name="Straight Connector 72"/>
          <p:cNvCxnSpPr/>
          <p:nvPr/>
        </p:nvCxnSpPr>
        <p:spPr>
          <a:xfrm>
            <a:off x="6091567" y="4276244"/>
            <a:ext cx="2218" cy="18147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6" name="Straight Connector 75"/>
          <p:cNvCxnSpPr/>
          <p:nvPr/>
        </p:nvCxnSpPr>
        <p:spPr>
          <a:xfrm>
            <a:off x="4658832" y="4308989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4" name="Straight Connector 83"/>
          <p:cNvCxnSpPr>
            <a:endCxn id="42" idx="0"/>
          </p:cNvCxnSpPr>
          <p:nvPr/>
        </p:nvCxnSpPr>
        <p:spPr>
          <a:xfrm>
            <a:off x="4205476" y="4822918"/>
            <a:ext cx="0" cy="30204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8" name="Straight Connector 97"/>
          <p:cNvCxnSpPr>
            <a:stCxn id="21" idx="3"/>
          </p:cNvCxnSpPr>
          <p:nvPr/>
        </p:nvCxnSpPr>
        <p:spPr>
          <a:xfrm flipV="1">
            <a:off x="2971800" y="3044308"/>
            <a:ext cx="800100" cy="1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TextBox 99"/>
          <p:cNvSpPr txBox="1"/>
          <p:nvPr/>
        </p:nvSpPr>
        <p:spPr>
          <a:xfrm>
            <a:off x="247650" y="5562600"/>
            <a:ext cx="1009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Legend:</a:t>
            </a:r>
            <a:endParaRPr lang="en-US" sz="1200" dirty="0"/>
          </a:p>
        </p:txBody>
      </p:sp>
      <p:sp>
        <p:nvSpPr>
          <p:cNvPr id="103" name="Rectangle 102"/>
          <p:cNvSpPr/>
          <p:nvPr/>
        </p:nvSpPr>
        <p:spPr>
          <a:xfrm>
            <a:off x="955086" y="5826858"/>
            <a:ext cx="381000" cy="125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Rectangle 103"/>
          <p:cNvSpPr/>
          <p:nvPr/>
        </p:nvSpPr>
        <p:spPr>
          <a:xfrm>
            <a:off x="952500" y="6014591"/>
            <a:ext cx="381000" cy="1253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/>
          <p:cNvSpPr txBox="1"/>
          <p:nvPr/>
        </p:nvSpPr>
        <p:spPr>
          <a:xfrm>
            <a:off x="1333500" y="5802868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Specific functions hold by designated personnel.</a:t>
            </a:r>
            <a:endParaRPr lang="en-US" sz="600" dirty="0"/>
          </a:p>
        </p:txBody>
      </p:sp>
      <p:sp>
        <p:nvSpPr>
          <p:cNvPr id="108" name="TextBox 107"/>
          <p:cNvSpPr txBox="1"/>
          <p:nvPr/>
        </p:nvSpPr>
        <p:spPr>
          <a:xfrm>
            <a:off x="1333500" y="5987534"/>
            <a:ext cx="247650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Vacant – functions temporarily shared in part by designated personnel.</a:t>
            </a:r>
            <a:endParaRPr lang="en-US" sz="600" dirty="0"/>
          </a:p>
        </p:txBody>
      </p:sp>
      <p:sp>
        <p:nvSpPr>
          <p:cNvPr id="111" name="TextBox 110"/>
          <p:cNvSpPr txBox="1"/>
          <p:nvPr/>
        </p:nvSpPr>
        <p:spPr>
          <a:xfrm>
            <a:off x="789467" y="107897"/>
            <a:ext cx="7353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 ORGANIZATIONAL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</a:p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JATHNIER CORPORATION TOP LEVEL MANAGEMENT </a:t>
            </a:r>
          </a:p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HUMAN RESOURCE DEPARTMENT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12" name="Rectangle 111"/>
          <p:cNvSpPr/>
          <p:nvPr/>
        </p:nvSpPr>
        <p:spPr>
          <a:xfrm>
            <a:off x="5555746" y="4543450"/>
            <a:ext cx="484008" cy="24846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" name="TextBox 112"/>
          <p:cNvSpPr txBox="1"/>
          <p:nvPr/>
        </p:nvSpPr>
        <p:spPr>
          <a:xfrm>
            <a:off x="5516710" y="4523601"/>
            <a:ext cx="5604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Payroll</a:t>
            </a:r>
          </a:p>
          <a:p>
            <a:pPr algn="ctr"/>
            <a:r>
              <a:rPr lang="en-US" sz="600" b="1" dirty="0" smtClean="0"/>
              <a:t>Officer</a:t>
            </a:r>
          </a:p>
          <a:p>
            <a:pPr algn="ctr"/>
            <a:endParaRPr lang="en-US" sz="600" b="1" dirty="0" smtClean="0"/>
          </a:p>
        </p:txBody>
      </p:sp>
      <p:sp>
        <p:nvSpPr>
          <p:cNvPr id="68" name="Rectangle 67"/>
          <p:cNvSpPr/>
          <p:nvPr/>
        </p:nvSpPr>
        <p:spPr>
          <a:xfrm>
            <a:off x="3259765" y="1477089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TextBox 68"/>
          <p:cNvSpPr txBox="1"/>
          <p:nvPr/>
        </p:nvSpPr>
        <p:spPr>
          <a:xfrm>
            <a:off x="3196717" y="1477089"/>
            <a:ext cx="115140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VP/Operations Director</a:t>
            </a:r>
          </a:p>
        </p:txBody>
      </p:sp>
      <p:sp>
        <p:nvSpPr>
          <p:cNvPr id="71" name="Rectangle 70"/>
          <p:cNvSpPr/>
          <p:nvPr/>
        </p:nvSpPr>
        <p:spPr>
          <a:xfrm>
            <a:off x="5922335" y="1477088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5922335" y="1600200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President</a:t>
            </a:r>
          </a:p>
        </p:txBody>
      </p:sp>
      <p:cxnSp>
        <p:nvCxnSpPr>
          <p:cNvPr id="74" name="Straight Connector 73"/>
          <p:cNvCxnSpPr>
            <a:stCxn id="68" idx="3"/>
            <a:endCxn id="72" idx="1"/>
          </p:cNvCxnSpPr>
          <p:nvPr/>
        </p:nvCxnSpPr>
        <p:spPr>
          <a:xfrm>
            <a:off x="4288465" y="1729145"/>
            <a:ext cx="1633870" cy="9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5" name="Rectangle 74"/>
          <p:cNvSpPr/>
          <p:nvPr/>
        </p:nvSpPr>
        <p:spPr>
          <a:xfrm>
            <a:off x="7239802" y="3936093"/>
            <a:ext cx="723900" cy="3033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7" name="TextBox 76"/>
          <p:cNvSpPr txBox="1"/>
          <p:nvPr/>
        </p:nvSpPr>
        <p:spPr>
          <a:xfrm>
            <a:off x="7201702" y="3946331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Area HR Officer</a:t>
            </a:r>
          </a:p>
          <a:p>
            <a:pPr algn="ctr"/>
            <a:r>
              <a:rPr lang="en-US" sz="600" b="1" dirty="0" smtClean="0"/>
              <a:t>(</a:t>
            </a:r>
            <a:r>
              <a:rPr lang="en-US" sz="600" b="1" dirty="0" err="1" smtClean="0"/>
              <a:t>Visayas</a:t>
            </a:r>
            <a:r>
              <a:rPr lang="en-US" sz="600" b="1" dirty="0" smtClean="0"/>
              <a:t>)</a:t>
            </a:r>
          </a:p>
        </p:txBody>
      </p:sp>
      <p:sp>
        <p:nvSpPr>
          <p:cNvPr id="78" name="Rectangle 77"/>
          <p:cNvSpPr/>
          <p:nvPr/>
        </p:nvSpPr>
        <p:spPr>
          <a:xfrm>
            <a:off x="6858802" y="4553172"/>
            <a:ext cx="723900" cy="3998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6836735" y="4572000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HR Generalist Leyte</a:t>
            </a:r>
          </a:p>
          <a:p>
            <a:pPr algn="ctr"/>
            <a:r>
              <a:rPr lang="en-US" sz="600" b="1" dirty="0" smtClean="0"/>
              <a:t>(</a:t>
            </a:r>
            <a:r>
              <a:rPr lang="en-US" sz="600" b="1" dirty="0" err="1" smtClean="0"/>
              <a:t>Maritess</a:t>
            </a:r>
            <a:r>
              <a:rPr lang="en-US" sz="600" b="1" dirty="0" smtClean="0"/>
              <a:t>)</a:t>
            </a:r>
          </a:p>
        </p:txBody>
      </p:sp>
      <p:cxnSp>
        <p:nvCxnSpPr>
          <p:cNvPr id="80" name="Straight Connector 79"/>
          <p:cNvCxnSpPr/>
          <p:nvPr/>
        </p:nvCxnSpPr>
        <p:spPr>
          <a:xfrm>
            <a:off x="7593334" y="3810000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>
            <a:stCxn id="75" idx="2"/>
          </p:cNvCxnSpPr>
          <p:nvPr/>
        </p:nvCxnSpPr>
        <p:spPr>
          <a:xfrm>
            <a:off x="7601752" y="4239463"/>
            <a:ext cx="0" cy="1801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5" name="Rectangle 84"/>
          <p:cNvSpPr/>
          <p:nvPr/>
        </p:nvSpPr>
        <p:spPr>
          <a:xfrm>
            <a:off x="7773202" y="4553173"/>
            <a:ext cx="723900" cy="3998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7751135" y="4599801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HR Generalist Cebu</a:t>
            </a:r>
          </a:p>
          <a:p>
            <a:pPr algn="ctr"/>
            <a:endParaRPr lang="en-US" sz="600" b="1" dirty="0" smtClean="0"/>
          </a:p>
        </p:txBody>
      </p:sp>
      <p:cxnSp>
        <p:nvCxnSpPr>
          <p:cNvPr id="87" name="Straight Connector 86"/>
          <p:cNvCxnSpPr/>
          <p:nvPr/>
        </p:nvCxnSpPr>
        <p:spPr>
          <a:xfrm>
            <a:off x="7220752" y="4419600"/>
            <a:ext cx="925103" cy="460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0" name="Straight Connector 89"/>
          <p:cNvCxnSpPr>
            <a:endCxn id="78" idx="0"/>
          </p:cNvCxnSpPr>
          <p:nvPr/>
        </p:nvCxnSpPr>
        <p:spPr>
          <a:xfrm>
            <a:off x="7220752" y="4419600"/>
            <a:ext cx="0" cy="133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6" name="Straight Connector 95"/>
          <p:cNvCxnSpPr/>
          <p:nvPr/>
        </p:nvCxnSpPr>
        <p:spPr>
          <a:xfrm>
            <a:off x="8145855" y="4424207"/>
            <a:ext cx="0" cy="1335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82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59933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3" name="Rectangle 82"/>
          <p:cNvSpPr/>
          <p:nvPr/>
        </p:nvSpPr>
        <p:spPr>
          <a:xfrm>
            <a:off x="6245573" y="4547932"/>
            <a:ext cx="467451" cy="30255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6199831" y="4510066"/>
            <a:ext cx="59569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Benefits &amp; Mandatories</a:t>
            </a:r>
          </a:p>
          <a:p>
            <a:pPr algn="ctr"/>
            <a:r>
              <a:rPr lang="en-US" sz="600" b="1" dirty="0" smtClean="0"/>
              <a:t>officer</a:t>
            </a:r>
          </a:p>
          <a:p>
            <a:pPr algn="ctr"/>
            <a:endParaRPr lang="en-US" sz="600" b="1" dirty="0" smtClean="0"/>
          </a:p>
        </p:txBody>
      </p:sp>
      <p:cxnSp>
        <p:nvCxnSpPr>
          <p:cNvPr id="97" name="Straight Connector 96"/>
          <p:cNvCxnSpPr/>
          <p:nvPr/>
        </p:nvCxnSpPr>
        <p:spPr>
          <a:xfrm>
            <a:off x="5785800" y="4459207"/>
            <a:ext cx="709848" cy="72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" name="Rectangle 100"/>
          <p:cNvSpPr/>
          <p:nvPr/>
        </p:nvSpPr>
        <p:spPr>
          <a:xfrm>
            <a:off x="2881662" y="4546697"/>
            <a:ext cx="755708" cy="406302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5" name="TextBox 104"/>
          <p:cNvSpPr txBox="1"/>
          <p:nvPr/>
        </p:nvSpPr>
        <p:spPr>
          <a:xfrm>
            <a:off x="2839918" y="4521456"/>
            <a:ext cx="81768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Personal &amp;</a:t>
            </a:r>
          </a:p>
          <a:p>
            <a:pPr algn="ctr"/>
            <a:r>
              <a:rPr lang="en-US" sz="600" b="1" dirty="0" smtClean="0"/>
              <a:t>Professional</a:t>
            </a:r>
          </a:p>
          <a:p>
            <a:pPr algn="ctr"/>
            <a:r>
              <a:rPr lang="en-US" sz="600" b="1" dirty="0" smtClean="0"/>
              <a:t>Development Trainor</a:t>
            </a:r>
          </a:p>
          <a:p>
            <a:pPr algn="ctr"/>
            <a:endParaRPr lang="en-US" sz="600" b="1" dirty="0" smtClean="0"/>
          </a:p>
        </p:txBody>
      </p:sp>
      <p:cxnSp>
        <p:nvCxnSpPr>
          <p:cNvPr id="110" name="Straight Connector 109"/>
          <p:cNvCxnSpPr/>
          <p:nvPr/>
        </p:nvCxnSpPr>
        <p:spPr>
          <a:xfrm flipV="1">
            <a:off x="2413852" y="4443032"/>
            <a:ext cx="996711" cy="97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3" name="Rectangle 122"/>
          <p:cNvSpPr/>
          <p:nvPr/>
        </p:nvSpPr>
        <p:spPr>
          <a:xfrm>
            <a:off x="5555490" y="5143495"/>
            <a:ext cx="484008" cy="25029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5516454" y="5123647"/>
            <a:ext cx="56043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Payroll</a:t>
            </a:r>
          </a:p>
          <a:p>
            <a:pPr algn="ctr"/>
            <a:r>
              <a:rPr lang="en-US" sz="600" b="1" dirty="0" smtClean="0"/>
              <a:t>Staff</a:t>
            </a:r>
          </a:p>
        </p:txBody>
      </p:sp>
      <p:sp>
        <p:nvSpPr>
          <p:cNvPr id="125" name="Rectangle 124"/>
          <p:cNvSpPr/>
          <p:nvPr/>
        </p:nvSpPr>
        <p:spPr>
          <a:xfrm>
            <a:off x="6245573" y="5139292"/>
            <a:ext cx="467451" cy="22646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6" name="TextBox 125"/>
          <p:cNvSpPr txBox="1"/>
          <p:nvPr/>
        </p:nvSpPr>
        <p:spPr>
          <a:xfrm>
            <a:off x="6267640" y="5123647"/>
            <a:ext cx="46096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Benefits</a:t>
            </a:r>
          </a:p>
          <a:p>
            <a:pPr algn="ctr"/>
            <a:r>
              <a:rPr lang="en-US" sz="600" b="1" dirty="0" smtClean="0"/>
              <a:t>Staff</a:t>
            </a:r>
          </a:p>
          <a:p>
            <a:pPr algn="ctr"/>
            <a:endParaRPr lang="en-US" sz="600" b="1" dirty="0" smtClean="0"/>
          </a:p>
        </p:txBody>
      </p:sp>
      <p:sp>
        <p:nvSpPr>
          <p:cNvPr id="95" name="Rectangle 94"/>
          <p:cNvSpPr/>
          <p:nvPr/>
        </p:nvSpPr>
        <p:spPr>
          <a:xfrm>
            <a:off x="343869" y="5024569"/>
            <a:ext cx="723900" cy="34997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324644" y="5040868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Recruitment</a:t>
            </a:r>
          </a:p>
          <a:p>
            <a:pPr algn="ctr"/>
            <a:r>
              <a:rPr lang="en-US" sz="600" b="1" dirty="0" smtClean="0"/>
              <a:t>Staff</a:t>
            </a:r>
          </a:p>
          <a:p>
            <a:pPr algn="ctr"/>
            <a:endParaRPr lang="en-US" sz="600" b="1" dirty="0" smtClean="0"/>
          </a:p>
        </p:txBody>
      </p:sp>
    </p:spTree>
    <p:extLst>
      <p:ext uri="{BB962C8B-B14F-4D97-AF65-F5344CB8AC3E}">
        <p14:creationId xmlns:p14="http://schemas.microsoft.com/office/powerpoint/2010/main" val="159002730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TextBox 110"/>
          <p:cNvSpPr txBox="1"/>
          <p:nvPr/>
        </p:nvSpPr>
        <p:spPr>
          <a:xfrm>
            <a:off x="640084" y="50373"/>
            <a:ext cx="7353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JATHNIER CORPORATION GENERIC HUMAN RESOURCE DEPARTMENT FUNCTIONS, ACCOUNTABILITIES AND DELIVERABLES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82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59933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9" name="Rectangle 108"/>
          <p:cNvSpPr/>
          <p:nvPr/>
        </p:nvSpPr>
        <p:spPr>
          <a:xfrm>
            <a:off x="3714750" y="1171917"/>
            <a:ext cx="990600" cy="4099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3714750" y="1147708"/>
            <a:ext cx="99060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 smtClean="0"/>
              <a:t>Human Resource</a:t>
            </a:r>
          </a:p>
          <a:p>
            <a:pPr algn="ctr"/>
            <a:r>
              <a:rPr lang="en-US" sz="700" b="1" dirty="0" smtClean="0"/>
              <a:t>Department</a:t>
            </a:r>
          </a:p>
          <a:p>
            <a:pPr algn="ctr"/>
            <a:r>
              <a:rPr lang="en-US" sz="700" b="1" dirty="0" smtClean="0"/>
              <a:t>Manager</a:t>
            </a:r>
          </a:p>
          <a:p>
            <a:pPr algn="ctr"/>
            <a:endParaRPr lang="en-US" sz="700" b="1" dirty="0" smtClean="0"/>
          </a:p>
        </p:txBody>
      </p:sp>
      <p:sp>
        <p:nvSpPr>
          <p:cNvPr id="122" name="Rectangle 121"/>
          <p:cNvSpPr/>
          <p:nvPr/>
        </p:nvSpPr>
        <p:spPr>
          <a:xfrm>
            <a:off x="4639960" y="1876727"/>
            <a:ext cx="903589" cy="380284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Rectangle 126"/>
          <p:cNvSpPr/>
          <p:nvPr/>
        </p:nvSpPr>
        <p:spPr>
          <a:xfrm>
            <a:off x="6169985" y="1878157"/>
            <a:ext cx="723900" cy="34539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28" name="Straight Connector 127"/>
          <p:cNvCxnSpPr/>
          <p:nvPr/>
        </p:nvCxnSpPr>
        <p:spPr>
          <a:xfrm>
            <a:off x="4171950" y="1581835"/>
            <a:ext cx="0" cy="17362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9" name="Rectangle 128"/>
          <p:cNvSpPr/>
          <p:nvPr/>
        </p:nvSpPr>
        <p:spPr>
          <a:xfrm>
            <a:off x="2876550" y="1876727"/>
            <a:ext cx="723900" cy="3033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Rectangle 129"/>
          <p:cNvSpPr/>
          <p:nvPr/>
        </p:nvSpPr>
        <p:spPr>
          <a:xfrm>
            <a:off x="1314450" y="1876727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/>
          <p:cNvSpPr txBox="1"/>
          <p:nvPr/>
        </p:nvSpPr>
        <p:spPr>
          <a:xfrm>
            <a:off x="1276350" y="1876727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Recruitment &amp;</a:t>
            </a:r>
          </a:p>
          <a:p>
            <a:pPr algn="ctr"/>
            <a:r>
              <a:rPr lang="en-US" sz="600" b="1" dirty="0" smtClean="0"/>
              <a:t>Staffing Officer</a:t>
            </a:r>
          </a:p>
          <a:p>
            <a:pPr algn="ctr"/>
            <a:endParaRPr lang="en-US" sz="600" b="1" dirty="0" smtClean="0"/>
          </a:p>
        </p:txBody>
      </p:sp>
      <p:sp>
        <p:nvSpPr>
          <p:cNvPr id="132" name="TextBox 131"/>
          <p:cNvSpPr txBox="1"/>
          <p:nvPr/>
        </p:nvSpPr>
        <p:spPr>
          <a:xfrm>
            <a:off x="2855284" y="1833558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Training &amp; Development Officer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4639960" y="1909708"/>
            <a:ext cx="92281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Employee &amp;</a:t>
            </a:r>
          </a:p>
          <a:p>
            <a:pPr algn="ctr"/>
            <a:r>
              <a:rPr lang="en-US" sz="600" b="1" dirty="0" smtClean="0"/>
              <a:t>Labor Relations Officer</a:t>
            </a:r>
          </a:p>
        </p:txBody>
      </p:sp>
      <p:sp>
        <p:nvSpPr>
          <p:cNvPr id="134" name="TextBox 133"/>
          <p:cNvSpPr txBox="1"/>
          <p:nvPr/>
        </p:nvSpPr>
        <p:spPr>
          <a:xfrm>
            <a:off x="6140302" y="1909708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Compensation &amp;</a:t>
            </a:r>
          </a:p>
          <a:p>
            <a:pPr algn="ctr"/>
            <a:r>
              <a:rPr lang="en-US" sz="600" b="1" dirty="0" smtClean="0"/>
              <a:t>Benefits Officer</a:t>
            </a:r>
          </a:p>
        </p:txBody>
      </p:sp>
      <p:cxnSp>
        <p:nvCxnSpPr>
          <p:cNvPr id="135" name="Straight Connector 134"/>
          <p:cNvCxnSpPr/>
          <p:nvPr/>
        </p:nvCxnSpPr>
        <p:spPr>
          <a:xfrm>
            <a:off x="1676400" y="1752600"/>
            <a:ext cx="6363502" cy="47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>
            <a:off x="3238500" y="1755461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/>
          <p:nvPr/>
        </p:nvCxnSpPr>
        <p:spPr>
          <a:xfrm>
            <a:off x="5096982" y="1755461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Straight Connector 137"/>
          <p:cNvCxnSpPr/>
          <p:nvPr/>
        </p:nvCxnSpPr>
        <p:spPr>
          <a:xfrm>
            <a:off x="6523517" y="1752064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9" name="Rectangle 138"/>
          <p:cNvSpPr/>
          <p:nvPr/>
        </p:nvSpPr>
        <p:spPr>
          <a:xfrm>
            <a:off x="7677952" y="1883401"/>
            <a:ext cx="723900" cy="3033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0" name="TextBox 139"/>
          <p:cNvSpPr txBox="1"/>
          <p:nvPr/>
        </p:nvSpPr>
        <p:spPr>
          <a:xfrm>
            <a:off x="7639852" y="1893639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Area HR Officer</a:t>
            </a:r>
          </a:p>
          <a:p>
            <a:pPr algn="ctr"/>
            <a:r>
              <a:rPr lang="en-US" sz="600" b="1" dirty="0" smtClean="0"/>
              <a:t>(</a:t>
            </a:r>
            <a:r>
              <a:rPr lang="en-US" sz="600" b="1" dirty="0" err="1" smtClean="0"/>
              <a:t>Visayas</a:t>
            </a:r>
            <a:r>
              <a:rPr lang="en-US" sz="600" b="1" dirty="0" smtClean="0"/>
              <a:t>)</a:t>
            </a:r>
          </a:p>
        </p:txBody>
      </p:sp>
      <p:cxnSp>
        <p:nvCxnSpPr>
          <p:cNvPr id="141" name="Straight Connector 140"/>
          <p:cNvCxnSpPr/>
          <p:nvPr/>
        </p:nvCxnSpPr>
        <p:spPr>
          <a:xfrm>
            <a:off x="8031484" y="1757308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Straight Connector 141"/>
          <p:cNvCxnSpPr/>
          <p:nvPr/>
        </p:nvCxnSpPr>
        <p:spPr>
          <a:xfrm>
            <a:off x="1682655" y="1755670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3" name="TextBox 142"/>
          <p:cNvSpPr txBox="1"/>
          <p:nvPr/>
        </p:nvSpPr>
        <p:spPr>
          <a:xfrm>
            <a:off x="219074" y="2286000"/>
            <a:ext cx="122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Human Resource</a:t>
            </a:r>
          </a:p>
          <a:p>
            <a:r>
              <a:rPr lang="en-US" sz="900" b="1" dirty="0" smtClean="0"/>
              <a:t>Department Manager</a:t>
            </a:r>
            <a:endParaRPr lang="en-US" sz="900" b="1" dirty="0"/>
          </a:p>
        </p:txBody>
      </p:sp>
      <p:sp>
        <p:nvSpPr>
          <p:cNvPr id="144" name="TextBox 143"/>
          <p:cNvSpPr txBox="1"/>
          <p:nvPr/>
        </p:nvSpPr>
        <p:spPr>
          <a:xfrm>
            <a:off x="1666874" y="2286000"/>
            <a:ext cx="1571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Administrative Function</a:t>
            </a:r>
          </a:p>
        </p:txBody>
      </p:sp>
      <p:sp>
        <p:nvSpPr>
          <p:cNvPr id="145" name="TextBox 144"/>
          <p:cNvSpPr txBox="1"/>
          <p:nvPr/>
        </p:nvSpPr>
        <p:spPr>
          <a:xfrm>
            <a:off x="4638674" y="2286000"/>
            <a:ext cx="13049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Operational Function</a:t>
            </a:r>
          </a:p>
        </p:txBody>
      </p:sp>
      <p:sp>
        <p:nvSpPr>
          <p:cNvPr id="146" name="TextBox 145"/>
          <p:cNvSpPr txBox="1"/>
          <p:nvPr/>
        </p:nvSpPr>
        <p:spPr>
          <a:xfrm>
            <a:off x="1666874" y="2512368"/>
            <a:ext cx="290512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850" dirty="0" smtClean="0"/>
              <a:t>Prime mover of the Vision, Mission and Corporate Core Values of the Organization.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 Leader with high Integrity, and a Quality driver not only to HRD functions &amp; Services, but also to all other departments.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Generalist &amp; Accountable to the overall result of the Human Resource Department.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 and Responsible on the quality, strict implementation and execution of all HRD standard policies and procedures.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Must show sound and balance disposition in regards to personnel welfare and company’s interests.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Personally maintains and exemplify high moral values &amp; standards acceptable to the norms of the society and community where we operate.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 and responsible on delivering impartial, timely and objective execution of performance evaluation to all HRD personnel, as well as other department’s personnel.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Strictly maintains the final review and decision in regards to all HRD activities, plans and implementations.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Accountable, responsible and authorized to execute standard execution of all major functions &amp; services of HRD.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Belonging to a Managerial Level, has the Administrative responsibility, accountability and authority to exercise administrative function to all other department’s personnel below the level of HRD Manager.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638674" y="2514600"/>
            <a:ext cx="290512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850" dirty="0" smtClean="0"/>
              <a:t>Develop targets and progress reports, Check and review progress reports submitted by HRD section heads on a daily basis.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Have an In depth knowledge on details of all HRD major functions to able to provide training, support and sound directives to HRD.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Assess and make official decisions on all HRD incoming and outgoing official transactions and management directives. 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Strictly implement, execute and follow the standard HRD function process flow chart.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Check and review in a regular basis all HRD section functions are being done diligently by the section heads.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 and Responsible on the quality, strict implementation and execution of all HRD standard policies and procedures.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Develop and regularly review all HRD standard documentations, legal contracts and company mandatories as to its completeness and applicability.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Develop and regularly review all HRD Pre Employment, Development and Post Employment Screening procedures and policies.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Insure security on a daily basis all HRD documents and make respective HRD section be accountable on such tasks.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Strictly implement and follow department functional structure and leveling as well as overall organizational structure.</a:t>
            </a:r>
          </a:p>
        </p:txBody>
      </p:sp>
    </p:spTree>
    <p:extLst>
      <p:ext uri="{BB962C8B-B14F-4D97-AF65-F5344CB8AC3E}">
        <p14:creationId xmlns:p14="http://schemas.microsoft.com/office/powerpoint/2010/main" val="92775928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Rectangle 159"/>
          <p:cNvSpPr/>
          <p:nvPr/>
        </p:nvSpPr>
        <p:spPr>
          <a:xfrm>
            <a:off x="72788" y="3150207"/>
            <a:ext cx="8935594" cy="169939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67" name="Straight Connector 166"/>
          <p:cNvCxnSpPr/>
          <p:nvPr/>
        </p:nvCxnSpPr>
        <p:spPr>
          <a:xfrm>
            <a:off x="3160438" y="373639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9" name="Rectangle 158"/>
          <p:cNvSpPr/>
          <p:nvPr/>
        </p:nvSpPr>
        <p:spPr>
          <a:xfrm>
            <a:off x="76200" y="1066801"/>
            <a:ext cx="8935594" cy="8216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1" name="Rectangle 160"/>
          <p:cNvSpPr/>
          <p:nvPr/>
        </p:nvSpPr>
        <p:spPr>
          <a:xfrm>
            <a:off x="76200" y="1874312"/>
            <a:ext cx="8935594" cy="1278552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62" name="TextBox 161"/>
          <p:cNvSpPr txBox="1"/>
          <p:nvPr/>
        </p:nvSpPr>
        <p:spPr>
          <a:xfrm>
            <a:off x="219074" y="2057400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Top Management</a:t>
            </a:r>
            <a:endParaRPr lang="en-US" sz="1200" dirty="0"/>
          </a:p>
        </p:txBody>
      </p:sp>
      <p:sp>
        <p:nvSpPr>
          <p:cNvPr id="163" name="TextBox 162"/>
          <p:cNvSpPr txBox="1"/>
          <p:nvPr/>
        </p:nvSpPr>
        <p:spPr>
          <a:xfrm>
            <a:off x="110644" y="3733800"/>
            <a:ext cx="1326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Middle </a:t>
            </a:r>
          </a:p>
          <a:p>
            <a:pPr algn="ctr"/>
            <a:r>
              <a:rPr lang="en-US" sz="1200" dirty="0" smtClean="0"/>
              <a:t>Management</a:t>
            </a:r>
            <a:endParaRPr lang="en-US" sz="1200" dirty="0"/>
          </a:p>
        </p:txBody>
      </p:sp>
      <p:sp>
        <p:nvSpPr>
          <p:cNvPr id="164" name="TextBox 163"/>
          <p:cNvSpPr txBox="1"/>
          <p:nvPr/>
        </p:nvSpPr>
        <p:spPr>
          <a:xfrm>
            <a:off x="219074" y="1295400"/>
            <a:ext cx="2066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Board / Executive Committee</a:t>
            </a:r>
            <a:endParaRPr lang="en-US" sz="1200" dirty="0"/>
          </a:p>
        </p:txBody>
      </p:sp>
      <p:cxnSp>
        <p:nvCxnSpPr>
          <p:cNvPr id="117" name="Straight Connector 116"/>
          <p:cNvCxnSpPr>
            <a:endCxn id="82" idx="0"/>
          </p:cNvCxnSpPr>
          <p:nvPr/>
        </p:nvCxnSpPr>
        <p:spPr>
          <a:xfrm flipH="1">
            <a:off x="1543050" y="4772799"/>
            <a:ext cx="8417" cy="9422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4" name="Straight Connector 113"/>
          <p:cNvCxnSpPr>
            <a:endCxn id="154" idx="2"/>
          </p:cNvCxnSpPr>
          <p:nvPr/>
        </p:nvCxnSpPr>
        <p:spPr>
          <a:xfrm flipH="1">
            <a:off x="2732568" y="4772799"/>
            <a:ext cx="8420" cy="11268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Rectangle 1"/>
          <p:cNvSpPr/>
          <p:nvPr/>
        </p:nvSpPr>
        <p:spPr>
          <a:xfrm>
            <a:off x="4191000" y="2470195"/>
            <a:ext cx="990600" cy="4099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Box 2"/>
          <p:cNvSpPr txBox="1"/>
          <p:nvPr/>
        </p:nvSpPr>
        <p:spPr>
          <a:xfrm>
            <a:off x="4190068" y="24384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Store </a:t>
            </a:r>
          </a:p>
          <a:p>
            <a:pPr algn="ctr"/>
            <a:r>
              <a:rPr lang="en-US" sz="800" b="1" dirty="0" smtClean="0"/>
              <a:t>Operations</a:t>
            </a:r>
          </a:p>
          <a:p>
            <a:pPr algn="ctr"/>
            <a:r>
              <a:rPr lang="en-US" sz="800" b="1" dirty="0" smtClean="0"/>
              <a:t>Manager</a:t>
            </a:r>
          </a:p>
        </p:txBody>
      </p:sp>
      <p:sp>
        <p:nvSpPr>
          <p:cNvPr id="4" name="Rectangle 3"/>
          <p:cNvSpPr/>
          <p:nvPr/>
        </p:nvSpPr>
        <p:spPr>
          <a:xfrm>
            <a:off x="4324350" y="3355677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6874835" y="3345439"/>
            <a:ext cx="723900" cy="3033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6" name="Straight Connector 5"/>
          <p:cNvCxnSpPr>
            <a:stCxn id="103" idx="2"/>
            <a:endCxn id="2" idx="0"/>
          </p:cNvCxnSpPr>
          <p:nvPr/>
        </p:nvCxnSpPr>
        <p:spPr>
          <a:xfrm flipH="1">
            <a:off x="4686300" y="1716733"/>
            <a:ext cx="19050" cy="7534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" name="Straight Connector 6"/>
          <p:cNvCxnSpPr>
            <a:stCxn id="2" idx="2"/>
            <a:endCxn id="4" idx="0"/>
          </p:cNvCxnSpPr>
          <p:nvPr/>
        </p:nvCxnSpPr>
        <p:spPr>
          <a:xfrm>
            <a:off x="4686300" y="2880113"/>
            <a:ext cx="0" cy="475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171950" y="1945333"/>
            <a:ext cx="1028700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3089772" y="2889710"/>
            <a:ext cx="783264" cy="24622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4171950" y="1915623"/>
            <a:ext cx="10287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General</a:t>
            </a:r>
          </a:p>
          <a:p>
            <a:pPr algn="ctr"/>
            <a:r>
              <a:rPr lang="en-US" sz="1000" b="1" dirty="0" smtClean="0"/>
              <a:t>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098542" y="2878700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Operations</a:t>
            </a:r>
          </a:p>
          <a:p>
            <a:pPr algn="ctr"/>
            <a:r>
              <a:rPr lang="en-US" sz="600" b="1" dirty="0" smtClean="0"/>
              <a:t>Admin Assistant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790700" y="3344009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TextBox 13"/>
          <p:cNvSpPr txBox="1"/>
          <p:nvPr/>
        </p:nvSpPr>
        <p:spPr>
          <a:xfrm>
            <a:off x="1752598" y="3306232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Area Operations</a:t>
            </a:r>
          </a:p>
          <a:p>
            <a:pPr algn="ctr"/>
            <a:r>
              <a:rPr lang="en-US" sz="600" b="1" dirty="0" smtClean="0"/>
              <a:t>Manager 1</a:t>
            </a:r>
          </a:p>
          <a:p>
            <a:pPr algn="ctr"/>
            <a:r>
              <a:rPr lang="en-US" sz="600" b="1" dirty="0" smtClean="0"/>
              <a:t>(Mindanao)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298875" y="3335037"/>
            <a:ext cx="7832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err="1" smtClean="0"/>
              <a:t>Visayas</a:t>
            </a:r>
            <a:r>
              <a:rPr lang="en-US" sz="500" b="1" dirty="0" smtClean="0"/>
              <a:t> Area  Admin &amp; Operations</a:t>
            </a:r>
            <a:r>
              <a:rPr lang="en-US" sz="500" b="1" dirty="0"/>
              <a:t> </a:t>
            </a:r>
            <a:r>
              <a:rPr lang="en-US" sz="500" b="1" dirty="0" smtClean="0"/>
              <a:t>Manager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Elen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Bacariza</a:t>
            </a:r>
            <a:r>
              <a:rPr lang="en-US" sz="500" b="1" dirty="0" smtClean="0"/>
              <a:t>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845152" y="3324999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Area Operations</a:t>
            </a:r>
          </a:p>
          <a:p>
            <a:pPr algn="ctr"/>
            <a:r>
              <a:rPr lang="en-US" sz="600" b="1" dirty="0" smtClean="0"/>
              <a:t>Manager 3</a:t>
            </a:r>
          </a:p>
          <a:p>
            <a:pPr algn="ctr"/>
            <a:r>
              <a:rPr lang="en-US" sz="600" b="1" dirty="0" smtClean="0"/>
              <a:t>(Luzon)</a:t>
            </a:r>
          </a:p>
        </p:txBody>
      </p:sp>
      <p:cxnSp>
        <p:nvCxnSpPr>
          <p:cNvPr id="34" name="Straight Connector 33"/>
          <p:cNvCxnSpPr/>
          <p:nvPr/>
        </p:nvCxnSpPr>
        <p:spPr>
          <a:xfrm>
            <a:off x="2152650" y="3219882"/>
            <a:ext cx="50757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Connector 36"/>
          <p:cNvCxnSpPr>
            <a:endCxn id="13" idx="0"/>
          </p:cNvCxnSpPr>
          <p:nvPr/>
        </p:nvCxnSpPr>
        <p:spPr>
          <a:xfrm>
            <a:off x="2152650" y="3222743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Connector 39"/>
          <p:cNvCxnSpPr/>
          <p:nvPr/>
        </p:nvCxnSpPr>
        <p:spPr>
          <a:xfrm>
            <a:off x="7228367" y="3219346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Connector 50"/>
          <p:cNvCxnSpPr>
            <a:stCxn id="11" idx="3"/>
          </p:cNvCxnSpPr>
          <p:nvPr/>
        </p:nvCxnSpPr>
        <p:spPr>
          <a:xfrm>
            <a:off x="3881807" y="3017200"/>
            <a:ext cx="798766" cy="336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TextBox 51"/>
          <p:cNvSpPr txBox="1"/>
          <p:nvPr/>
        </p:nvSpPr>
        <p:spPr>
          <a:xfrm>
            <a:off x="247650" y="6068199"/>
            <a:ext cx="1009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Legend:</a:t>
            </a:r>
            <a:endParaRPr lang="en-US" sz="1200" dirty="0"/>
          </a:p>
        </p:txBody>
      </p:sp>
      <p:sp>
        <p:nvSpPr>
          <p:cNvPr id="54" name="Rectangle 53"/>
          <p:cNvSpPr/>
          <p:nvPr/>
        </p:nvSpPr>
        <p:spPr>
          <a:xfrm>
            <a:off x="952500" y="6199257"/>
            <a:ext cx="381000" cy="1253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Rectangle 54"/>
          <p:cNvSpPr/>
          <p:nvPr/>
        </p:nvSpPr>
        <p:spPr>
          <a:xfrm>
            <a:off x="955086" y="6392524"/>
            <a:ext cx="381000" cy="125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1333499" y="6172200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Vacant</a:t>
            </a:r>
            <a:endParaRPr lang="en-US" sz="600" dirty="0"/>
          </a:p>
        </p:txBody>
      </p:sp>
      <p:sp>
        <p:nvSpPr>
          <p:cNvPr id="59" name="TextBox 58"/>
          <p:cNvSpPr txBox="1"/>
          <p:nvPr/>
        </p:nvSpPr>
        <p:spPr>
          <a:xfrm>
            <a:off x="1333500" y="6368534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Specific functions hold by designated personnel.</a:t>
            </a:r>
            <a:endParaRPr lang="en-US" sz="600" dirty="0"/>
          </a:p>
        </p:txBody>
      </p:sp>
      <p:sp>
        <p:nvSpPr>
          <p:cNvPr id="63" name="TextBox 62"/>
          <p:cNvSpPr txBox="1"/>
          <p:nvPr/>
        </p:nvSpPr>
        <p:spPr>
          <a:xfrm>
            <a:off x="824999" y="36881"/>
            <a:ext cx="7353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 ORGANIZATIONAL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</a:p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JATHNIER CORPORATION TOP LEVEL MANAGEMENT </a:t>
            </a:r>
          </a:p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&amp; STORE OPERATIONS DEPARTMENT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85" name="Rectangle 84"/>
          <p:cNvSpPr/>
          <p:nvPr/>
        </p:nvSpPr>
        <p:spPr>
          <a:xfrm>
            <a:off x="1790700" y="3819080"/>
            <a:ext cx="723900" cy="29906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TextBox 85"/>
          <p:cNvSpPr txBox="1"/>
          <p:nvPr/>
        </p:nvSpPr>
        <p:spPr>
          <a:xfrm>
            <a:off x="1764054" y="3786088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Cluster Heads / Cluster Auditors (11)</a:t>
            </a:r>
          </a:p>
        </p:txBody>
      </p:sp>
      <p:sp>
        <p:nvSpPr>
          <p:cNvPr id="87" name="Rectangle 86"/>
          <p:cNvSpPr/>
          <p:nvPr/>
        </p:nvSpPr>
        <p:spPr>
          <a:xfrm>
            <a:off x="1790700" y="4216644"/>
            <a:ext cx="723900" cy="38762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TextBox 87"/>
          <p:cNvSpPr txBox="1"/>
          <p:nvPr/>
        </p:nvSpPr>
        <p:spPr>
          <a:xfrm>
            <a:off x="1759155" y="4185494"/>
            <a:ext cx="783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Branch</a:t>
            </a:r>
          </a:p>
          <a:p>
            <a:pPr algn="ctr"/>
            <a:r>
              <a:rPr lang="en-US" sz="600" b="1" dirty="0" smtClean="0"/>
              <a:t>Supervisors III</a:t>
            </a:r>
          </a:p>
          <a:p>
            <a:pPr algn="ctr"/>
            <a:r>
              <a:rPr lang="en-US" sz="600" b="1" dirty="0" smtClean="0"/>
              <a:t>(Production / Counter)</a:t>
            </a:r>
          </a:p>
        </p:txBody>
      </p:sp>
      <p:sp>
        <p:nvSpPr>
          <p:cNvPr id="89" name="Rectangle 88"/>
          <p:cNvSpPr/>
          <p:nvPr/>
        </p:nvSpPr>
        <p:spPr>
          <a:xfrm>
            <a:off x="1181100" y="4893648"/>
            <a:ext cx="723900" cy="28795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0" name="TextBox 89"/>
          <p:cNvSpPr txBox="1"/>
          <p:nvPr/>
        </p:nvSpPr>
        <p:spPr>
          <a:xfrm>
            <a:off x="1121735" y="4876800"/>
            <a:ext cx="8594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Branch Supervisor II </a:t>
            </a:r>
            <a:r>
              <a:rPr lang="en-US" sz="500" b="1" dirty="0" smtClean="0"/>
              <a:t>(Cashier)</a:t>
            </a:r>
          </a:p>
        </p:txBody>
      </p:sp>
      <p:sp>
        <p:nvSpPr>
          <p:cNvPr id="91" name="Rectangle 90"/>
          <p:cNvSpPr/>
          <p:nvPr/>
        </p:nvSpPr>
        <p:spPr>
          <a:xfrm>
            <a:off x="2379035" y="4893648"/>
            <a:ext cx="723900" cy="18395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2" name="TextBox 91"/>
          <p:cNvSpPr txBox="1"/>
          <p:nvPr/>
        </p:nvSpPr>
        <p:spPr>
          <a:xfrm>
            <a:off x="2351921" y="4883583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Baker II</a:t>
            </a:r>
          </a:p>
        </p:txBody>
      </p:sp>
      <p:sp>
        <p:nvSpPr>
          <p:cNvPr id="93" name="Rectangle 92"/>
          <p:cNvSpPr/>
          <p:nvPr/>
        </p:nvSpPr>
        <p:spPr>
          <a:xfrm>
            <a:off x="1181100" y="5372160"/>
            <a:ext cx="723900" cy="26663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4" name="TextBox 93"/>
          <p:cNvSpPr txBox="1"/>
          <p:nvPr/>
        </p:nvSpPr>
        <p:spPr>
          <a:xfrm>
            <a:off x="1127505" y="5354895"/>
            <a:ext cx="83820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Branch Supervisor I </a:t>
            </a:r>
            <a:r>
              <a:rPr lang="en-US" sz="500" b="1" dirty="0" smtClean="0"/>
              <a:t>(Cashier) </a:t>
            </a:r>
          </a:p>
        </p:txBody>
      </p:sp>
      <p:sp>
        <p:nvSpPr>
          <p:cNvPr id="95" name="Rectangle 94"/>
          <p:cNvSpPr/>
          <p:nvPr/>
        </p:nvSpPr>
        <p:spPr>
          <a:xfrm>
            <a:off x="2379035" y="5366341"/>
            <a:ext cx="723900" cy="16845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TextBox 95"/>
          <p:cNvSpPr txBox="1"/>
          <p:nvPr/>
        </p:nvSpPr>
        <p:spPr>
          <a:xfrm>
            <a:off x="2340935" y="5350133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Baker I</a:t>
            </a:r>
          </a:p>
        </p:txBody>
      </p:sp>
      <p:cxnSp>
        <p:nvCxnSpPr>
          <p:cNvPr id="98" name="Straight Connector 97"/>
          <p:cNvCxnSpPr/>
          <p:nvPr/>
        </p:nvCxnSpPr>
        <p:spPr>
          <a:xfrm>
            <a:off x="1543050" y="4772799"/>
            <a:ext cx="12005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Straight Connector 104"/>
          <p:cNvCxnSpPr>
            <a:stCxn id="13" idx="2"/>
            <a:endCxn id="85" idx="0"/>
          </p:cNvCxnSpPr>
          <p:nvPr/>
        </p:nvCxnSpPr>
        <p:spPr>
          <a:xfrm>
            <a:off x="2152650" y="3647379"/>
            <a:ext cx="0" cy="1717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8" name="Straight Connector 107"/>
          <p:cNvCxnSpPr>
            <a:stCxn id="85" idx="2"/>
            <a:endCxn id="87" idx="0"/>
          </p:cNvCxnSpPr>
          <p:nvPr/>
        </p:nvCxnSpPr>
        <p:spPr>
          <a:xfrm>
            <a:off x="2152650" y="4118149"/>
            <a:ext cx="0" cy="9849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1" name="Straight Connector 110"/>
          <p:cNvCxnSpPr>
            <a:stCxn id="87" idx="2"/>
          </p:cNvCxnSpPr>
          <p:nvPr/>
        </p:nvCxnSpPr>
        <p:spPr>
          <a:xfrm>
            <a:off x="2152650" y="4604266"/>
            <a:ext cx="0" cy="168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8" name="Straight Connector 117"/>
          <p:cNvCxnSpPr>
            <a:endCxn id="97" idx="0"/>
          </p:cNvCxnSpPr>
          <p:nvPr/>
        </p:nvCxnSpPr>
        <p:spPr>
          <a:xfrm flipH="1">
            <a:off x="4078552" y="4777437"/>
            <a:ext cx="6565" cy="9976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endCxn id="155" idx="2"/>
          </p:cNvCxnSpPr>
          <p:nvPr/>
        </p:nvCxnSpPr>
        <p:spPr>
          <a:xfrm flipH="1">
            <a:off x="5283052" y="4781292"/>
            <a:ext cx="2" cy="1162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0" name="Rectangle 119"/>
          <p:cNvSpPr/>
          <p:nvPr/>
        </p:nvSpPr>
        <p:spPr>
          <a:xfrm>
            <a:off x="4332767" y="3899873"/>
            <a:ext cx="723900" cy="2911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1" name="TextBox 120"/>
          <p:cNvSpPr txBox="1"/>
          <p:nvPr/>
        </p:nvSpPr>
        <p:spPr>
          <a:xfrm>
            <a:off x="4294667" y="3886200"/>
            <a:ext cx="7832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Cluster Head Leyte</a:t>
            </a:r>
          </a:p>
          <a:p>
            <a:pPr algn="ctr"/>
            <a:r>
              <a:rPr lang="en-US" sz="500" b="1" dirty="0" smtClean="0"/>
              <a:t>(Eden </a:t>
            </a:r>
            <a:r>
              <a:rPr lang="en-US" sz="500" b="1" dirty="0" err="1" smtClean="0"/>
              <a:t>Infanzo</a:t>
            </a:r>
            <a:r>
              <a:rPr lang="en-US" sz="500" b="1" dirty="0" smtClean="0"/>
              <a:t> &amp; Mary Grace </a:t>
            </a:r>
            <a:r>
              <a:rPr lang="en-US" sz="500" b="1" dirty="0" err="1" smtClean="0"/>
              <a:t>Santoc</a:t>
            </a:r>
            <a:r>
              <a:rPr lang="en-US" sz="500" b="1" dirty="0" smtClean="0"/>
              <a:t>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4332767" y="4343400"/>
            <a:ext cx="723900" cy="3451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3" name="TextBox 122"/>
          <p:cNvSpPr txBox="1"/>
          <p:nvPr/>
        </p:nvSpPr>
        <p:spPr>
          <a:xfrm>
            <a:off x="4294667" y="4371201"/>
            <a:ext cx="810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Branch</a:t>
            </a:r>
          </a:p>
          <a:p>
            <a:pPr algn="ctr"/>
            <a:r>
              <a:rPr lang="en-US" sz="600" b="1" dirty="0" smtClean="0"/>
              <a:t>Supervisors III</a:t>
            </a:r>
          </a:p>
        </p:txBody>
      </p:sp>
      <p:sp>
        <p:nvSpPr>
          <p:cNvPr id="124" name="Rectangle 123"/>
          <p:cNvSpPr/>
          <p:nvPr/>
        </p:nvSpPr>
        <p:spPr>
          <a:xfrm>
            <a:off x="3723167" y="4902141"/>
            <a:ext cx="723900" cy="18395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5" name="TextBox 124"/>
          <p:cNvSpPr txBox="1"/>
          <p:nvPr/>
        </p:nvSpPr>
        <p:spPr>
          <a:xfrm>
            <a:off x="3651175" y="4901426"/>
            <a:ext cx="86788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Branch Supervisor II</a:t>
            </a:r>
          </a:p>
        </p:txBody>
      </p:sp>
      <p:sp>
        <p:nvSpPr>
          <p:cNvPr id="126" name="Rectangle 125"/>
          <p:cNvSpPr/>
          <p:nvPr/>
        </p:nvSpPr>
        <p:spPr>
          <a:xfrm>
            <a:off x="4921102" y="4902141"/>
            <a:ext cx="723900" cy="18395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7" name="TextBox 126"/>
          <p:cNvSpPr txBox="1"/>
          <p:nvPr/>
        </p:nvSpPr>
        <p:spPr>
          <a:xfrm>
            <a:off x="4893988" y="4892076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Baker II</a:t>
            </a:r>
          </a:p>
        </p:txBody>
      </p:sp>
      <p:sp>
        <p:nvSpPr>
          <p:cNvPr id="128" name="Rectangle 127"/>
          <p:cNvSpPr/>
          <p:nvPr/>
        </p:nvSpPr>
        <p:spPr>
          <a:xfrm>
            <a:off x="3723167" y="5380654"/>
            <a:ext cx="723900" cy="1626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9" name="TextBox 128"/>
          <p:cNvSpPr txBox="1"/>
          <p:nvPr/>
        </p:nvSpPr>
        <p:spPr>
          <a:xfrm>
            <a:off x="3668121" y="5361147"/>
            <a:ext cx="83399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Branch Supervisor I</a:t>
            </a:r>
          </a:p>
        </p:txBody>
      </p:sp>
      <p:sp>
        <p:nvSpPr>
          <p:cNvPr id="130" name="Rectangle 129"/>
          <p:cNvSpPr/>
          <p:nvPr/>
        </p:nvSpPr>
        <p:spPr>
          <a:xfrm>
            <a:off x="4921102" y="5374834"/>
            <a:ext cx="723900" cy="16845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1" name="TextBox 130"/>
          <p:cNvSpPr txBox="1"/>
          <p:nvPr/>
        </p:nvSpPr>
        <p:spPr>
          <a:xfrm>
            <a:off x="4883002" y="5358626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Baker I</a:t>
            </a:r>
          </a:p>
        </p:txBody>
      </p:sp>
      <p:cxnSp>
        <p:nvCxnSpPr>
          <p:cNvPr id="132" name="Straight Connector 131"/>
          <p:cNvCxnSpPr/>
          <p:nvPr/>
        </p:nvCxnSpPr>
        <p:spPr>
          <a:xfrm>
            <a:off x="4085117" y="4781292"/>
            <a:ext cx="12005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3" name="Straight Connector 132"/>
          <p:cNvCxnSpPr>
            <a:endCxn id="120" idx="0"/>
          </p:cNvCxnSpPr>
          <p:nvPr/>
        </p:nvCxnSpPr>
        <p:spPr>
          <a:xfrm>
            <a:off x="4694717" y="3655872"/>
            <a:ext cx="0" cy="244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4" name="Straight Connector 133"/>
          <p:cNvCxnSpPr>
            <a:stCxn id="120" idx="2"/>
            <a:endCxn id="122" idx="0"/>
          </p:cNvCxnSpPr>
          <p:nvPr/>
        </p:nvCxnSpPr>
        <p:spPr>
          <a:xfrm>
            <a:off x="4694717" y="4191000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Straight Connector 134"/>
          <p:cNvCxnSpPr>
            <a:stCxn id="122" idx="2"/>
          </p:cNvCxnSpPr>
          <p:nvPr/>
        </p:nvCxnSpPr>
        <p:spPr>
          <a:xfrm>
            <a:off x="4694717" y="4688532"/>
            <a:ext cx="0" cy="9276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>
            <a:endCxn id="100" idx="0"/>
          </p:cNvCxnSpPr>
          <p:nvPr/>
        </p:nvCxnSpPr>
        <p:spPr>
          <a:xfrm flipH="1">
            <a:off x="6642548" y="4781292"/>
            <a:ext cx="1171" cy="100555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Straight Connector 136"/>
          <p:cNvCxnSpPr>
            <a:endCxn id="158" idx="2"/>
          </p:cNvCxnSpPr>
          <p:nvPr/>
        </p:nvCxnSpPr>
        <p:spPr>
          <a:xfrm>
            <a:off x="7835401" y="4781292"/>
            <a:ext cx="2567" cy="11623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8" name="Rectangle 137"/>
          <p:cNvSpPr/>
          <p:nvPr/>
        </p:nvSpPr>
        <p:spPr>
          <a:xfrm>
            <a:off x="6885114" y="3899873"/>
            <a:ext cx="723900" cy="19561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9" name="TextBox 138"/>
          <p:cNvSpPr txBox="1"/>
          <p:nvPr/>
        </p:nvSpPr>
        <p:spPr>
          <a:xfrm>
            <a:off x="6847014" y="3910826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Cluster Heads</a:t>
            </a:r>
          </a:p>
        </p:txBody>
      </p:sp>
      <p:sp>
        <p:nvSpPr>
          <p:cNvPr id="140" name="Rectangle 139"/>
          <p:cNvSpPr/>
          <p:nvPr/>
        </p:nvSpPr>
        <p:spPr>
          <a:xfrm>
            <a:off x="6885114" y="4368741"/>
            <a:ext cx="723900" cy="2440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/>
          <p:cNvSpPr txBox="1"/>
          <p:nvPr/>
        </p:nvSpPr>
        <p:spPr>
          <a:xfrm>
            <a:off x="6847014" y="4351893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Branch</a:t>
            </a:r>
          </a:p>
          <a:p>
            <a:pPr algn="ctr"/>
            <a:r>
              <a:rPr lang="en-US" sz="600" b="1" dirty="0" smtClean="0"/>
              <a:t>Supervisors</a:t>
            </a:r>
          </a:p>
        </p:txBody>
      </p:sp>
      <p:sp>
        <p:nvSpPr>
          <p:cNvPr id="142" name="Rectangle 141"/>
          <p:cNvSpPr/>
          <p:nvPr/>
        </p:nvSpPr>
        <p:spPr>
          <a:xfrm>
            <a:off x="6275514" y="4902141"/>
            <a:ext cx="723900" cy="18395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3" name="TextBox 142"/>
          <p:cNvSpPr txBox="1"/>
          <p:nvPr/>
        </p:nvSpPr>
        <p:spPr>
          <a:xfrm>
            <a:off x="6212871" y="4901426"/>
            <a:ext cx="849186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Branch Supervisor II</a:t>
            </a:r>
          </a:p>
        </p:txBody>
      </p:sp>
      <p:sp>
        <p:nvSpPr>
          <p:cNvPr id="144" name="Rectangle 143"/>
          <p:cNvSpPr/>
          <p:nvPr/>
        </p:nvSpPr>
        <p:spPr>
          <a:xfrm>
            <a:off x="7473449" y="4902141"/>
            <a:ext cx="723900" cy="18395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5" name="TextBox 144"/>
          <p:cNvSpPr txBox="1"/>
          <p:nvPr/>
        </p:nvSpPr>
        <p:spPr>
          <a:xfrm>
            <a:off x="7446335" y="4892076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Baker II</a:t>
            </a:r>
          </a:p>
        </p:txBody>
      </p:sp>
      <p:sp>
        <p:nvSpPr>
          <p:cNvPr id="146" name="Rectangle 145"/>
          <p:cNvSpPr/>
          <p:nvPr/>
        </p:nvSpPr>
        <p:spPr>
          <a:xfrm>
            <a:off x="6275514" y="5380654"/>
            <a:ext cx="723900" cy="1626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7" name="TextBox 146"/>
          <p:cNvSpPr txBox="1"/>
          <p:nvPr/>
        </p:nvSpPr>
        <p:spPr>
          <a:xfrm>
            <a:off x="6231397" y="5366341"/>
            <a:ext cx="824643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Branch Supervisor I</a:t>
            </a:r>
          </a:p>
        </p:txBody>
      </p:sp>
      <p:sp>
        <p:nvSpPr>
          <p:cNvPr id="148" name="Rectangle 147"/>
          <p:cNvSpPr/>
          <p:nvPr/>
        </p:nvSpPr>
        <p:spPr>
          <a:xfrm>
            <a:off x="7473449" y="5374834"/>
            <a:ext cx="723900" cy="16845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9" name="TextBox 148"/>
          <p:cNvSpPr txBox="1"/>
          <p:nvPr/>
        </p:nvSpPr>
        <p:spPr>
          <a:xfrm>
            <a:off x="7435349" y="5358626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Baker I</a:t>
            </a:r>
          </a:p>
        </p:txBody>
      </p:sp>
      <p:cxnSp>
        <p:nvCxnSpPr>
          <p:cNvPr id="150" name="Straight Connector 149"/>
          <p:cNvCxnSpPr/>
          <p:nvPr/>
        </p:nvCxnSpPr>
        <p:spPr>
          <a:xfrm>
            <a:off x="6637464" y="4781292"/>
            <a:ext cx="120050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Straight Connector 150"/>
          <p:cNvCxnSpPr>
            <a:endCxn id="138" idx="0"/>
          </p:cNvCxnSpPr>
          <p:nvPr/>
        </p:nvCxnSpPr>
        <p:spPr>
          <a:xfrm>
            <a:off x="7247064" y="3655872"/>
            <a:ext cx="0" cy="244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Connector 151"/>
          <p:cNvCxnSpPr>
            <a:stCxn id="138" idx="2"/>
            <a:endCxn id="140" idx="0"/>
          </p:cNvCxnSpPr>
          <p:nvPr/>
        </p:nvCxnSpPr>
        <p:spPr>
          <a:xfrm>
            <a:off x="7247064" y="4095492"/>
            <a:ext cx="0" cy="273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>
            <a:stCxn id="140" idx="2"/>
          </p:cNvCxnSpPr>
          <p:nvPr/>
        </p:nvCxnSpPr>
        <p:spPr>
          <a:xfrm>
            <a:off x="7247064" y="4612759"/>
            <a:ext cx="0" cy="16853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181100" y="5715000"/>
            <a:ext cx="723900" cy="2783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1145586" y="5715000"/>
            <a:ext cx="783265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Service Crews </a:t>
            </a:r>
            <a:r>
              <a:rPr lang="en-US" sz="500" b="1" dirty="0" smtClean="0"/>
              <a:t>(Sales Clerk)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3716602" y="5775125"/>
            <a:ext cx="723900" cy="1626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9" name="TextBox 98"/>
          <p:cNvSpPr txBox="1"/>
          <p:nvPr/>
        </p:nvSpPr>
        <p:spPr>
          <a:xfrm>
            <a:off x="3684404" y="5763399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Service Crews</a:t>
            </a:r>
          </a:p>
        </p:txBody>
      </p:sp>
      <p:sp>
        <p:nvSpPr>
          <p:cNvPr id="100" name="Rectangle 99"/>
          <p:cNvSpPr/>
          <p:nvPr/>
        </p:nvSpPr>
        <p:spPr>
          <a:xfrm>
            <a:off x="6280598" y="5786851"/>
            <a:ext cx="723900" cy="16263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" name="TextBox 100"/>
          <p:cNvSpPr txBox="1"/>
          <p:nvPr/>
        </p:nvSpPr>
        <p:spPr>
          <a:xfrm>
            <a:off x="6248400" y="5763399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Service Crews</a:t>
            </a:r>
          </a:p>
        </p:txBody>
      </p:sp>
      <p:sp>
        <p:nvSpPr>
          <p:cNvPr id="103" name="Rectangle 102"/>
          <p:cNvSpPr/>
          <p:nvPr/>
        </p:nvSpPr>
        <p:spPr>
          <a:xfrm>
            <a:off x="4191000" y="1219200"/>
            <a:ext cx="1028700" cy="49753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4" name="TextBox 103"/>
          <p:cNvSpPr txBox="1"/>
          <p:nvPr/>
        </p:nvSpPr>
        <p:spPr>
          <a:xfrm>
            <a:off x="4176158" y="1192768"/>
            <a:ext cx="10287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VP/</a:t>
            </a:r>
          </a:p>
          <a:p>
            <a:pPr algn="ctr"/>
            <a:r>
              <a:rPr lang="en-US" sz="1000" b="1" dirty="0" smtClean="0"/>
              <a:t>Operations Director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6896100" y="1295400"/>
            <a:ext cx="1028700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7" name="TextBox 106"/>
          <p:cNvSpPr txBox="1"/>
          <p:nvPr/>
        </p:nvSpPr>
        <p:spPr>
          <a:xfrm>
            <a:off x="6896100" y="1331267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President</a:t>
            </a:r>
          </a:p>
        </p:txBody>
      </p:sp>
      <p:cxnSp>
        <p:nvCxnSpPr>
          <p:cNvPr id="109" name="Straight Connector 108"/>
          <p:cNvCxnSpPr>
            <a:stCxn id="104" idx="3"/>
            <a:endCxn id="107" idx="1"/>
          </p:cNvCxnSpPr>
          <p:nvPr/>
        </p:nvCxnSpPr>
        <p:spPr>
          <a:xfrm>
            <a:off x="5204858" y="1469767"/>
            <a:ext cx="1691242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0" name="Rectangle 109"/>
          <p:cNvSpPr/>
          <p:nvPr/>
        </p:nvSpPr>
        <p:spPr>
          <a:xfrm>
            <a:off x="5181600" y="3899874"/>
            <a:ext cx="489099" cy="3066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2" name="TextBox 111"/>
          <p:cNvSpPr txBox="1"/>
          <p:nvPr/>
        </p:nvSpPr>
        <p:spPr>
          <a:xfrm>
            <a:off x="5139424" y="3873331"/>
            <a:ext cx="5755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Cluster Head Cebu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Thessa</a:t>
            </a:r>
            <a:r>
              <a:rPr lang="en-US" sz="500" b="1" dirty="0" smtClean="0"/>
              <a:t>)</a:t>
            </a:r>
          </a:p>
        </p:txBody>
      </p:sp>
      <p:cxnSp>
        <p:nvCxnSpPr>
          <p:cNvPr id="113" name="Straight Connector 112"/>
          <p:cNvCxnSpPr/>
          <p:nvPr/>
        </p:nvCxnSpPr>
        <p:spPr>
          <a:xfrm>
            <a:off x="5410200" y="3749933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5" name="Straight Connector 114"/>
          <p:cNvCxnSpPr/>
          <p:nvPr/>
        </p:nvCxnSpPr>
        <p:spPr>
          <a:xfrm>
            <a:off x="4694717" y="3756421"/>
            <a:ext cx="1477483" cy="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6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59933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2" name="Rectangle 101"/>
          <p:cNvSpPr/>
          <p:nvPr/>
        </p:nvSpPr>
        <p:spPr>
          <a:xfrm>
            <a:off x="2379035" y="5731208"/>
            <a:ext cx="723900" cy="16845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4" name="TextBox 153"/>
          <p:cNvSpPr txBox="1"/>
          <p:nvPr/>
        </p:nvSpPr>
        <p:spPr>
          <a:xfrm>
            <a:off x="2340935" y="5715000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Trainee Baker</a:t>
            </a:r>
          </a:p>
        </p:txBody>
      </p:sp>
      <p:sp>
        <p:nvSpPr>
          <p:cNvPr id="155" name="Rectangle 154"/>
          <p:cNvSpPr/>
          <p:nvPr/>
        </p:nvSpPr>
        <p:spPr>
          <a:xfrm>
            <a:off x="4921102" y="5775142"/>
            <a:ext cx="723900" cy="16845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6" name="TextBox 155"/>
          <p:cNvSpPr txBox="1"/>
          <p:nvPr/>
        </p:nvSpPr>
        <p:spPr>
          <a:xfrm>
            <a:off x="4883002" y="5758934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Trainee Baker</a:t>
            </a:r>
          </a:p>
        </p:txBody>
      </p:sp>
      <p:sp>
        <p:nvSpPr>
          <p:cNvPr id="157" name="Rectangle 156"/>
          <p:cNvSpPr/>
          <p:nvPr/>
        </p:nvSpPr>
        <p:spPr>
          <a:xfrm>
            <a:off x="7484435" y="5775142"/>
            <a:ext cx="723900" cy="16845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8" name="TextBox 157"/>
          <p:cNvSpPr txBox="1"/>
          <p:nvPr/>
        </p:nvSpPr>
        <p:spPr>
          <a:xfrm>
            <a:off x="7446335" y="5758934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Trainee Baker</a:t>
            </a:r>
          </a:p>
        </p:txBody>
      </p:sp>
      <p:sp>
        <p:nvSpPr>
          <p:cNvPr id="165" name="Rectangle 164"/>
          <p:cNvSpPr/>
          <p:nvPr/>
        </p:nvSpPr>
        <p:spPr>
          <a:xfrm>
            <a:off x="2798488" y="3819080"/>
            <a:ext cx="723900" cy="30171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6" name="TextBox 165"/>
          <p:cNvSpPr txBox="1"/>
          <p:nvPr/>
        </p:nvSpPr>
        <p:spPr>
          <a:xfrm>
            <a:off x="2777427" y="3786546"/>
            <a:ext cx="7832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Store Marketing &amp; Training</a:t>
            </a:r>
            <a:r>
              <a:rPr lang="en-US" sz="500" b="1" dirty="0"/>
              <a:t> </a:t>
            </a:r>
            <a:r>
              <a:rPr lang="en-US" sz="500" b="1" dirty="0" smtClean="0"/>
              <a:t>Officer / Marketing Auditor</a:t>
            </a:r>
          </a:p>
        </p:txBody>
      </p:sp>
      <p:cxnSp>
        <p:nvCxnSpPr>
          <p:cNvPr id="168" name="Straight Connector 167"/>
          <p:cNvCxnSpPr/>
          <p:nvPr/>
        </p:nvCxnSpPr>
        <p:spPr>
          <a:xfrm>
            <a:off x="2142370" y="3742878"/>
            <a:ext cx="10180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1" name="Straight Connector 170"/>
          <p:cNvCxnSpPr/>
          <p:nvPr/>
        </p:nvCxnSpPr>
        <p:spPr>
          <a:xfrm>
            <a:off x="6172200" y="3758426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9" name="Rectangle 168"/>
          <p:cNvSpPr/>
          <p:nvPr/>
        </p:nvSpPr>
        <p:spPr>
          <a:xfrm>
            <a:off x="5819023" y="3886330"/>
            <a:ext cx="723900" cy="2156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0" name="TextBox 169"/>
          <p:cNvSpPr txBox="1"/>
          <p:nvPr/>
        </p:nvSpPr>
        <p:spPr>
          <a:xfrm>
            <a:off x="5769935" y="3874571"/>
            <a:ext cx="7832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Store Marketing &amp; Training</a:t>
            </a:r>
            <a:r>
              <a:rPr lang="en-US" sz="500" b="1" dirty="0"/>
              <a:t> </a:t>
            </a:r>
            <a:r>
              <a:rPr lang="en-US" sz="500" b="1" dirty="0" smtClean="0"/>
              <a:t>Officer</a:t>
            </a:r>
          </a:p>
        </p:txBody>
      </p:sp>
    </p:spTree>
    <p:extLst>
      <p:ext uri="{BB962C8B-B14F-4D97-AF65-F5344CB8AC3E}">
        <p14:creationId xmlns:p14="http://schemas.microsoft.com/office/powerpoint/2010/main" val="5064391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TextBox 62"/>
          <p:cNvSpPr txBox="1"/>
          <p:nvPr/>
        </p:nvSpPr>
        <p:spPr>
          <a:xfrm>
            <a:off x="0" y="19701"/>
            <a:ext cx="9011794" cy="6771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9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JATHNIER CORPORATION STORE OPERATIONS FUNCTIONS, ACCOUNTABILITIES AND DELIVERABLES 2022</a:t>
            </a:r>
            <a:endParaRPr lang="en-US" sz="19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116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22456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66" name="Rectangle 165"/>
          <p:cNvSpPr/>
          <p:nvPr/>
        </p:nvSpPr>
        <p:spPr>
          <a:xfrm>
            <a:off x="3887132" y="677263"/>
            <a:ext cx="990600" cy="4099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/>
          <p:cNvSpPr txBox="1"/>
          <p:nvPr/>
        </p:nvSpPr>
        <p:spPr>
          <a:xfrm>
            <a:off x="3886200" y="645468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Store </a:t>
            </a:r>
          </a:p>
          <a:p>
            <a:pPr algn="ctr"/>
            <a:r>
              <a:rPr lang="en-US" sz="800" b="1" dirty="0" smtClean="0"/>
              <a:t>Operations</a:t>
            </a:r>
          </a:p>
          <a:p>
            <a:pPr algn="ctr"/>
            <a:r>
              <a:rPr lang="en-US" sz="800" b="1" dirty="0" smtClean="0"/>
              <a:t>Manager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4020482" y="1562745"/>
            <a:ext cx="723900" cy="3033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Rectangle 168"/>
          <p:cNvSpPr/>
          <p:nvPr/>
        </p:nvSpPr>
        <p:spPr>
          <a:xfrm>
            <a:off x="6570967" y="1552507"/>
            <a:ext cx="723900" cy="3033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70" name="Straight Connector 169"/>
          <p:cNvCxnSpPr>
            <a:stCxn id="166" idx="2"/>
            <a:endCxn id="168" idx="0"/>
          </p:cNvCxnSpPr>
          <p:nvPr/>
        </p:nvCxnSpPr>
        <p:spPr>
          <a:xfrm>
            <a:off x="4382432" y="1087181"/>
            <a:ext cx="0" cy="47556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1" name="Rectangle 170"/>
          <p:cNvSpPr/>
          <p:nvPr/>
        </p:nvSpPr>
        <p:spPr>
          <a:xfrm>
            <a:off x="2785904" y="1096778"/>
            <a:ext cx="7832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2" name="TextBox 171"/>
          <p:cNvSpPr txBox="1"/>
          <p:nvPr/>
        </p:nvSpPr>
        <p:spPr>
          <a:xfrm>
            <a:off x="2794674" y="1085768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Operations</a:t>
            </a:r>
          </a:p>
          <a:p>
            <a:pPr algn="ctr"/>
            <a:r>
              <a:rPr lang="en-US" sz="600" b="1" dirty="0" smtClean="0"/>
              <a:t>Admin Assistant</a:t>
            </a:r>
          </a:p>
        </p:txBody>
      </p:sp>
      <p:sp>
        <p:nvSpPr>
          <p:cNvPr id="173" name="Rectangle 172"/>
          <p:cNvSpPr/>
          <p:nvPr/>
        </p:nvSpPr>
        <p:spPr>
          <a:xfrm>
            <a:off x="1486832" y="1551077"/>
            <a:ext cx="723900" cy="3033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4" name="TextBox 173"/>
          <p:cNvSpPr txBox="1"/>
          <p:nvPr/>
        </p:nvSpPr>
        <p:spPr>
          <a:xfrm>
            <a:off x="1447800" y="1518096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Area Operations</a:t>
            </a:r>
          </a:p>
          <a:p>
            <a:pPr algn="ctr"/>
            <a:r>
              <a:rPr lang="en-US" sz="600" b="1" dirty="0" smtClean="0"/>
              <a:t>Head 1</a:t>
            </a:r>
          </a:p>
          <a:p>
            <a:pPr algn="ctr"/>
            <a:r>
              <a:rPr lang="en-US" sz="600" b="1" dirty="0" smtClean="0"/>
              <a:t>(Mindanao)</a:t>
            </a:r>
          </a:p>
        </p:txBody>
      </p:sp>
      <p:sp>
        <p:nvSpPr>
          <p:cNvPr id="175" name="TextBox 174"/>
          <p:cNvSpPr txBox="1"/>
          <p:nvPr/>
        </p:nvSpPr>
        <p:spPr>
          <a:xfrm>
            <a:off x="3995007" y="1543735"/>
            <a:ext cx="7832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err="1" smtClean="0"/>
              <a:t>Visayas</a:t>
            </a:r>
            <a:r>
              <a:rPr lang="en-US" sz="500" b="1" dirty="0" smtClean="0"/>
              <a:t> Area  Admin &amp; Operations</a:t>
            </a:r>
            <a:r>
              <a:rPr lang="en-US" sz="500" b="1" dirty="0"/>
              <a:t> </a:t>
            </a:r>
            <a:r>
              <a:rPr lang="en-US" sz="500" b="1" dirty="0" smtClean="0"/>
              <a:t>Head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Elen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Bacariza</a:t>
            </a:r>
            <a:r>
              <a:rPr lang="en-US" sz="500" b="1" dirty="0" smtClean="0"/>
              <a:t>)</a:t>
            </a:r>
          </a:p>
        </p:txBody>
      </p:sp>
      <p:sp>
        <p:nvSpPr>
          <p:cNvPr id="176" name="TextBox 175"/>
          <p:cNvSpPr txBox="1"/>
          <p:nvPr/>
        </p:nvSpPr>
        <p:spPr>
          <a:xfrm>
            <a:off x="6541284" y="1532067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Area Operations</a:t>
            </a:r>
          </a:p>
          <a:p>
            <a:pPr algn="ctr"/>
            <a:r>
              <a:rPr lang="en-US" sz="600" b="1" dirty="0" smtClean="0"/>
              <a:t>Head 3</a:t>
            </a:r>
          </a:p>
          <a:p>
            <a:pPr algn="ctr"/>
            <a:r>
              <a:rPr lang="en-US" sz="600" b="1" dirty="0" smtClean="0"/>
              <a:t>(Luzon)</a:t>
            </a:r>
          </a:p>
        </p:txBody>
      </p:sp>
      <p:cxnSp>
        <p:nvCxnSpPr>
          <p:cNvPr id="177" name="Straight Connector 176"/>
          <p:cNvCxnSpPr/>
          <p:nvPr/>
        </p:nvCxnSpPr>
        <p:spPr>
          <a:xfrm>
            <a:off x="1848782" y="1426950"/>
            <a:ext cx="507571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8" name="Straight Connector 177"/>
          <p:cNvCxnSpPr>
            <a:endCxn id="173" idx="0"/>
          </p:cNvCxnSpPr>
          <p:nvPr/>
        </p:nvCxnSpPr>
        <p:spPr>
          <a:xfrm>
            <a:off x="1848782" y="1429811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/>
          <p:nvPr/>
        </p:nvCxnSpPr>
        <p:spPr>
          <a:xfrm>
            <a:off x="6924499" y="1426414"/>
            <a:ext cx="0" cy="1212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0" name="Straight Connector 179"/>
          <p:cNvCxnSpPr>
            <a:stCxn id="172" idx="3"/>
          </p:cNvCxnSpPr>
          <p:nvPr/>
        </p:nvCxnSpPr>
        <p:spPr>
          <a:xfrm>
            <a:off x="3577939" y="1224268"/>
            <a:ext cx="798766" cy="336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1" name="Rectangle 180"/>
          <p:cNvSpPr/>
          <p:nvPr/>
        </p:nvSpPr>
        <p:spPr>
          <a:xfrm>
            <a:off x="1486832" y="2098448"/>
            <a:ext cx="723900" cy="19561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2" name="TextBox 181"/>
          <p:cNvSpPr txBox="1"/>
          <p:nvPr/>
        </p:nvSpPr>
        <p:spPr>
          <a:xfrm>
            <a:off x="1448732" y="2109401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Cluster Heads (11)</a:t>
            </a:r>
          </a:p>
        </p:txBody>
      </p:sp>
      <p:sp>
        <p:nvSpPr>
          <p:cNvPr id="183" name="Rectangle 182"/>
          <p:cNvSpPr/>
          <p:nvPr/>
        </p:nvSpPr>
        <p:spPr>
          <a:xfrm>
            <a:off x="1486832" y="2567316"/>
            <a:ext cx="723900" cy="2440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4" name="TextBox 183"/>
          <p:cNvSpPr txBox="1"/>
          <p:nvPr/>
        </p:nvSpPr>
        <p:spPr>
          <a:xfrm>
            <a:off x="1448732" y="2550468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Branch</a:t>
            </a:r>
          </a:p>
          <a:p>
            <a:pPr algn="ctr"/>
            <a:r>
              <a:rPr lang="en-US" sz="600" b="1" dirty="0" smtClean="0"/>
              <a:t>Supervisors III</a:t>
            </a:r>
          </a:p>
        </p:txBody>
      </p:sp>
      <p:cxnSp>
        <p:nvCxnSpPr>
          <p:cNvPr id="185" name="Straight Connector 184"/>
          <p:cNvCxnSpPr>
            <a:stCxn id="173" idx="2"/>
            <a:endCxn id="181" idx="0"/>
          </p:cNvCxnSpPr>
          <p:nvPr/>
        </p:nvCxnSpPr>
        <p:spPr>
          <a:xfrm>
            <a:off x="1848782" y="1854447"/>
            <a:ext cx="0" cy="244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6" name="Straight Connector 185"/>
          <p:cNvCxnSpPr>
            <a:stCxn id="181" idx="2"/>
            <a:endCxn id="183" idx="0"/>
          </p:cNvCxnSpPr>
          <p:nvPr/>
        </p:nvCxnSpPr>
        <p:spPr>
          <a:xfrm>
            <a:off x="1848782" y="2294067"/>
            <a:ext cx="0" cy="273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7" name="Rectangle 186"/>
          <p:cNvSpPr/>
          <p:nvPr/>
        </p:nvSpPr>
        <p:spPr>
          <a:xfrm>
            <a:off x="4028899" y="2106941"/>
            <a:ext cx="723900" cy="2911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8" name="TextBox 187"/>
          <p:cNvSpPr txBox="1"/>
          <p:nvPr/>
        </p:nvSpPr>
        <p:spPr>
          <a:xfrm>
            <a:off x="3990799" y="2093268"/>
            <a:ext cx="7832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Cluster Head Leyte</a:t>
            </a:r>
          </a:p>
          <a:p>
            <a:pPr algn="ctr"/>
            <a:r>
              <a:rPr lang="en-US" sz="500" b="1" dirty="0" smtClean="0"/>
              <a:t>(Eden </a:t>
            </a:r>
            <a:r>
              <a:rPr lang="en-US" sz="500" b="1" dirty="0" err="1" smtClean="0"/>
              <a:t>Infanzo</a:t>
            </a:r>
            <a:r>
              <a:rPr lang="en-US" sz="500" b="1" dirty="0" smtClean="0"/>
              <a:t> &amp; Mary Grace </a:t>
            </a:r>
            <a:r>
              <a:rPr lang="en-US" sz="500" b="1" dirty="0" err="1" smtClean="0"/>
              <a:t>Santoc</a:t>
            </a:r>
            <a:r>
              <a:rPr lang="en-US" sz="500" b="1" dirty="0" smtClean="0"/>
              <a:t>)</a:t>
            </a:r>
          </a:p>
        </p:txBody>
      </p:sp>
      <p:sp>
        <p:nvSpPr>
          <p:cNvPr id="189" name="Rectangle 188"/>
          <p:cNvSpPr/>
          <p:nvPr/>
        </p:nvSpPr>
        <p:spPr>
          <a:xfrm>
            <a:off x="4028899" y="2550468"/>
            <a:ext cx="723900" cy="34513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0" name="TextBox 189"/>
          <p:cNvSpPr txBox="1"/>
          <p:nvPr/>
        </p:nvSpPr>
        <p:spPr>
          <a:xfrm>
            <a:off x="3990799" y="2578269"/>
            <a:ext cx="81073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Branch</a:t>
            </a:r>
          </a:p>
          <a:p>
            <a:pPr algn="ctr"/>
            <a:r>
              <a:rPr lang="en-US" sz="600" b="1" dirty="0" smtClean="0"/>
              <a:t>Supervisors III</a:t>
            </a:r>
          </a:p>
        </p:txBody>
      </p:sp>
      <p:cxnSp>
        <p:nvCxnSpPr>
          <p:cNvPr id="191" name="Straight Connector 190"/>
          <p:cNvCxnSpPr>
            <a:endCxn id="187" idx="0"/>
          </p:cNvCxnSpPr>
          <p:nvPr/>
        </p:nvCxnSpPr>
        <p:spPr>
          <a:xfrm>
            <a:off x="4390849" y="1862940"/>
            <a:ext cx="0" cy="244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2" name="Straight Connector 191"/>
          <p:cNvCxnSpPr>
            <a:stCxn id="187" idx="2"/>
            <a:endCxn id="189" idx="0"/>
          </p:cNvCxnSpPr>
          <p:nvPr/>
        </p:nvCxnSpPr>
        <p:spPr>
          <a:xfrm>
            <a:off x="4390849" y="2398068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3" name="Rectangle 192"/>
          <p:cNvSpPr/>
          <p:nvPr/>
        </p:nvSpPr>
        <p:spPr>
          <a:xfrm>
            <a:off x="6581246" y="2106941"/>
            <a:ext cx="723900" cy="19561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TextBox 193"/>
          <p:cNvSpPr txBox="1"/>
          <p:nvPr/>
        </p:nvSpPr>
        <p:spPr>
          <a:xfrm>
            <a:off x="6543146" y="2117894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Cluster Heads</a:t>
            </a:r>
          </a:p>
        </p:txBody>
      </p:sp>
      <p:sp>
        <p:nvSpPr>
          <p:cNvPr id="195" name="Rectangle 194"/>
          <p:cNvSpPr/>
          <p:nvPr/>
        </p:nvSpPr>
        <p:spPr>
          <a:xfrm>
            <a:off x="6581246" y="2575809"/>
            <a:ext cx="723900" cy="2440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6" name="TextBox 195"/>
          <p:cNvSpPr txBox="1"/>
          <p:nvPr/>
        </p:nvSpPr>
        <p:spPr>
          <a:xfrm>
            <a:off x="6543146" y="2558961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Branch</a:t>
            </a:r>
          </a:p>
          <a:p>
            <a:pPr algn="ctr"/>
            <a:r>
              <a:rPr lang="en-US" sz="600" b="1" dirty="0" smtClean="0"/>
              <a:t>Supervisors</a:t>
            </a:r>
          </a:p>
        </p:txBody>
      </p:sp>
      <p:cxnSp>
        <p:nvCxnSpPr>
          <p:cNvPr id="197" name="Straight Connector 196"/>
          <p:cNvCxnSpPr>
            <a:endCxn id="193" idx="0"/>
          </p:cNvCxnSpPr>
          <p:nvPr/>
        </p:nvCxnSpPr>
        <p:spPr>
          <a:xfrm>
            <a:off x="6943196" y="1862940"/>
            <a:ext cx="0" cy="2440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98" name="Straight Connector 197"/>
          <p:cNvCxnSpPr>
            <a:stCxn id="193" idx="2"/>
            <a:endCxn id="195" idx="0"/>
          </p:cNvCxnSpPr>
          <p:nvPr/>
        </p:nvCxnSpPr>
        <p:spPr>
          <a:xfrm>
            <a:off x="6943196" y="2302560"/>
            <a:ext cx="0" cy="27324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9" name="Rectangle 198"/>
          <p:cNvSpPr/>
          <p:nvPr/>
        </p:nvSpPr>
        <p:spPr>
          <a:xfrm>
            <a:off x="4877732" y="2106942"/>
            <a:ext cx="489099" cy="3066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0" name="TextBox 199"/>
          <p:cNvSpPr txBox="1"/>
          <p:nvPr/>
        </p:nvSpPr>
        <p:spPr>
          <a:xfrm>
            <a:off x="4835556" y="2080399"/>
            <a:ext cx="57557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Cluster Head Cebu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Thessa</a:t>
            </a:r>
            <a:r>
              <a:rPr lang="en-US" sz="500" b="1" dirty="0" smtClean="0"/>
              <a:t>)</a:t>
            </a:r>
          </a:p>
        </p:txBody>
      </p:sp>
      <p:cxnSp>
        <p:nvCxnSpPr>
          <p:cNvPr id="201" name="Straight Connector 200"/>
          <p:cNvCxnSpPr/>
          <p:nvPr/>
        </p:nvCxnSpPr>
        <p:spPr>
          <a:xfrm>
            <a:off x="5106332" y="1957001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Straight Connector 201"/>
          <p:cNvCxnSpPr/>
          <p:nvPr/>
        </p:nvCxnSpPr>
        <p:spPr>
          <a:xfrm>
            <a:off x="4390849" y="1963489"/>
            <a:ext cx="1477483" cy="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3" name="Rectangle 202"/>
          <p:cNvSpPr/>
          <p:nvPr/>
        </p:nvSpPr>
        <p:spPr>
          <a:xfrm>
            <a:off x="2494620" y="2093398"/>
            <a:ext cx="723900" cy="2156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4" name="TextBox 203"/>
          <p:cNvSpPr txBox="1"/>
          <p:nvPr/>
        </p:nvSpPr>
        <p:spPr>
          <a:xfrm>
            <a:off x="2445532" y="2081639"/>
            <a:ext cx="7832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Store Marketing &amp; Training</a:t>
            </a:r>
            <a:r>
              <a:rPr lang="en-US" sz="500" b="1" dirty="0"/>
              <a:t> </a:t>
            </a:r>
            <a:r>
              <a:rPr lang="en-US" sz="500" b="1" dirty="0" smtClean="0"/>
              <a:t>Officer</a:t>
            </a:r>
          </a:p>
        </p:txBody>
      </p:sp>
      <p:cxnSp>
        <p:nvCxnSpPr>
          <p:cNvPr id="205" name="Straight Connector 204"/>
          <p:cNvCxnSpPr/>
          <p:nvPr/>
        </p:nvCxnSpPr>
        <p:spPr>
          <a:xfrm>
            <a:off x="2856570" y="1943458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Straight Connector 205"/>
          <p:cNvCxnSpPr/>
          <p:nvPr/>
        </p:nvCxnSpPr>
        <p:spPr>
          <a:xfrm>
            <a:off x="1838502" y="1949946"/>
            <a:ext cx="101806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Straight Connector 206"/>
          <p:cNvCxnSpPr/>
          <p:nvPr/>
        </p:nvCxnSpPr>
        <p:spPr>
          <a:xfrm>
            <a:off x="5868332" y="1965494"/>
            <a:ext cx="0" cy="1524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8" name="Rectangle 207"/>
          <p:cNvSpPr/>
          <p:nvPr/>
        </p:nvSpPr>
        <p:spPr>
          <a:xfrm>
            <a:off x="5515155" y="2093398"/>
            <a:ext cx="723900" cy="21564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9" name="TextBox 208"/>
          <p:cNvSpPr txBox="1"/>
          <p:nvPr/>
        </p:nvSpPr>
        <p:spPr>
          <a:xfrm>
            <a:off x="5466067" y="2081639"/>
            <a:ext cx="7832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Store Marketing &amp; Training</a:t>
            </a:r>
            <a:r>
              <a:rPr lang="en-US" sz="500" b="1" dirty="0"/>
              <a:t> </a:t>
            </a:r>
            <a:r>
              <a:rPr lang="en-US" sz="500" b="1" dirty="0" smtClean="0"/>
              <a:t>Officer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0" y="2971800"/>
            <a:ext cx="91440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b="1" dirty="0" smtClean="0"/>
              <a:t>Store Operations</a:t>
            </a:r>
          </a:p>
          <a:p>
            <a:pPr algn="ctr"/>
            <a:r>
              <a:rPr lang="en-US" sz="1000" b="1" dirty="0" smtClean="0"/>
              <a:t>Manager</a:t>
            </a:r>
            <a:endParaRPr lang="en-US" sz="1000" b="1" dirty="0"/>
          </a:p>
        </p:txBody>
      </p:sp>
      <p:sp>
        <p:nvSpPr>
          <p:cNvPr id="211" name="TextBox 210"/>
          <p:cNvSpPr txBox="1"/>
          <p:nvPr/>
        </p:nvSpPr>
        <p:spPr>
          <a:xfrm>
            <a:off x="838200" y="2971800"/>
            <a:ext cx="15716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Administrative Function</a:t>
            </a:r>
          </a:p>
        </p:txBody>
      </p:sp>
      <p:sp>
        <p:nvSpPr>
          <p:cNvPr id="212" name="TextBox 211"/>
          <p:cNvSpPr txBox="1"/>
          <p:nvPr/>
        </p:nvSpPr>
        <p:spPr>
          <a:xfrm>
            <a:off x="4800600" y="2971800"/>
            <a:ext cx="130492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000" b="1" dirty="0" smtClean="0"/>
              <a:t>Operational Function</a:t>
            </a:r>
          </a:p>
        </p:txBody>
      </p:sp>
      <p:sp>
        <p:nvSpPr>
          <p:cNvPr id="213" name="TextBox 212"/>
          <p:cNvSpPr txBox="1"/>
          <p:nvPr/>
        </p:nvSpPr>
        <p:spPr>
          <a:xfrm>
            <a:off x="838200" y="3198168"/>
            <a:ext cx="389572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800" dirty="0" smtClean="0"/>
              <a:t>Prime mover of the Vision, Mission and Corporate Core Values of the Organization.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A Leader with high Integrity and a Quality driver, not only to Store Operations functions &amp; Services, but also to all other departments.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Accountable to the overall result of the Store Operations Department.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Accountable and Responsible on the quality, strict implementation and execution of all Store General Operating Procedures (GOP).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Must show sound and balance disposition in regards to personnel welfare and company’s interests.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Personally maintains and exemplify high moral values &amp; standards acceptable to the norms of the society and community where we operate.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Accountable and responsible on delivering impartial, timely and objective execution of performance evaluation to all Operations personnel, as well as other department’s personnel.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Strictly maintains the final review and decision in regards to all Store Operations activities, plans and implementations.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Accountable, responsible and authorize to execute Store Operations personnel proper and standard hiring, termination and issuance of sanctions in coordination with standard HRD procedures.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Belonging to a Managerial Level, has the Administrative responsibility, accountability and authority to exercise administrative function to all other department’s personnel below the level of Store Operations Manager.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4800600" y="3200400"/>
            <a:ext cx="3886200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800" dirty="0" smtClean="0"/>
              <a:t>Develop Store Operations Targets &amp; Plans on the ff. major deliverable areas:</a:t>
            </a:r>
          </a:p>
          <a:p>
            <a:pPr lvl="1" algn="just"/>
            <a:r>
              <a:rPr lang="en-US" sz="800" dirty="0" smtClean="0"/>
              <a:t>1.a. Administration and Internal Controls. (Facilities, Equipment, Personnel Requirement &amp; Welfare, Safety &amp; Health, Inventory Controls  and Cash Controls).</a:t>
            </a:r>
          </a:p>
          <a:p>
            <a:pPr lvl="1" algn="just"/>
            <a:r>
              <a:rPr lang="en-US" sz="800" dirty="0" smtClean="0"/>
              <a:t>1.b.  Sales &amp; Revenue Targets and Analysis (Vertical &amp; Lateral Comparative Analysis)</a:t>
            </a:r>
          </a:p>
          <a:p>
            <a:pPr lvl="1" algn="just"/>
            <a:r>
              <a:rPr lang="en-US" sz="800" dirty="0" smtClean="0"/>
              <a:t>1.c.  Operating Expense Targets and Analysis (Vertical &amp; Lateral Comparative Analysis).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Have an In depth knowledge on details of all Store Operations major station functions</a:t>
            </a:r>
            <a:r>
              <a:rPr lang="en-US" sz="800" dirty="0"/>
              <a:t> </a:t>
            </a:r>
            <a:r>
              <a:rPr lang="en-US" sz="800" dirty="0" smtClean="0"/>
              <a:t>to be able to provide training, support, sound operational directives.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Assess and make official decisions on all Store Operations incoming and outgoing official transactions and management directives. 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Strictly implement, execute and follow by the lead the standard Store Operations function process flow chart.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Check and review in a regular basis all Store Operations section functions are being done diligently by the Area Operations, Cluster heads, Store Supervisors down to the lowest position of the store.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Accountable and Responsible on the quality, strict implementation and execution of all Store Operations General Operating Procedures (GOP).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Develop and regularly review all Store Operations standard documentations and legal mandatories as to its completeness and applicability.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Develop and regularly review all Store Operations Pre Employment, Development and Post Employment Screening procedures and policies.  Align personnel to their career path for them to develop.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Insure security on a daily basis all Store Operations documents and make all down level officers  be accountable on such tasks.</a:t>
            </a:r>
          </a:p>
          <a:p>
            <a:pPr marL="228600" indent="-228600" algn="just">
              <a:buAutoNum type="arabicPeriod"/>
            </a:pPr>
            <a:r>
              <a:rPr lang="en-US" sz="800" dirty="0" smtClean="0"/>
              <a:t>Strictly implement and follow Store Operations Department functional structure and leveling as well as overall organizational structure.</a:t>
            </a:r>
          </a:p>
        </p:txBody>
      </p:sp>
    </p:spTree>
    <p:extLst>
      <p:ext uri="{BB962C8B-B14F-4D97-AF65-F5344CB8AC3E}">
        <p14:creationId xmlns:p14="http://schemas.microsoft.com/office/powerpoint/2010/main" val="16959388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Rectangle 138"/>
          <p:cNvSpPr/>
          <p:nvPr/>
        </p:nvSpPr>
        <p:spPr>
          <a:xfrm>
            <a:off x="76200" y="1181795"/>
            <a:ext cx="8935594" cy="82283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3" name="Rectangle 142"/>
          <p:cNvSpPr/>
          <p:nvPr/>
        </p:nvSpPr>
        <p:spPr>
          <a:xfrm>
            <a:off x="76200" y="3129946"/>
            <a:ext cx="8935594" cy="17345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183" name="Straight Connector 182"/>
          <p:cNvCxnSpPr/>
          <p:nvPr/>
        </p:nvCxnSpPr>
        <p:spPr>
          <a:xfrm flipH="1" flipV="1">
            <a:off x="3906885" y="4371478"/>
            <a:ext cx="8594" cy="1030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Connector 135"/>
          <p:cNvCxnSpPr/>
          <p:nvPr/>
        </p:nvCxnSpPr>
        <p:spPr>
          <a:xfrm flipH="1" flipV="1">
            <a:off x="2242110" y="4371440"/>
            <a:ext cx="8594" cy="103050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2" name="Straight Connector 181"/>
          <p:cNvCxnSpPr/>
          <p:nvPr/>
        </p:nvCxnSpPr>
        <p:spPr>
          <a:xfrm flipV="1">
            <a:off x="3116703" y="3808979"/>
            <a:ext cx="1857" cy="146481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4" name="Rectangle 143"/>
          <p:cNvSpPr/>
          <p:nvPr/>
        </p:nvSpPr>
        <p:spPr>
          <a:xfrm>
            <a:off x="76200" y="1981200"/>
            <a:ext cx="8935594" cy="1677200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45" name="TextBox 144"/>
          <p:cNvSpPr txBox="1"/>
          <p:nvPr/>
        </p:nvSpPr>
        <p:spPr>
          <a:xfrm>
            <a:off x="219074" y="2057400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Top Management</a:t>
            </a:r>
            <a:endParaRPr lang="en-US" sz="1200" dirty="0"/>
          </a:p>
        </p:txBody>
      </p:sp>
      <p:sp>
        <p:nvSpPr>
          <p:cNvPr id="146" name="TextBox 145"/>
          <p:cNvSpPr txBox="1"/>
          <p:nvPr/>
        </p:nvSpPr>
        <p:spPr>
          <a:xfrm>
            <a:off x="-145868" y="3629385"/>
            <a:ext cx="1130002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dirty="0" smtClean="0"/>
              <a:t>Middle </a:t>
            </a:r>
          </a:p>
          <a:p>
            <a:pPr algn="ctr"/>
            <a:r>
              <a:rPr lang="en-US" sz="800" dirty="0" smtClean="0"/>
              <a:t>Management</a:t>
            </a:r>
            <a:endParaRPr lang="en-US" sz="800" dirty="0"/>
          </a:p>
        </p:txBody>
      </p:sp>
      <p:sp>
        <p:nvSpPr>
          <p:cNvPr id="147" name="TextBox 146"/>
          <p:cNvSpPr txBox="1"/>
          <p:nvPr/>
        </p:nvSpPr>
        <p:spPr>
          <a:xfrm>
            <a:off x="219074" y="1295400"/>
            <a:ext cx="2066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Board / Executive Committee</a:t>
            </a:r>
            <a:endParaRPr lang="en-US" sz="1200" dirty="0"/>
          </a:p>
        </p:txBody>
      </p:sp>
      <p:cxnSp>
        <p:nvCxnSpPr>
          <p:cNvPr id="32" name="Straight Connector 31"/>
          <p:cNvCxnSpPr/>
          <p:nvPr/>
        </p:nvCxnSpPr>
        <p:spPr>
          <a:xfrm flipH="1" flipV="1">
            <a:off x="4574389" y="4379540"/>
            <a:ext cx="8594" cy="7153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>
            <a:endCxn id="194" idx="0"/>
          </p:cNvCxnSpPr>
          <p:nvPr/>
        </p:nvCxnSpPr>
        <p:spPr>
          <a:xfrm>
            <a:off x="5196067" y="3817149"/>
            <a:ext cx="13412" cy="11683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>
            <a:off x="3810473" y="1875711"/>
            <a:ext cx="3377" cy="193555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" name="Straight Connector 5"/>
          <p:cNvCxnSpPr>
            <a:endCxn id="90" idx="2"/>
          </p:cNvCxnSpPr>
          <p:nvPr/>
        </p:nvCxnSpPr>
        <p:spPr>
          <a:xfrm flipH="1">
            <a:off x="8272306" y="4374648"/>
            <a:ext cx="4423" cy="96706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3352800" y="3145248"/>
            <a:ext cx="990600" cy="4099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3338214" y="3119374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Finance &amp; Administration</a:t>
            </a:r>
          </a:p>
          <a:p>
            <a:pPr algn="ctr"/>
            <a:r>
              <a:rPr lang="en-US" sz="800" b="1" dirty="0" smtClean="0"/>
              <a:t>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4747518" y="3938039"/>
            <a:ext cx="723900" cy="3033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3300290" y="2220678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2339265" y="2847201"/>
            <a:ext cx="783264" cy="24622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3333750" y="2221069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General</a:t>
            </a:r>
          </a:p>
          <a:p>
            <a:pPr algn="ctr"/>
            <a:r>
              <a:rPr lang="en-US" sz="1200" b="1" dirty="0" smtClean="0"/>
              <a:t>Manager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360448" y="2822954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Executive</a:t>
            </a:r>
          </a:p>
          <a:p>
            <a:pPr algn="ctr"/>
            <a:r>
              <a:rPr lang="en-US" sz="600" b="1" dirty="0" smtClean="0"/>
              <a:t>Assistant Office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80993" y="3951149"/>
            <a:ext cx="904850" cy="276999"/>
          </a:xfrm>
          <a:prstGeom prst="rect">
            <a:avLst/>
          </a:prstGeom>
          <a:noFill/>
          <a:ln w="3175">
            <a:noFill/>
          </a:ln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General Accounting Section Head</a:t>
            </a:r>
          </a:p>
        </p:txBody>
      </p:sp>
      <p:cxnSp>
        <p:nvCxnSpPr>
          <p:cNvPr id="18" name="Straight Connector 17"/>
          <p:cNvCxnSpPr/>
          <p:nvPr/>
        </p:nvCxnSpPr>
        <p:spPr>
          <a:xfrm>
            <a:off x="1054156" y="3811263"/>
            <a:ext cx="6794444" cy="549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V="1">
            <a:off x="3130066" y="2990119"/>
            <a:ext cx="669198" cy="1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867347" y="86554"/>
            <a:ext cx="7353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 ORGANIZATIONAL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JATHNIER CORPORATION RBS TOP LEVEL MANAGEMENT &amp; FINANCE/ADMINISTRATION DEPARTMENT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66" name="Rectangle 65"/>
          <p:cNvSpPr/>
          <p:nvPr/>
        </p:nvSpPr>
        <p:spPr>
          <a:xfrm>
            <a:off x="387406" y="4481234"/>
            <a:ext cx="529716" cy="24459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ectangle 81"/>
          <p:cNvSpPr/>
          <p:nvPr/>
        </p:nvSpPr>
        <p:spPr>
          <a:xfrm>
            <a:off x="692206" y="3949897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663314" y="3922260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Accounts Payable Section Head</a:t>
            </a:r>
          </a:p>
          <a:p>
            <a:pPr algn="ctr"/>
            <a:r>
              <a:rPr lang="en-US" sz="600" b="1" dirty="0" smtClean="0"/>
              <a:t>(Girlie Lorenzo)</a:t>
            </a:r>
          </a:p>
        </p:txBody>
      </p:sp>
      <p:cxnSp>
        <p:nvCxnSpPr>
          <p:cNvPr id="84" name="Straight Connector 83"/>
          <p:cNvCxnSpPr>
            <a:endCxn id="82" idx="0"/>
          </p:cNvCxnSpPr>
          <p:nvPr/>
        </p:nvCxnSpPr>
        <p:spPr>
          <a:xfrm>
            <a:off x="1054156" y="3811263"/>
            <a:ext cx="0" cy="138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1054156" y="4481233"/>
            <a:ext cx="728965" cy="2445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5" name="Rectangle 94"/>
          <p:cNvSpPr/>
          <p:nvPr/>
        </p:nvSpPr>
        <p:spPr>
          <a:xfrm>
            <a:off x="387406" y="4907617"/>
            <a:ext cx="529716" cy="26426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6" name="Rectangle 95"/>
          <p:cNvSpPr/>
          <p:nvPr/>
        </p:nvSpPr>
        <p:spPr>
          <a:xfrm>
            <a:off x="1103387" y="4909004"/>
            <a:ext cx="629445" cy="25789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98" name="Straight Connector 97"/>
          <p:cNvCxnSpPr/>
          <p:nvPr/>
        </p:nvCxnSpPr>
        <p:spPr>
          <a:xfrm flipH="1">
            <a:off x="228936" y="4374217"/>
            <a:ext cx="1188808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>
            <a:endCxn id="94" idx="0"/>
          </p:cNvCxnSpPr>
          <p:nvPr/>
        </p:nvCxnSpPr>
        <p:spPr>
          <a:xfrm>
            <a:off x="1418383" y="4374216"/>
            <a:ext cx="256" cy="107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>
            <a:stCxn id="66" idx="0"/>
          </p:cNvCxnSpPr>
          <p:nvPr/>
        </p:nvCxnSpPr>
        <p:spPr>
          <a:xfrm flipV="1">
            <a:off x="652264" y="4374218"/>
            <a:ext cx="0" cy="107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3" name="Straight Connector 112"/>
          <p:cNvCxnSpPr/>
          <p:nvPr/>
        </p:nvCxnSpPr>
        <p:spPr>
          <a:xfrm>
            <a:off x="228600" y="4374217"/>
            <a:ext cx="5866" cy="457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6" name="Straight Connector 115"/>
          <p:cNvCxnSpPr/>
          <p:nvPr/>
        </p:nvCxnSpPr>
        <p:spPr>
          <a:xfrm>
            <a:off x="229857" y="4831417"/>
            <a:ext cx="1186967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9" name="Straight Connector 118"/>
          <p:cNvCxnSpPr>
            <a:endCxn id="96" idx="0"/>
          </p:cNvCxnSpPr>
          <p:nvPr/>
        </p:nvCxnSpPr>
        <p:spPr>
          <a:xfrm>
            <a:off x="1418090" y="4832804"/>
            <a:ext cx="2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1" name="Straight Connector 120"/>
          <p:cNvCxnSpPr/>
          <p:nvPr/>
        </p:nvCxnSpPr>
        <p:spPr>
          <a:xfrm>
            <a:off x="652264" y="4831417"/>
            <a:ext cx="0" cy="762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3" name="Straight Connector 122"/>
          <p:cNvCxnSpPr>
            <a:stCxn id="82" idx="2"/>
          </p:cNvCxnSpPr>
          <p:nvPr/>
        </p:nvCxnSpPr>
        <p:spPr>
          <a:xfrm>
            <a:off x="1054156" y="4253267"/>
            <a:ext cx="0" cy="1209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Rectangle 51"/>
          <p:cNvSpPr/>
          <p:nvPr/>
        </p:nvSpPr>
        <p:spPr>
          <a:xfrm>
            <a:off x="3660562" y="4481233"/>
            <a:ext cx="529716" cy="29215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Rectangle 52"/>
          <p:cNvSpPr/>
          <p:nvPr/>
        </p:nvSpPr>
        <p:spPr>
          <a:xfrm>
            <a:off x="4328814" y="4479045"/>
            <a:ext cx="529716" cy="20143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Rectangle 53"/>
          <p:cNvSpPr/>
          <p:nvPr/>
        </p:nvSpPr>
        <p:spPr>
          <a:xfrm>
            <a:off x="4936995" y="4479046"/>
            <a:ext cx="529716" cy="38646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7" name="TextBox 66"/>
          <p:cNvSpPr txBox="1"/>
          <p:nvPr/>
        </p:nvSpPr>
        <p:spPr>
          <a:xfrm>
            <a:off x="3590666" y="4457835"/>
            <a:ext cx="664393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Inventory</a:t>
            </a:r>
          </a:p>
          <a:p>
            <a:pPr algn="ctr"/>
            <a:r>
              <a:rPr lang="en-US" sz="500" b="1" dirty="0" smtClean="0"/>
              <a:t>Supervisor (Excel)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Analyn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Lapada</a:t>
            </a:r>
            <a:r>
              <a:rPr lang="en-US" sz="500" b="1" dirty="0" smtClean="0"/>
              <a:t>)</a:t>
            </a:r>
          </a:p>
        </p:txBody>
      </p:sp>
      <p:sp>
        <p:nvSpPr>
          <p:cNvPr id="56" name="Rectangle 55"/>
          <p:cNvSpPr/>
          <p:nvPr/>
        </p:nvSpPr>
        <p:spPr>
          <a:xfrm>
            <a:off x="3601986" y="4945110"/>
            <a:ext cx="624233" cy="82457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Rectangle 56"/>
          <p:cNvSpPr/>
          <p:nvPr/>
        </p:nvSpPr>
        <p:spPr>
          <a:xfrm>
            <a:off x="7993016" y="5189532"/>
            <a:ext cx="529716" cy="14987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8" name="TextBox 57"/>
          <p:cNvSpPr txBox="1"/>
          <p:nvPr/>
        </p:nvSpPr>
        <p:spPr>
          <a:xfrm>
            <a:off x="4281397" y="4500488"/>
            <a:ext cx="63086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Bookkeeper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4894035" y="4469525"/>
            <a:ext cx="63269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Sales Report</a:t>
            </a:r>
          </a:p>
          <a:p>
            <a:pPr algn="ctr"/>
            <a:r>
              <a:rPr lang="en-US" sz="500" b="1" dirty="0" smtClean="0"/>
              <a:t>&amp; Bank Deposit Supervisor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Gerlyn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Dagaas</a:t>
            </a:r>
            <a:r>
              <a:rPr lang="en-US" sz="500" b="1" dirty="0" smtClean="0"/>
              <a:t>)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3540967" y="4945110"/>
            <a:ext cx="74230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Inventory Analyst (Excel)</a:t>
            </a:r>
          </a:p>
          <a:p>
            <a:pPr algn="ctr"/>
            <a:endParaRPr lang="en-US" sz="500" b="1" dirty="0" smtClean="0"/>
          </a:p>
          <a:p>
            <a:pPr algn="ctr"/>
            <a:r>
              <a:rPr lang="en-US" sz="500" b="1" dirty="0" err="1" smtClean="0"/>
              <a:t>Jonnel</a:t>
            </a:r>
            <a:r>
              <a:rPr lang="en-US" sz="500" b="1" dirty="0" smtClean="0"/>
              <a:t> Molina</a:t>
            </a:r>
          </a:p>
          <a:p>
            <a:pPr algn="ctr"/>
            <a:r>
              <a:rPr lang="en-US" sz="500" b="1" dirty="0" smtClean="0"/>
              <a:t>Melvin </a:t>
            </a:r>
            <a:r>
              <a:rPr lang="en-US" sz="500" b="1" dirty="0" err="1" smtClean="0"/>
              <a:t>Loyd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Patola</a:t>
            </a:r>
            <a:endParaRPr lang="en-US" sz="500" b="1" dirty="0" smtClean="0"/>
          </a:p>
          <a:p>
            <a:pPr algn="ctr"/>
            <a:r>
              <a:rPr lang="en-US" sz="500" b="1" dirty="0" err="1" smtClean="0"/>
              <a:t>Analyn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Buyco</a:t>
            </a:r>
            <a:endParaRPr lang="en-US" sz="500" b="1" dirty="0" smtClean="0"/>
          </a:p>
          <a:p>
            <a:pPr algn="ctr"/>
            <a:r>
              <a:rPr lang="en-US" sz="500" b="1" dirty="0" smtClean="0"/>
              <a:t>Carmela Romero</a:t>
            </a:r>
          </a:p>
          <a:p>
            <a:pPr algn="ctr"/>
            <a:r>
              <a:rPr lang="en-US" sz="500" b="1" dirty="0" smtClean="0"/>
              <a:t>Charlotte </a:t>
            </a:r>
            <a:r>
              <a:rPr lang="en-US" sz="500" b="1" dirty="0" err="1" smtClean="0"/>
              <a:t>Lico</a:t>
            </a:r>
            <a:endParaRPr lang="en-US" sz="500" b="1" dirty="0" smtClean="0"/>
          </a:p>
          <a:p>
            <a:pPr algn="ctr"/>
            <a:r>
              <a:rPr lang="en-US" sz="500" b="1" dirty="0" smtClean="0"/>
              <a:t>Ricky </a:t>
            </a:r>
            <a:r>
              <a:rPr lang="en-US" sz="500" b="1" dirty="0" err="1" smtClean="0"/>
              <a:t>Marsola</a:t>
            </a:r>
            <a:endParaRPr lang="en-US" sz="500" b="1" dirty="0" smtClean="0"/>
          </a:p>
          <a:p>
            <a:pPr algn="ctr"/>
            <a:r>
              <a:rPr lang="en-US" sz="500" b="1" dirty="0" smtClean="0"/>
              <a:t>Vacant 3</a:t>
            </a:r>
          </a:p>
        </p:txBody>
      </p:sp>
      <p:sp>
        <p:nvSpPr>
          <p:cNvPr id="86" name="Rectangle 85"/>
          <p:cNvSpPr/>
          <p:nvPr/>
        </p:nvSpPr>
        <p:spPr>
          <a:xfrm>
            <a:off x="8000968" y="4488061"/>
            <a:ext cx="529716" cy="57999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7954010" y="4510583"/>
            <a:ext cx="6308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err="1" smtClean="0"/>
              <a:t>PreMix</a:t>
            </a:r>
            <a:r>
              <a:rPr lang="en-US" sz="500" b="1" dirty="0" smtClean="0"/>
              <a:t> Supervisor</a:t>
            </a:r>
          </a:p>
          <a:p>
            <a:pPr algn="ctr"/>
            <a:r>
              <a:rPr lang="en-US" sz="500" b="1" dirty="0" smtClean="0"/>
              <a:t>(Venus)</a:t>
            </a:r>
          </a:p>
          <a:p>
            <a:pPr algn="ctr"/>
            <a:endParaRPr lang="en-US" sz="500" b="1" dirty="0" smtClean="0"/>
          </a:p>
          <a:p>
            <a:pPr algn="ctr"/>
            <a:r>
              <a:rPr lang="en-US" sz="500" b="1" dirty="0" err="1" smtClean="0"/>
              <a:t>Palaman</a:t>
            </a:r>
            <a:r>
              <a:rPr lang="en-US" sz="500" b="1" dirty="0" smtClean="0"/>
              <a:t> Supervisor</a:t>
            </a:r>
          </a:p>
          <a:p>
            <a:pPr algn="ctr"/>
            <a:endParaRPr lang="en-US" sz="500" b="1" dirty="0" smtClean="0"/>
          </a:p>
          <a:p>
            <a:pPr algn="ctr"/>
            <a:r>
              <a:rPr lang="en-US" sz="500" b="1" dirty="0" smtClean="0"/>
              <a:t> </a:t>
            </a:r>
          </a:p>
        </p:txBody>
      </p:sp>
      <p:cxnSp>
        <p:nvCxnSpPr>
          <p:cNvPr id="88" name="Straight Connector 87"/>
          <p:cNvCxnSpPr/>
          <p:nvPr/>
        </p:nvCxnSpPr>
        <p:spPr>
          <a:xfrm flipH="1" flipV="1">
            <a:off x="4564947" y="4376119"/>
            <a:ext cx="1887378" cy="29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TextBox 89"/>
          <p:cNvSpPr txBox="1"/>
          <p:nvPr/>
        </p:nvSpPr>
        <p:spPr>
          <a:xfrm>
            <a:off x="7956873" y="5172432"/>
            <a:ext cx="63086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Helpers</a:t>
            </a:r>
          </a:p>
        </p:txBody>
      </p:sp>
      <p:sp>
        <p:nvSpPr>
          <p:cNvPr id="125" name="TextBox 124"/>
          <p:cNvSpPr txBox="1"/>
          <p:nvPr/>
        </p:nvSpPr>
        <p:spPr>
          <a:xfrm>
            <a:off x="338003" y="4441948"/>
            <a:ext cx="6308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Accounts</a:t>
            </a:r>
          </a:p>
          <a:p>
            <a:pPr algn="ctr"/>
            <a:r>
              <a:rPr lang="en-US" sz="500" b="1" dirty="0" smtClean="0"/>
              <a:t>Payable IV</a:t>
            </a:r>
          </a:p>
          <a:p>
            <a:pPr algn="ctr"/>
            <a:r>
              <a:rPr lang="en-US" sz="500" b="1" dirty="0" smtClean="0"/>
              <a:t>(Mitch Laguna)</a:t>
            </a:r>
          </a:p>
        </p:txBody>
      </p:sp>
      <p:sp>
        <p:nvSpPr>
          <p:cNvPr id="126" name="TextBox 125"/>
          <p:cNvSpPr txBox="1"/>
          <p:nvPr/>
        </p:nvSpPr>
        <p:spPr>
          <a:xfrm>
            <a:off x="1046906" y="4495800"/>
            <a:ext cx="766932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Accounts Payable III</a:t>
            </a:r>
          </a:p>
          <a:p>
            <a:pPr algn="ctr"/>
            <a:r>
              <a:rPr lang="en-US" sz="500" b="1" dirty="0" smtClean="0"/>
              <a:t>(Jessa </a:t>
            </a:r>
            <a:r>
              <a:rPr lang="en-US" sz="500" b="1" dirty="0" err="1" smtClean="0"/>
              <a:t>Espina</a:t>
            </a:r>
            <a:r>
              <a:rPr lang="en-US" sz="500" b="1" dirty="0" smtClean="0"/>
              <a:t>)</a:t>
            </a:r>
          </a:p>
          <a:p>
            <a:pPr algn="ctr"/>
            <a:endParaRPr lang="en-US" sz="500" b="1" dirty="0" smtClean="0"/>
          </a:p>
        </p:txBody>
      </p:sp>
      <p:sp>
        <p:nvSpPr>
          <p:cNvPr id="127" name="TextBox 126"/>
          <p:cNvSpPr txBox="1"/>
          <p:nvPr/>
        </p:nvSpPr>
        <p:spPr>
          <a:xfrm>
            <a:off x="340036" y="4875338"/>
            <a:ext cx="64125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Accounts Payable</a:t>
            </a:r>
            <a:r>
              <a:rPr lang="en-US" sz="500" b="1" dirty="0"/>
              <a:t> </a:t>
            </a:r>
            <a:r>
              <a:rPr lang="en-US" sz="500" b="1" dirty="0" smtClean="0"/>
              <a:t>II</a:t>
            </a:r>
          </a:p>
          <a:p>
            <a:pPr algn="ctr"/>
            <a:r>
              <a:rPr lang="en-US" sz="500" b="1" dirty="0" smtClean="0"/>
              <a:t>(Leah </a:t>
            </a:r>
            <a:r>
              <a:rPr lang="en-US" sz="500" b="1" dirty="0" err="1" smtClean="0"/>
              <a:t>Catubay</a:t>
            </a:r>
            <a:r>
              <a:rPr lang="en-US" sz="500" b="1" dirty="0" smtClean="0"/>
              <a:t>)</a:t>
            </a:r>
          </a:p>
        </p:txBody>
      </p:sp>
      <p:sp>
        <p:nvSpPr>
          <p:cNvPr id="128" name="TextBox 127"/>
          <p:cNvSpPr txBox="1"/>
          <p:nvPr/>
        </p:nvSpPr>
        <p:spPr>
          <a:xfrm>
            <a:off x="1073154" y="4899182"/>
            <a:ext cx="717119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Accounts Payable I</a:t>
            </a:r>
          </a:p>
          <a:p>
            <a:pPr algn="ctr"/>
            <a:r>
              <a:rPr lang="en-US" sz="500" b="1" dirty="0" smtClean="0"/>
              <a:t>(Vacant)</a:t>
            </a:r>
          </a:p>
        </p:txBody>
      </p:sp>
      <p:sp>
        <p:nvSpPr>
          <p:cNvPr id="93" name="Rectangle 92"/>
          <p:cNvSpPr/>
          <p:nvPr/>
        </p:nvSpPr>
        <p:spPr>
          <a:xfrm>
            <a:off x="3300438" y="1377412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7" name="TextBox 96"/>
          <p:cNvSpPr txBox="1"/>
          <p:nvPr/>
        </p:nvSpPr>
        <p:spPr>
          <a:xfrm>
            <a:off x="3272915" y="1377330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Vice</a:t>
            </a:r>
          </a:p>
          <a:p>
            <a:pPr algn="ctr"/>
            <a:r>
              <a:rPr lang="en-US" sz="1200" b="1" dirty="0" smtClean="0"/>
              <a:t>President</a:t>
            </a:r>
          </a:p>
        </p:txBody>
      </p:sp>
      <p:sp>
        <p:nvSpPr>
          <p:cNvPr id="99" name="Rectangle 98"/>
          <p:cNvSpPr/>
          <p:nvPr/>
        </p:nvSpPr>
        <p:spPr>
          <a:xfrm>
            <a:off x="6667500" y="1371600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0" name="TextBox 99"/>
          <p:cNvSpPr txBox="1"/>
          <p:nvPr/>
        </p:nvSpPr>
        <p:spPr>
          <a:xfrm>
            <a:off x="6667500" y="1475601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President</a:t>
            </a:r>
          </a:p>
        </p:txBody>
      </p:sp>
      <p:cxnSp>
        <p:nvCxnSpPr>
          <p:cNvPr id="102" name="Straight Connector 101"/>
          <p:cNvCxnSpPr>
            <a:stCxn id="93" idx="3"/>
            <a:endCxn id="100" idx="1"/>
          </p:cNvCxnSpPr>
          <p:nvPr/>
        </p:nvCxnSpPr>
        <p:spPr>
          <a:xfrm flipV="1">
            <a:off x="4329138" y="1614101"/>
            <a:ext cx="2338362" cy="153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Picture 2" descr="C:\Users\User\Desktop\ROSE LOGO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062528" y="6062905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9" name="Rectangle 128"/>
          <p:cNvSpPr/>
          <p:nvPr/>
        </p:nvSpPr>
        <p:spPr>
          <a:xfrm>
            <a:off x="783670" y="5347251"/>
            <a:ext cx="380641" cy="21458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0" name="TextBox 129"/>
          <p:cNvSpPr txBox="1"/>
          <p:nvPr/>
        </p:nvSpPr>
        <p:spPr>
          <a:xfrm>
            <a:off x="680680" y="5376890"/>
            <a:ext cx="63269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Billing</a:t>
            </a:r>
          </a:p>
        </p:txBody>
      </p:sp>
      <p:sp>
        <p:nvSpPr>
          <p:cNvPr id="137" name="Rectangle 136"/>
          <p:cNvSpPr/>
          <p:nvPr/>
        </p:nvSpPr>
        <p:spPr>
          <a:xfrm>
            <a:off x="2819400" y="3938039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/>
          <p:cNvSpPr txBox="1"/>
          <p:nvPr/>
        </p:nvSpPr>
        <p:spPr>
          <a:xfrm>
            <a:off x="2721514" y="3910823"/>
            <a:ext cx="9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Cost &amp; Inventory </a:t>
            </a:r>
            <a:r>
              <a:rPr lang="en-US" sz="600" b="1" dirty="0" err="1" smtClean="0"/>
              <a:t>Mgt</a:t>
            </a:r>
            <a:r>
              <a:rPr lang="en-US" sz="600" b="1" dirty="0" smtClean="0"/>
              <a:t> Section Head</a:t>
            </a:r>
          </a:p>
          <a:p>
            <a:pPr algn="ctr"/>
            <a:r>
              <a:rPr lang="en-US" sz="600" b="1" dirty="0" smtClean="0"/>
              <a:t>(Riva Jean </a:t>
            </a:r>
            <a:r>
              <a:rPr lang="en-US" sz="600" b="1" dirty="0" err="1" smtClean="0"/>
              <a:t>Taganait</a:t>
            </a:r>
            <a:endParaRPr lang="en-US" sz="600" b="1" dirty="0" smtClean="0"/>
          </a:p>
        </p:txBody>
      </p:sp>
      <p:sp>
        <p:nvSpPr>
          <p:cNvPr id="140" name="Rectangle 139"/>
          <p:cNvSpPr/>
          <p:nvPr/>
        </p:nvSpPr>
        <p:spPr>
          <a:xfrm>
            <a:off x="304800" y="5353843"/>
            <a:ext cx="428295" cy="262281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1" name="TextBox 140"/>
          <p:cNvSpPr txBox="1"/>
          <p:nvPr/>
        </p:nvSpPr>
        <p:spPr>
          <a:xfrm>
            <a:off x="168819" y="5391107"/>
            <a:ext cx="709117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Tax Officer</a:t>
            </a:r>
          </a:p>
        </p:txBody>
      </p:sp>
      <p:cxnSp>
        <p:nvCxnSpPr>
          <p:cNvPr id="142" name="Straight Connector 141"/>
          <p:cNvCxnSpPr/>
          <p:nvPr/>
        </p:nvCxnSpPr>
        <p:spPr>
          <a:xfrm flipH="1" flipV="1">
            <a:off x="531150" y="5246815"/>
            <a:ext cx="1" cy="107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Straight Connector 147"/>
          <p:cNvCxnSpPr/>
          <p:nvPr/>
        </p:nvCxnSpPr>
        <p:spPr>
          <a:xfrm>
            <a:off x="236465" y="5249190"/>
            <a:ext cx="1192853" cy="5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Straight Connector 148"/>
          <p:cNvCxnSpPr/>
          <p:nvPr/>
        </p:nvCxnSpPr>
        <p:spPr>
          <a:xfrm>
            <a:off x="230892" y="4817710"/>
            <a:ext cx="2175" cy="10924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Straight Connector 149"/>
          <p:cNvCxnSpPr/>
          <p:nvPr/>
        </p:nvCxnSpPr>
        <p:spPr>
          <a:xfrm flipH="1" flipV="1">
            <a:off x="1419680" y="5250985"/>
            <a:ext cx="1" cy="10701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Connector 152"/>
          <p:cNvCxnSpPr>
            <a:stCxn id="152" idx="2"/>
          </p:cNvCxnSpPr>
          <p:nvPr/>
        </p:nvCxnSpPr>
        <p:spPr>
          <a:xfrm flipH="1" flipV="1">
            <a:off x="5835978" y="4379113"/>
            <a:ext cx="764" cy="3372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1" name="Rectangle 150"/>
          <p:cNvSpPr/>
          <p:nvPr/>
        </p:nvSpPr>
        <p:spPr>
          <a:xfrm>
            <a:off x="5549467" y="4498244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2" name="TextBox 151"/>
          <p:cNvSpPr txBox="1"/>
          <p:nvPr/>
        </p:nvSpPr>
        <p:spPr>
          <a:xfrm>
            <a:off x="5520394" y="4470129"/>
            <a:ext cx="63269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Treasury</a:t>
            </a:r>
          </a:p>
          <a:p>
            <a:pPr algn="ctr"/>
            <a:r>
              <a:rPr lang="en-US" sz="500" b="1" dirty="0" smtClean="0"/>
              <a:t>(Vanessa)</a:t>
            </a:r>
          </a:p>
        </p:txBody>
      </p:sp>
      <p:sp>
        <p:nvSpPr>
          <p:cNvPr id="154" name="Rectangle 153"/>
          <p:cNvSpPr/>
          <p:nvPr/>
        </p:nvSpPr>
        <p:spPr>
          <a:xfrm>
            <a:off x="4319562" y="4941550"/>
            <a:ext cx="529716" cy="306715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5" name="TextBox 154"/>
          <p:cNvSpPr txBox="1"/>
          <p:nvPr/>
        </p:nvSpPr>
        <p:spPr>
          <a:xfrm>
            <a:off x="4267200" y="4947413"/>
            <a:ext cx="6308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Bank Reconciliation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Florivel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Lapitan</a:t>
            </a:r>
            <a:r>
              <a:rPr lang="en-US" sz="500" b="1" dirty="0" smtClean="0"/>
              <a:t>)</a:t>
            </a:r>
          </a:p>
        </p:txBody>
      </p:sp>
      <p:sp>
        <p:nvSpPr>
          <p:cNvPr id="156" name="Rectangle 155"/>
          <p:cNvSpPr/>
          <p:nvPr/>
        </p:nvSpPr>
        <p:spPr>
          <a:xfrm>
            <a:off x="1222462" y="5350204"/>
            <a:ext cx="485634" cy="47418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7" name="TextBox 156"/>
          <p:cNvSpPr txBox="1"/>
          <p:nvPr/>
        </p:nvSpPr>
        <p:spPr>
          <a:xfrm>
            <a:off x="1140494" y="5340720"/>
            <a:ext cx="630865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Petty Cash Liquidation Control 2</a:t>
            </a:r>
          </a:p>
          <a:p>
            <a:pPr algn="ctr"/>
            <a:r>
              <a:rPr lang="en-US" sz="500" b="1" dirty="0" smtClean="0">
                <a:solidFill>
                  <a:schemeClr val="tx2"/>
                </a:solidFill>
              </a:rPr>
              <a:t>(Vacant 1)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Manilyn</a:t>
            </a:r>
            <a:r>
              <a:rPr lang="en-US" sz="500" b="1" dirty="0" smtClean="0"/>
              <a:t> Diaz) </a:t>
            </a:r>
          </a:p>
        </p:txBody>
      </p:sp>
      <p:sp>
        <p:nvSpPr>
          <p:cNvPr id="158" name="Rectangle 157"/>
          <p:cNvSpPr/>
          <p:nvPr/>
        </p:nvSpPr>
        <p:spPr>
          <a:xfrm>
            <a:off x="6188109" y="4488673"/>
            <a:ext cx="529716" cy="22828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159" name="Straight Connector 158"/>
          <p:cNvCxnSpPr>
            <a:stCxn id="158" idx="0"/>
          </p:cNvCxnSpPr>
          <p:nvPr/>
        </p:nvCxnSpPr>
        <p:spPr>
          <a:xfrm flipV="1">
            <a:off x="6452967" y="4381657"/>
            <a:ext cx="0" cy="1070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0" name="TextBox 159"/>
          <p:cNvSpPr txBox="1"/>
          <p:nvPr/>
        </p:nvSpPr>
        <p:spPr>
          <a:xfrm>
            <a:off x="6122769" y="4462786"/>
            <a:ext cx="687246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Cashier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Mivelyn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Semiana</a:t>
            </a:r>
            <a:r>
              <a:rPr lang="en-US" sz="500" b="1" dirty="0" smtClean="0"/>
              <a:t>)</a:t>
            </a:r>
          </a:p>
        </p:txBody>
      </p:sp>
      <p:cxnSp>
        <p:nvCxnSpPr>
          <p:cNvPr id="163" name="Straight Connector 162"/>
          <p:cNvCxnSpPr/>
          <p:nvPr/>
        </p:nvCxnSpPr>
        <p:spPr>
          <a:xfrm flipH="1">
            <a:off x="7097233" y="4379557"/>
            <a:ext cx="1735184" cy="17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4" name="Straight Connector 163"/>
          <p:cNvCxnSpPr>
            <a:stCxn id="161" idx="2"/>
          </p:cNvCxnSpPr>
          <p:nvPr/>
        </p:nvCxnSpPr>
        <p:spPr>
          <a:xfrm flipH="1">
            <a:off x="7859039" y="4245214"/>
            <a:ext cx="1524" cy="128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Rectangle 160"/>
          <p:cNvSpPr/>
          <p:nvPr/>
        </p:nvSpPr>
        <p:spPr>
          <a:xfrm>
            <a:off x="7498613" y="3941844"/>
            <a:ext cx="723900" cy="303370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5" name="Rectangle 164"/>
          <p:cNvSpPr/>
          <p:nvPr/>
        </p:nvSpPr>
        <p:spPr>
          <a:xfrm>
            <a:off x="7416672" y="4945262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2" name="TextBox 161"/>
          <p:cNvSpPr txBox="1"/>
          <p:nvPr/>
        </p:nvSpPr>
        <p:spPr>
          <a:xfrm>
            <a:off x="7406614" y="3957126"/>
            <a:ext cx="904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Supply Chain </a:t>
            </a:r>
          </a:p>
          <a:p>
            <a:pPr algn="ctr"/>
            <a:r>
              <a:rPr lang="en-US" sz="600" b="1" dirty="0" smtClean="0"/>
              <a:t>Head</a:t>
            </a:r>
          </a:p>
        </p:txBody>
      </p:sp>
      <p:sp>
        <p:nvSpPr>
          <p:cNvPr id="166" name="Rectangle 165"/>
          <p:cNvSpPr/>
          <p:nvPr/>
        </p:nvSpPr>
        <p:spPr>
          <a:xfrm>
            <a:off x="7416671" y="4488062"/>
            <a:ext cx="529716" cy="29133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7" name="TextBox 166"/>
          <p:cNvSpPr txBox="1"/>
          <p:nvPr/>
        </p:nvSpPr>
        <p:spPr>
          <a:xfrm>
            <a:off x="7362179" y="4464452"/>
            <a:ext cx="6308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Logistic Supervisor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Caloyl</a:t>
            </a:r>
            <a:r>
              <a:rPr lang="en-US" sz="500" b="1" dirty="0" smtClean="0"/>
              <a:t>)</a:t>
            </a:r>
          </a:p>
        </p:txBody>
      </p:sp>
      <p:sp>
        <p:nvSpPr>
          <p:cNvPr id="168" name="Rectangle 167"/>
          <p:cNvSpPr/>
          <p:nvPr/>
        </p:nvSpPr>
        <p:spPr>
          <a:xfrm>
            <a:off x="7416671" y="5181168"/>
            <a:ext cx="529716" cy="49578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9" name="TextBox 168"/>
          <p:cNvSpPr txBox="1"/>
          <p:nvPr/>
        </p:nvSpPr>
        <p:spPr>
          <a:xfrm>
            <a:off x="7343196" y="4919586"/>
            <a:ext cx="65780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Fleet Checker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Jestoni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Villabito</a:t>
            </a:r>
            <a:r>
              <a:rPr lang="en-US" sz="500" b="1" dirty="0" smtClean="0"/>
              <a:t>)</a:t>
            </a:r>
          </a:p>
        </p:txBody>
      </p:sp>
      <p:sp>
        <p:nvSpPr>
          <p:cNvPr id="170" name="Rectangle 169"/>
          <p:cNvSpPr/>
          <p:nvPr/>
        </p:nvSpPr>
        <p:spPr>
          <a:xfrm>
            <a:off x="7416671" y="5710076"/>
            <a:ext cx="529716" cy="58211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1" name="TextBox 170"/>
          <p:cNvSpPr txBox="1"/>
          <p:nvPr/>
        </p:nvSpPr>
        <p:spPr>
          <a:xfrm>
            <a:off x="7362179" y="5149944"/>
            <a:ext cx="630865" cy="5386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Driver</a:t>
            </a:r>
          </a:p>
          <a:p>
            <a:pPr algn="ctr"/>
            <a:r>
              <a:rPr lang="en-US" sz="400" b="1" dirty="0" err="1" smtClean="0"/>
              <a:t>Jovalni</a:t>
            </a:r>
            <a:r>
              <a:rPr lang="en-US" sz="400" b="1" dirty="0" smtClean="0"/>
              <a:t> </a:t>
            </a:r>
            <a:r>
              <a:rPr lang="en-US" sz="400" b="1" dirty="0" err="1" smtClean="0"/>
              <a:t>Mapula</a:t>
            </a:r>
            <a:endParaRPr lang="en-US" sz="400" b="1" dirty="0" smtClean="0"/>
          </a:p>
          <a:p>
            <a:pPr algn="ctr"/>
            <a:r>
              <a:rPr lang="en-US" sz="400" b="1" dirty="0" smtClean="0"/>
              <a:t>Julius </a:t>
            </a:r>
            <a:r>
              <a:rPr lang="en-US" sz="400" b="1" dirty="0" err="1" smtClean="0"/>
              <a:t>Sulotan</a:t>
            </a:r>
            <a:endParaRPr lang="en-US" sz="400" b="1" dirty="0" smtClean="0"/>
          </a:p>
          <a:p>
            <a:pPr algn="ctr"/>
            <a:r>
              <a:rPr lang="en-US" sz="400" b="1" dirty="0" err="1" smtClean="0"/>
              <a:t>Jovhel</a:t>
            </a:r>
            <a:r>
              <a:rPr lang="en-US" sz="400" b="1" dirty="0" smtClean="0"/>
              <a:t> </a:t>
            </a:r>
            <a:r>
              <a:rPr lang="en-US" sz="400" b="1" dirty="0" err="1" smtClean="0"/>
              <a:t>Monoy</a:t>
            </a:r>
            <a:endParaRPr lang="en-US" sz="400" b="1" dirty="0" smtClean="0"/>
          </a:p>
          <a:p>
            <a:pPr algn="ctr"/>
            <a:r>
              <a:rPr lang="en-US" sz="400" b="1" dirty="0" smtClean="0"/>
              <a:t>Niko </a:t>
            </a:r>
            <a:r>
              <a:rPr lang="en-US" sz="400" b="1" dirty="0" err="1" smtClean="0"/>
              <a:t>Biloy</a:t>
            </a:r>
            <a:endParaRPr lang="en-US" sz="400" b="1" dirty="0" smtClean="0"/>
          </a:p>
          <a:p>
            <a:pPr algn="ctr"/>
            <a:r>
              <a:rPr lang="en-US" sz="400" b="1" dirty="0" err="1" smtClean="0"/>
              <a:t>Novilito</a:t>
            </a:r>
            <a:r>
              <a:rPr lang="en-US" sz="400" b="1" dirty="0" smtClean="0"/>
              <a:t> </a:t>
            </a:r>
            <a:r>
              <a:rPr lang="en-US" sz="400" b="1" dirty="0" err="1" smtClean="0"/>
              <a:t>Rulida</a:t>
            </a:r>
            <a:endParaRPr lang="en-US" sz="400" b="1" dirty="0" smtClean="0"/>
          </a:p>
          <a:p>
            <a:pPr algn="ctr"/>
            <a:r>
              <a:rPr lang="en-US" sz="400" b="1" dirty="0" smtClean="0"/>
              <a:t>Rowel </a:t>
            </a:r>
            <a:r>
              <a:rPr lang="en-US" sz="400" b="1" dirty="0" err="1" smtClean="0"/>
              <a:t>Cabamongan</a:t>
            </a:r>
            <a:endParaRPr lang="en-US" sz="400" b="1" dirty="0" smtClean="0"/>
          </a:p>
        </p:txBody>
      </p:sp>
      <p:sp>
        <p:nvSpPr>
          <p:cNvPr id="172" name="TextBox 171"/>
          <p:cNvSpPr txBox="1"/>
          <p:nvPr/>
        </p:nvSpPr>
        <p:spPr>
          <a:xfrm>
            <a:off x="7362151" y="5671650"/>
            <a:ext cx="630865" cy="6617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Helper</a:t>
            </a:r>
          </a:p>
          <a:p>
            <a:pPr algn="ctr"/>
            <a:r>
              <a:rPr lang="en-US" sz="400" b="1" dirty="0" err="1" smtClean="0"/>
              <a:t>Ronil</a:t>
            </a:r>
            <a:r>
              <a:rPr lang="en-US" sz="400" b="1" dirty="0" smtClean="0"/>
              <a:t> </a:t>
            </a:r>
            <a:r>
              <a:rPr lang="en-US" sz="400" b="1" dirty="0" err="1" smtClean="0"/>
              <a:t>Tanding</a:t>
            </a:r>
            <a:endParaRPr lang="en-US" sz="400" b="1" dirty="0" smtClean="0"/>
          </a:p>
          <a:p>
            <a:pPr algn="ctr"/>
            <a:r>
              <a:rPr lang="en-US" sz="400" b="1" dirty="0" err="1" smtClean="0"/>
              <a:t>Romel</a:t>
            </a:r>
            <a:r>
              <a:rPr lang="en-US" sz="400" b="1" dirty="0" smtClean="0"/>
              <a:t> </a:t>
            </a:r>
            <a:r>
              <a:rPr lang="en-US" sz="400" b="1" dirty="0" err="1" smtClean="0"/>
              <a:t>Mantog</a:t>
            </a:r>
            <a:endParaRPr lang="en-US" sz="400" b="1" dirty="0" smtClean="0"/>
          </a:p>
          <a:p>
            <a:pPr algn="ctr"/>
            <a:r>
              <a:rPr lang="en-US" sz="400" b="1" dirty="0" smtClean="0"/>
              <a:t>Lester </a:t>
            </a:r>
            <a:r>
              <a:rPr lang="en-US" sz="400" b="1" dirty="0" err="1" smtClean="0"/>
              <a:t>Lasaca</a:t>
            </a:r>
            <a:endParaRPr lang="en-US" sz="400" b="1" dirty="0" smtClean="0"/>
          </a:p>
          <a:p>
            <a:pPr algn="ctr"/>
            <a:r>
              <a:rPr lang="en-US" sz="400" b="1" dirty="0" err="1" smtClean="0"/>
              <a:t>Jelvin</a:t>
            </a:r>
            <a:r>
              <a:rPr lang="en-US" sz="400" b="1" dirty="0" smtClean="0"/>
              <a:t> </a:t>
            </a:r>
            <a:r>
              <a:rPr lang="en-US" sz="400" b="1" dirty="0" err="1" smtClean="0"/>
              <a:t>Malabuti</a:t>
            </a:r>
            <a:endParaRPr lang="en-US" sz="400" b="1" dirty="0" smtClean="0"/>
          </a:p>
          <a:p>
            <a:pPr algn="ctr"/>
            <a:r>
              <a:rPr lang="en-US" sz="400" b="1" dirty="0" err="1" smtClean="0"/>
              <a:t>Reyjahn</a:t>
            </a:r>
            <a:r>
              <a:rPr lang="en-US" sz="400" b="1" dirty="0" smtClean="0"/>
              <a:t> </a:t>
            </a:r>
            <a:r>
              <a:rPr lang="en-US" sz="400" b="1" dirty="0" err="1" smtClean="0"/>
              <a:t>Recana</a:t>
            </a:r>
            <a:endParaRPr lang="en-US" sz="400" b="1" dirty="0" smtClean="0"/>
          </a:p>
          <a:p>
            <a:pPr algn="ctr"/>
            <a:r>
              <a:rPr lang="en-US" sz="400" b="1" dirty="0" smtClean="0"/>
              <a:t>Mark Ryan </a:t>
            </a:r>
            <a:r>
              <a:rPr lang="en-US" sz="400" b="1" dirty="0" err="1" smtClean="0"/>
              <a:t>Sakay</a:t>
            </a:r>
            <a:endParaRPr lang="en-US" sz="400" b="1" dirty="0" smtClean="0"/>
          </a:p>
          <a:p>
            <a:pPr algn="ctr"/>
            <a:r>
              <a:rPr lang="en-US" sz="400" b="1" dirty="0" err="1" smtClean="0"/>
              <a:t>Jimboy</a:t>
            </a:r>
            <a:r>
              <a:rPr lang="en-US" sz="400" b="1" dirty="0" smtClean="0"/>
              <a:t> </a:t>
            </a:r>
            <a:r>
              <a:rPr lang="en-US" sz="400" b="1" dirty="0" err="1" smtClean="0"/>
              <a:t>Cloribel</a:t>
            </a:r>
            <a:endParaRPr lang="en-US" sz="400" b="1" dirty="0" smtClean="0"/>
          </a:p>
          <a:p>
            <a:pPr algn="ctr"/>
            <a:r>
              <a:rPr lang="en-US" sz="400" b="1" dirty="0" smtClean="0"/>
              <a:t>Earnest </a:t>
            </a:r>
            <a:r>
              <a:rPr lang="en-US" sz="400" b="1" dirty="0" err="1" smtClean="0"/>
              <a:t>Sevillano</a:t>
            </a:r>
            <a:endParaRPr lang="en-US" sz="400" b="1" dirty="0" smtClean="0"/>
          </a:p>
        </p:txBody>
      </p:sp>
      <p:cxnSp>
        <p:nvCxnSpPr>
          <p:cNvPr id="173" name="Straight Connector 172"/>
          <p:cNvCxnSpPr>
            <a:endCxn id="178" idx="2"/>
          </p:cNvCxnSpPr>
          <p:nvPr/>
        </p:nvCxnSpPr>
        <p:spPr>
          <a:xfrm flipH="1">
            <a:off x="7104304" y="4379113"/>
            <a:ext cx="1136" cy="156006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4" name="Rectangle 173"/>
          <p:cNvSpPr/>
          <p:nvPr/>
        </p:nvSpPr>
        <p:spPr>
          <a:xfrm>
            <a:off x="6837929" y="5185881"/>
            <a:ext cx="529716" cy="749006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5" name="Rectangle 174"/>
          <p:cNvSpPr/>
          <p:nvPr/>
        </p:nvSpPr>
        <p:spPr>
          <a:xfrm>
            <a:off x="6832375" y="4485751"/>
            <a:ext cx="529716" cy="29364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6" name="TextBox 175"/>
          <p:cNvSpPr txBox="1"/>
          <p:nvPr/>
        </p:nvSpPr>
        <p:spPr>
          <a:xfrm>
            <a:off x="6774864" y="4470992"/>
            <a:ext cx="67579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Warehouse Supervisor</a:t>
            </a:r>
          </a:p>
          <a:p>
            <a:pPr algn="ctr"/>
            <a:r>
              <a:rPr lang="en-US" sz="500" b="1" dirty="0" smtClean="0"/>
              <a:t>(Kristine)</a:t>
            </a:r>
          </a:p>
        </p:txBody>
      </p:sp>
      <p:sp>
        <p:nvSpPr>
          <p:cNvPr id="178" name="TextBox 177"/>
          <p:cNvSpPr txBox="1"/>
          <p:nvPr/>
        </p:nvSpPr>
        <p:spPr>
          <a:xfrm>
            <a:off x="6788871" y="5231296"/>
            <a:ext cx="630865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Warehouseman/Checker</a:t>
            </a:r>
          </a:p>
          <a:p>
            <a:pPr algn="ctr"/>
            <a:r>
              <a:rPr lang="en-US" sz="400" b="1" dirty="0" smtClean="0"/>
              <a:t>Norberto </a:t>
            </a:r>
            <a:r>
              <a:rPr lang="en-US" sz="400" b="1" dirty="0" err="1" smtClean="0"/>
              <a:t>Berdin</a:t>
            </a:r>
            <a:endParaRPr lang="en-US" sz="400" b="1" dirty="0" smtClean="0"/>
          </a:p>
          <a:p>
            <a:pPr algn="ctr"/>
            <a:r>
              <a:rPr lang="en-US" sz="400" b="1" dirty="0" err="1" smtClean="0"/>
              <a:t>Robencio</a:t>
            </a:r>
            <a:r>
              <a:rPr lang="en-US" sz="400" b="1" dirty="0" smtClean="0"/>
              <a:t> Rodriquez</a:t>
            </a:r>
          </a:p>
          <a:p>
            <a:pPr algn="ctr"/>
            <a:r>
              <a:rPr lang="en-US" sz="400" b="1" dirty="0" err="1" smtClean="0"/>
              <a:t>Retchie</a:t>
            </a:r>
            <a:r>
              <a:rPr lang="en-US" sz="400" b="1" dirty="0" smtClean="0"/>
              <a:t> </a:t>
            </a:r>
            <a:r>
              <a:rPr lang="en-US" sz="400" b="1" dirty="0" err="1" smtClean="0"/>
              <a:t>Tahil</a:t>
            </a:r>
            <a:endParaRPr lang="en-US" sz="400" b="1" dirty="0" smtClean="0"/>
          </a:p>
          <a:p>
            <a:pPr algn="ctr"/>
            <a:endParaRPr lang="en-US" sz="400" b="1" dirty="0"/>
          </a:p>
          <a:p>
            <a:pPr algn="ctr"/>
            <a:r>
              <a:rPr lang="en-US" sz="500" b="1" dirty="0" smtClean="0"/>
              <a:t>Supplies Officer</a:t>
            </a:r>
          </a:p>
          <a:p>
            <a:pPr algn="ctr"/>
            <a:r>
              <a:rPr lang="en-US" sz="400" b="1" dirty="0" err="1" smtClean="0"/>
              <a:t>Lilibeth</a:t>
            </a:r>
            <a:r>
              <a:rPr lang="en-US" sz="400" b="1" dirty="0" smtClean="0"/>
              <a:t> </a:t>
            </a:r>
            <a:r>
              <a:rPr lang="en-US" sz="400" b="1" dirty="0" err="1" smtClean="0"/>
              <a:t>Baluyot</a:t>
            </a:r>
            <a:endParaRPr lang="en-US" sz="400" b="1" dirty="0" smtClean="0"/>
          </a:p>
          <a:p>
            <a:pPr algn="ctr"/>
            <a:endParaRPr lang="en-US" sz="500" b="1" dirty="0" smtClean="0"/>
          </a:p>
        </p:txBody>
      </p:sp>
      <p:sp>
        <p:nvSpPr>
          <p:cNvPr id="111" name="Rectangle 110"/>
          <p:cNvSpPr/>
          <p:nvPr/>
        </p:nvSpPr>
        <p:spPr>
          <a:xfrm>
            <a:off x="2812901" y="4481234"/>
            <a:ext cx="579442" cy="29214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4" name="TextBox 113"/>
          <p:cNvSpPr txBox="1"/>
          <p:nvPr/>
        </p:nvSpPr>
        <p:spPr>
          <a:xfrm>
            <a:off x="2733826" y="4462786"/>
            <a:ext cx="750717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Production Analyst</a:t>
            </a:r>
          </a:p>
          <a:p>
            <a:pPr algn="ctr"/>
            <a:r>
              <a:rPr lang="en-US" sz="500" b="1" dirty="0" smtClean="0"/>
              <a:t>Supervisor (Excel)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Maycel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Naret</a:t>
            </a:r>
            <a:r>
              <a:rPr lang="en-US" sz="500" b="1" dirty="0" smtClean="0"/>
              <a:t>)</a:t>
            </a:r>
          </a:p>
        </p:txBody>
      </p:sp>
      <p:sp>
        <p:nvSpPr>
          <p:cNvPr id="115" name="Rectangle 114"/>
          <p:cNvSpPr/>
          <p:nvPr/>
        </p:nvSpPr>
        <p:spPr>
          <a:xfrm>
            <a:off x="2744200" y="4948003"/>
            <a:ext cx="740602" cy="116089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7" name="TextBox 116"/>
          <p:cNvSpPr txBox="1"/>
          <p:nvPr/>
        </p:nvSpPr>
        <p:spPr>
          <a:xfrm>
            <a:off x="2679084" y="4939349"/>
            <a:ext cx="870835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Production Analyst (Excel)</a:t>
            </a:r>
          </a:p>
          <a:p>
            <a:pPr algn="ctr"/>
            <a:r>
              <a:rPr lang="en-US" sz="500" b="1" dirty="0" smtClean="0"/>
              <a:t> </a:t>
            </a:r>
          </a:p>
          <a:p>
            <a:pPr algn="ctr"/>
            <a:r>
              <a:rPr lang="en-US" sz="500" b="1" dirty="0" smtClean="0"/>
              <a:t>Karla </a:t>
            </a:r>
            <a:r>
              <a:rPr lang="en-US" sz="500" b="1" dirty="0" err="1" smtClean="0"/>
              <a:t>Pude</a:t>
            </a:r>
            <a:r>
              <a:rPr lang="en-US" sz="500" b="1" dirty="0" smtClean="0"/>
              <a:t>-branch</a:t>
            </a:r>
          </a:p>
          <a:p>
            <a:pPr algn="ctr"/>
            <a:r>
              <a:rPr lang="en-US" sz="500" b="1" dirty="0" err="1" smtClean="0"/>
              <a:t>RoseMarie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Albutra</a:t>
            </a:r>
            <a:r>
              <a:rPr lang="en-US" sz="500" b="1" dirty="0" smtClean="0"/>
              <a:t>-branch</a:t>
            </a:r>
          </a:p>
          <a:p>
            <a:pPr algn="ctr"/>
            <a:r>
              <a:rPr lang="en-US" sz="500" b="1" dirty="0" err="1" smtClean="0"/>
              <a:t>Lynlie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Catilo</a:t>
            </a:r>
            <a:r>
              <a:rPr lang="en-US" sz="500" b="1" dirty="0" smtClean="0"/>
              <a:t>-branch</a:t>
            </a:r>
          </a:p>
          <a:p>
            <a:pPr algn="ctr"/>
            <a:r>
              <a:rPr lang="en-US" sz="500" b="1" dirty="0" err="1" smtClean="0"/>
              <a:t>JullyMae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Lebadisos</a:t>
            </a:r>
            <a:r>
              <a:rPr lang="en-US" sz="500" b="1" dirty="0" smtClean="0"/>
              <a:t>-branch</a:t>
            </a:r>
          </a:p>
          <a:p>
            <a:pPr algn="ctr"/>
            <a:r>
              <a:rPr lang="en-US" sz="500" b="1" dirty="0" smtClean="0"/>
              <a:t>Emmanuel Austria-branch</a:t>
            </a:r>
          </a:p>
          <a:p>
            <a:pPr algn="ctr"/>
            <a:r>
              <a:rPr lang="en-US" sz="500" b="1" dirty="0" smtClean="0"/>
              <a:t>Vacant 2</a:t>
            </a:r>
          </a:p>
          <a:p>
            <a:pPr algn="ctr"/>
            <a:endParaRPr lang="en-US" sz="500" b="1" dirty="0"/>
          </a:p>
          <a:p>
            <a:pPr algn="ctr"/>
            <a:r>
              <a:rPr lang="en-US" sz="500" b="1" dirty="0" err="1" smtClean="0"/>
              <a:t>Jomar</a:t>
            </a:r>
            <a:r>
              <a:rPr lang="en-US" sz="500" b="1" dirty="0" smtClean="0"/>
              <a:t> </a:t>
            </a:r>
            <a:r>
              <a:rPr lang="en-US" sz="500" b="1" dirty="0" err="1" smtClean="0"/>
              <a:t>Manaongsong</a:t>
            </a:r>
            <a:r>
              <a:rPr lang="en-US" sz="500" b="1" dirty="0" smtClean="0"/>
              <a:t>-DBC</a:t>
            </a:r>
          </a:p>
          <a:p>
            <a:pPr algn="ctr"/>
            <a:r>
              <a:rPr lang="en-US" sz="500" b="1" dirty="0" err="1" smtClean="0"/>
              <a:t>Jenie</a:t>
            </a:r>
            <a:r>
              <a:rPr lang="en-US" sz="500" b="1" dirty="0" smtClean="0"/>
              <a:t> Lane </a:t>
            </a:r>
            <a:r>
              <a:rPr lang="en-US" sz="500" b="1" dirty="0" err="1" smtClean="0"/>
              <a:t>Arioja</a:t>
            </a:r>
            <a:r>
              <a:rPr lang="en-US" sz="500" b="1" dirty="0" smtClean="0"/>
              <a:t>-BC</a:t>
            </a:r>
          </a:p>
        </p:txBody>
      </p:sp>
      <p:sp>
        <p:nvSpPr>
          <p:cNvPr id="118" name="Rectangle 117"/>
          <p:cNvSpPr/>
          <p:nvPr/>
        </p:nvSpPr>
        <p:spPr>
          <a:xfrm>
            <a:off x="2013012" y="4483110"/>
            <a:ext cx="529716" cy="290273"/>
          </a:xfrm>
          <a:prstGeom prst="rect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0" name="TextBox 119"/>
          <p:cNvSpPr txBox="1"/>
          <p:nvPr/>
        </p:nvSpPr>
        <p:spPr>
          <a:xfrm>
            <a:off x="1936920" y="4470100"/>
            <a:ext cx="694794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schemeClr val="bg1"/>
                </a:solidFill>
              </a:rPr>
              <a:t>Cost Analyst</a:t>
            </a:r>
          </a:p>
          <a:p>
            <a:pPr algn="ctr"/>
            <a:r>
              <a:rPr lang="en-US" sz="500" b="1" dirty="0" smtClean="0">
                <a:solidFill>
                  <a:schemeClr val="bg1"/>
                </a:solidFill>
              </a:rPr>
              <a:t>Supervisor (Apps)</a:t>
            </a:r>
          </a:p>
          <a:p>
            <a:pPr algn="ctr"/>
            <a:r>
              <a:rPr lang="en-US" sz="500" b="1" dirty="0" smtClean="0">
                <a:solidFill>
                  <a:schemeClr val="bg1"/>
                </a:solidFill>
              </a:rPr>
              <a:t>(</a:t>
            </a:r>
            <a:r>
              <a:rPr lang="en-US" sz="500" b="1" dirty="0" err="1" smtClean="0">
                <a:solidFill>
                  <a:schemeClr val="bg1"/>
                </a:solidFill>
              </a:rPr>
              <a:t>Carmae</a:t>
            </a:r>
            <a:r>
              <a:rPr lang="en-US" sz="500" b="1" dirty="0" smtClean="0">
                <a:solidFill>
                  <a:schemeClr val="bg1"/>
                </a:solidFill>
              </a:rPr>
              <a:t> </a:t>
            </a:r>
            <a:r>
              <a:rPr lang="en-US" sz="500" b="1" dirty="0" err="1" smtClean="0">
                <a:solidFill>
                  <a:schemeClr val="bg1"/>
                </a:solidFill>
              </a:rPr>
              <a:t>Deligero</a:t>
            </a:r>
            <a:r>
              <a:rPr lang="en-US" sz="500" b="1" dirty="0" smtClean="0">
                <a:solidFill>
                  <a:schemeClr val="bg1"/>
                </a:solidFill>
              </a:rPr>
              <a:t>)</a:t>
            </a:r>
          </a:p>
        </p:txBody>
      </p:sp>
      <p:sp>
        <p:nvSpPr>
          <p:cNvPr id="122" name="Rectangle 121"/>
          <p:cNvSpPr/>
          <p:nvPr/>
        </p:nvSpPr>
        <p:spPr>
          <a:xfrm>
            <a:off x="1892049" y="4946690"/>
            <a:ext cx="733531" cy="704127"/>
          </a:xfrm>
          <a:prstGeom prst="rect">
            <a:avLst/>
          </a:prstGeom>
          <a:solidFill>
            <a:srgbClr val="FF0000"/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4" name="TextBox 123"/>
          <p:cNvSpPr txBox="1"/>
          <p:nvPr/>
        </p:nvSpPr>
        <p:spPr>
          <a:xfrm>
            <a:off x="1795301" y="4975873"/>
            <a:ext cx="947981" cy="7848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schemeClr val="bg1"/>
                </a:solidFill>
              </a:rPr>
              <a:t>Cost Analyst (Apps)</a:t>
            </a:r>
          </a:p>
          <a:p>
            <a:pPr algn="ctr"/>
            <a:endParaRPr lang="en-US" sz="500" b="1" dirty="0">
              <a:solidFill>
                <a:schemeClr val="bg1"/>
              </a:solidFill>
            </a:endParaRPr>
          </a:p>
          <a:p>
            <a:pPr algn="ctr"/>
            <a:r>
              <a:rPr lang="en-US" sz="500" b="1" dirty="0" smtClean="0">
                <a:solidFill>
                  <a:schemeClr val="bg1"/>
                </a:solidFill>
              </a:rPr>
              <a:t>Ria </a:t>
            </a:r>
            <a:r>
              <a:rPr lang="en-US" sz="500" b="1" dirty="0" err="1" smtClean="0">
                <a:solidFill>
                  <a:schemeClr val="bg1"/>
                </a:solidFill>
              </a:rPr>
              <a:t>Jeane</a:t>
            </a:r>
            <a:r>
              <a:rPr lang="en-US" sz="500" b="1" dirty="0" smtClean="0">
                <a:solidFill>
                  <a:schemeClr val="bg1"/>
                </a:solidFill>
              </a:rPr>
              <a:t> Moya-branch</a:t>
            </a:r>
          </a:p>
          <a:p>
            <a:pPr algn="ctr"/>
            <a:r>
              <a:rPr lang="en-US" sz="500" b="1" dirty="0" smtClean="0">
                <a:solidFill>
                  <a:schemeClr val="bg1"/>
                </a:solidFill>
              </a:rPr>
              <a:t>Gerald </a:t>
            </a:r>
            <a:r>
              <a:rPr lang="en-US" sz="500" b="1" dirty="0" err="1" smtClean="0">
                <a:solidFill>
                  <a:schemeClr val="bg1"/>
                </a:solidFill>
              </a:rPr>
              <a:t>Cuizon</a:t>
            </a:r>
            <a:r>
              <a:rPr lang="en-US" sz="500" b="1" dirty="0" smtClean="0">
                <a:solidFill>
                  <a:schemeClr val="bg1"/>
                </a:solidFill>
              </a:rPr>
              <a:t> -branch</a:t>
            </a:r>
          </a:p>
          <a:p>
            <a:pPr algn="ctr"/>
            <a:r>
              <a:rPr lang="en-US" sz="500" b="1" dirty="0" err="1" smtClean="0">
                <a:solidFill>
                  <a:schemeClr val="bg1"/>
                </a:solidFill>
              </a:rPr>
              <a:t>Almera</a:t>
            </a:r>
            <a:r>
              <a:rPr lang="en-US" sz="500" b="1" dirty="0" smtClean="0">
                <a:solidFill>
                  <a:schemeClr val="bg1"/>
                </a:solidFill>
              </a:rPr>
              <a:t> </a:t>
            </a:r>
            <a:r>
              <a:rPr lang="en-US" sz="500" b="1" dirty="0" err="1" smtClean="0">
                <a:solidFill>
                  <a:schemeClr val="bg1"/>
                </a:solidFill>
              </a:rPr>
              <a:t>Tayo</a:t>
            </a:r>
            <a:r>
              <a:rPr lang="en-US" sz="500" b="1" dirty="0" smtClean="0">
                <a:solidFill>
                  <a:schemeClr val="bg1"/>
                </a:solidFill>
              </a:rPr>
              <a:t>-branch</a:t>
            </a:r>
          </a:p>
          <a:p>
            <a:pPr algn="ctr"/>
            <a:endParaRPr lang="en-US" sz="500" b="1" dirty="0">
              <a:solidFill>
                <a:schemeClr val="bg1"/>
              </a:solidFill>
            </a:endParaRPr>
          </a:p>
          <a:p>
            <a:pPr algn="ctr"/>
            <a:r>
              <a:rPr lang="en-US" sz="500" b="1" dirty="0" smtClean="0">
                <a:solidFill>
                  <a:schemeClr val="bg1"/>
                </a:solidFill>
              </a:rPr>
              <a:t>Mary Grace </a:t>
            </a:r>
            <a:r>
              <a:rPr lang="en-US" sz="500" b="1" dirty="0" err="1" smtClean="0">
                <a:solidFill>
                  <a:schemeClr val="bg1"/>
                </a:solidFill>
              </a:rPr>
              <a:t>Alad</a:t>
            </a:r>
            <a:r>
              <a:rPr lang="en-US" sz="500" b="1" dirty="0" smtClean="0">
                <a:solidFill>
                  <a:schemeClr val="bg1"/>
                </a:solidFill>
              </a:rPr>
              <a:t>-Ad (DR)</a:t>
            </a:r>
          </a:p>
          <a:p>
            <a:pPr algn="ctr"/>
            <a:r>
              <a:rPr lang="en-US" sz="500" b="1" dirty="0" smtClean="0">
                <a:solidFill>
                  <a:schemeClr val="bg1"/>
                </a:solidFill>
              </a:rPr>
              <a:t>Mark Liter </a:t>
            </a:r>
            <a:r>
              <a:rPr lang="en-US" sz="500" b="1" dirty="0" err="1" smtClean="0">
                <a:solidFill>
                  <a:schemeClr val="bg1"/>
                </a:solidFill>
              </a:rPr>
              <a:t>Gultiano</a:t>
            </a:r>
            <a:r>
              <a:rPr lang="en-US" sz="500" b="1" dirty="0" smtClean="0">
                <a:solidFill>
                  <a:schemeClr val="bg1"/>
                </a:solidFill>
              </a:rPr>
              <a:t> (DR)</a:t>
            </a:r>
          </a:p>
          <a:p>
            <a:pPr marL="171450" indent="-171450" algn="ctr">
              <a:buFontTx/>
              <a:buChar char="-"/>
            </a:pPr>
            <a:endParaRPr lang="en-US" sz="500" b="1" dirty="0" smtClean="0">
              <a:solidFill>
                <a:schemeClr val="bg1"/>
              </a:solidFill>
            </a:endParaRPr>
          </a:p>
        </p:txBody>
      </p:sp>
      <p:cxnSp>
        <p:nvCxnSpPr>
          <p:cNvPr id="135" name="Straight Connector 134"/>
          <p:cNvCxnSpPr/>
          <p:nvPr/>
        </p:nvCxnSpPr>
        <p:spPr>
          <a:xfrm flipH="1">
            <a:off x="2240192" y="4374217"/>
            <a:ext cx="1671925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4" name="TextBox 183"/>
          <p:cNvSpPr txBox="1"/>
          <p:nvPr/>
        </p:nvSpPr>
        <p:spPr>
          <a:xfrm>
            <a:off x="1919981" y="5663945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Filled:  6</a:t>
            </a:r>
          </a:p>
          <a:p>
            <a:pPr algn="ctr"/>
            <a:r>
              <a:rPr lang="en-US" sz="500" b="1" dirty="0" smtClean="0"/>
              <a:t>Vacant: 0</a:t>
            </a:r>
          </a:p>
        </p:txBody>
      </p:sp>
      <p:sp>
        <p:nvSpPr>
          <p:cNvPr id="185" name="TextBox 184"/>
          <p:cNvSpPr txBox="1"/>
          <p:nvPr/>
        </p:nvSpPr>
        <p:spPr>
          <a:xfrm>
            <a:off x="2801270" y="6078379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Filled:  8</a:t>
            </a:r>
          </a:p>
          <a:p>
            <a:pPr algn="ctr"/>
            <a:r>
              <a:rPr lang="en-US" sz="500" b="1" dirty="0" smtClean="0"/>
              <a:t>Vacant: 2</a:t>
            </a:r>
          </a:p>
        </p:txBody>
      </p:sp>
      <p:sp>
        <p:nvSpPr>
          <p:cNvPr id="186" name="TextBox 185"/>
          <p:cNvSpPr txBox="1"/>
          <p:nvPr/>
        </p:nvSpPr>
        <p:spPr>
          <a:xfrm>
            <a:off x="3584379" y="5848440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Filled:  7</a:t>
            </a:r>
          </a:p>
          <a:p>
            <a:pPr algn="ctr"/>
            <a:r>
              <a:rPr lang="en-US" sz="500" b="1" dirty="0" smtClean="0"/>
              <a:t>Vacant: 3</a:t>
            </a:r>
          </a:p>
        </p:txBody>
      </p:sp>
      <p:sp>
        <p:nvSpPr>
          <p:cNvPr id="187" name="TextBox 186"/>
          <p:cNvSpPr txBox="1"/>
          <p:nvPr/>
        </p:nvSpPr>
        <p:spPr>
          <a:xfrm>
            <a:off x="3386201" y="3979533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Filled:  1</a:t>
            </a:r>
          </a:p>
          <a:p>
            <a:pPr algn="ctr"/>
            <a:r>
              <a:rPr lang="en-US" sz="500" b="1" dirty="0" smtClean="0"/>
              <a:t>Vacant: 0</a:t>
            </a:r>
          </a:p>
        </p:txBody>
      </p:sp>
      <p:sp>
        <p:nvSpPr>
          <p:cNvPr id="188" name="TextBox 187"/>
          <p:cNvSpPr txBox="1"/>
          <p:nvPr/>
        </p:nvSpPr>
        <p:spPr>
          <a:xfrm>
            <a:off x="2560736" y="6309239"/>
            <a:ext cx="1346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 smtClean="0"/>
              <a:t>Cost &amp; Inventory Section</a:t>
            </a:r>
          </a:p>
          <a:p>
            <a:r>
              <a:rPr lang="en-US" sz="400" b="1" dirty="0" smtClean="0"/>
              <a:t>                            Actual                  Vacant             Budget</a:t>
            </a:r>
          </a:p>
          <a:p>
            <a:r>
              <a:rPr lang="en-US" sz="400" b="1" dirty="0" smtClean="0"/>
              <a:t>Head                        1                             0                    1</a:t>
            </a:r>
          </a:p>
          <a:p>
            <a:r>
              <a:rPr lang="en-US" sz="400" b="1" dirty="0" err="1" smtClean="0"/>
              <a:t>Spvr</a:t>
            </a:r>
            <a:r>
              <a:rPr lang="en-US" sz="400" b="1" dirty="0" smtClean="0"/>
              <a:t>                         3                             0                     3</a:t>
            </a:r>
          </a:p>
          <a:p>
            <a:r>
              <a:rPr lang="en-US" sz="400" b="1" dirty="0" smtClean="0"/>
              <a:t>Staff                      </a:t>
            </a:r>
            <a:r>
              <a:rPr lang="en-US" sz="400" b="1" u="sng" dirty="0" smtClean="0"/>
              <a:t>  18                           5                   23   </a:t>
            </a:r>
          </a:p>
          <a:p>
            <a:r>
              <a:rPr lang="en-US" sz="400" b="1" dirty="0" smtClean="0"/>
              <a:t>             Total          22                           5                   27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560736" y="6324600"/>
            <a:ext cx="1238528" cy="4463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89" name="TextBox 188"/>
          <p:cNvSpPr txBox="1"/>
          <p:nvPr/>
        </p:nvSpPr>
        <p:spPr>
          <a:xfrm>
            <a:off x="1275480" y="3966539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Filled:  1</a:t>
            </a:r>
          </a:p>
          <a:p>
            <a:pPr algn="ctr"/>
            <a:r>
              <a:rPr lang="en-US" sz="500" b="1" dirty="0" smtClean="0"/>
              <a:t>Vacant: 0</a:t>
            </a:r>
          </a:p>
        </p:txBody>
      </p:sp>
      <p:sp>
        <p:nvSpPr>
          <p:cNvPr id="190" name="TextBox 189"/>
          <p:cNvSpPr txBox="1"/>
          <p:nvPr/>
        </p:nvSpPr>
        <p:spPr>
          <a:xfrm>
            <a:off x="1089250" y="5806884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Filled:  5</a:t>
            </a:r>
          </a:p>
          <a:p>
            <a:pPr algn="ctr"/>
            <a:r>
              <a:rPr lang="en-US" sz="500" b="1" dirty="0" smtClean="0"/>
              <a:t>Vacant: 5</a:t>
            </a:r>
          </a:p>
        </p:txBody>
      </p:sp>
      <p:sp>
        <p:nvSpPr>
          <p:cNvPr id="191" name="TextBox 190"/>
          <p:cNvSpPr txBox="1"/>
          <p:nvPr/>
        </p:nvSpPr>
        <p:spPr>
          <a:xfrm>
            <a:off x="381000" y="6309239"/>
            <a:ext cx="1346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 smtClean="0"/>
              <a:t>Accounts Payable/Compliance/Tax Section</a:t>
            </a:r>
          </a:p>
          <a:p>
            <a:r>
              <a:rPr lang="en-US" sz="400" b="1" dirty="0" smtClean="0"/>
              <a:t>                            Actual                  Vacant             Budget</a:t>
            </a:r>
          </a:p>
          <a:p>
            <a:r>
              <a:rPr lang="en-US" sz="400" b="1" dirty="0" smtClean="0"/>
              <a:t>Head                        1                             0                    1</a:t>
            </a:r>
          </a:p>
          <a:p>
            <a:r>
              <a:rPr lang="en-US" sz="400" b="1" dirty="0" err="1" smtClean="0"/>
              <a:t>Spvr</a:t>
            </a:r>
            <a:r>
              <a:rPr lang="en-US" sz="400" b="1" dirty="0" smtClean="0"/>
              <a:t>                         0                             1                     1</a:t>
            </a:r>
          </a:p>
          <a:p>
            <a:r>
              <a:rPr lang="en-US" sz="400" b="1" dirty="0" smtClean="0"/>
              <a:t>Staff                      </a:t>
            </a:r>
            <a:r>
              <a:rPr lang="en-US" sz="400" b="1" u="sng" dirty="0" smtClean="0"/>
              <a:t>   7                             </a:t>
            </a:r>
            <a:r>
              <a:rPr lang="en-US" sz="400" b="1" u="sng" dirty="0"/>
              <a:t>1</a:t>
            </a:r>
            <a:r>
              <a:rPr lang="en-US" sz="400" b="1" u="sng" dirty="0" smtClean="0"/>
              <a:t>                     </a:t>
            </a:r>
            <a:r>
              <a:rPr lang="en-US" sz="400" b="1" u="sng" dirty="0"/>
              <a:t>8</a:t>
            </a:r>
            <a:r>
              <a:rPr lang="en-US" sz="400" b="1" u="sng" dirty="0" smtClean="0"/>
              <a:t>   </a:t>
            </a:r>
          </a:p>
          <a:p>
            <a:r>
              <a:rPr lang="en-US" sz="400" b="1" dirty="0" smtClean="0"/>
              <a:t>             Total          8                             </a:t>
            </a:r>
            <a:r>
              <a:rPr lang="en-US" sz="400" b="1" dirty="0"/>
              <a:t>2</a:t>
            </a:r>
            <a:r>
              <a:rPr lang="en-US" sz="400" b="1" dirty="0" smtClean="0"/>
              <a:t>                     10</a:t>
            </a:r>
          </a:p>
        </p:txBody>
      </p:sp>
      <p:sp>
        <p:nvSpPr>
          <p:cNvPr id="192" name="Rectangle 191"/>
          <p:cNvSpPr/>
          <p:nvPr/>
        </p:nvSpPr>
        <p:spPr>
          <a:xfrm>
            <a:off x="381000" y="6324600"/>
            <a:ext cx="1238528" cy="4463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3" name="Rectangle 192"/>
          <p:cNvSpPr/>
          <p:nvPr/>
        </p:nvSpPr>
        <p:spPr>
          <a:xfrm>
            <a:off x="4942831" y="4941551"/>
            <a:ext cx="529716" cy="26489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4" name="TextBox 193"/>
          <p:cNvSpPr txBox="1"/>
          <p:nvPr/>
        </p:nvSpPr>
        <p:spPr>
          <a:xfrm>
            <a:off x="4894046" y="4985449"/>
            <a:ext cx="63086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Sales Staff</a:t>
            </a:r>
          </a:p>
        </p:txBody>
      </p:sp>
      <p:sp>
        <p:nvSpPr>
          <p:cNvPr id="195" name="TextBox 194"/>
          <p:cNvSpPr txBox="1"/>
          <p:nvPr/>
        </p:nvSpPr>
        <p:spPr>
          <a:xfrm>
            <a:off x="5451386" y="3966539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Filled:  0</a:t>
            </a:r>
          </a:p>
          <a:p>
            <a:pPr algn="ctr"/>
            <a:r>
              <a:rPr lang="en-US" sz="500" b="1" dirty="0" smtClean="0"/>
              <a:t>Vacant: 1</a:t>
            </a:r>
          </a:p>
        </p:txBody>
      </p:sp>
      <p:sp>
        <p:nvSpPr>
          <p:cNvPr id="196" name="TextBox 195"/>
          <p:cNvSpPr txBox="1"/>
          <p:nvPr/>
        </p:nvSpPr>
        <p:spPr>
          <a:xfrm>
            <a:off x="7995664" y="5420406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Filled:  21</a:t>
            </a:r>
          </a:p>
          <a:p>
            <a:pPr algn="ctr"/>
            <a:r>
              <a:rPr lang="en-US" sz="500" b="1" dirty="0" smtClean="0"/>
              <a:t>Vacant: 5</a:t>
            </a:r>
          </a:p>
        </p:txBody>
      </p:sp>
      <p:sp>
        <p:nvSpPr>
          <p:cNvPr id="197" name="TextBox 196"/>
          <p:cNvSpPr txBox="1"/>
          <p:nvPr/>
        </p:nvSpPr>
        <p:spPr>
          <a:xfrm>
            <a:off x="4597450" y="6309239"/>
            <a:ext cx="1346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 smtClean="0"/>
              <a:t>General Accounting Section</a:t>
            </a:r>
          </a:p>
          <a:p>
            <a:r>
              <a:rPr lang="en-US" sz="400" b="1" dirty="0" smtClean="0"/>
              <a:t>                            Actual                  Vacant             Budget</a:t>
            </a:r>
          </a:p>
          <a:p>
            <a:r>
              <a:rPr lang="en-US" sz="400" b="1" dirty="0" smtClean="0"/>
              <a:t>Head                        1                             0                    1</a:t>
            </a:r>
          </a:p>
          <a:p>
            <a:r>
              <a:rPr lang="en-US" sz="400" b="1" dirty="0" err="1" smtClean="0"/>
              <a:t>Spvr</a:t>
            </a:r>
            <a:r>
              <a:rPr lang="en-US" sz="400" b="1" dirty="0" smtClean="0"/>
              <a:t>                         4                             0                     4</a:t>
            </a:r>
          </a:p>
          <a:p>
            <a:r>
              <a:rPr lang="en-US" sz="400" b="1" dirty="0" smtClean="0"/>
              <a:t>Staff                      </a:t>
            </a:r>
            <a:r>
              <a:rPr lang="en-US" sz="400" b="1" u="sng" dirty="0" smtClean="0"/>
              <a:t>   5                            0                     5   </a:t>
            </a:r>
          </a:p>
          <a:p>
            <a:r>
              <a:rPr lang="en-US" sz="400" b="1" dirty="0" smtClean="0"/>
              <a:t>             Total          10                           </a:t>
            </a:r>
            <a:r>
              <a:rPr lang="en-US" sz="400" b="1" dirty="0"/>
              <a:t>0</a:t>
            </a:r>
            <a:r>
              <a:rPr lang="en-US" sz="400" b="1" dirty="0" smtClean="0"/>
              <a:t>                   10</a:t>
            </a:r>
          </a:p>
        </p:txBody>
      </p:sp>
      <p:sp>
        <p:nvSpPr>
          <p:cNvPr id="198" name="Rectangle 197"/>
          <p:cNvSpPr/>
          <p:nvPr/>
        </p:nvSpPr>
        <p:spPr>
          <a:xfrm>
            <a:off x="4597450" y="6324600"/>
            <a:ext cx="1238528" cy="4463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199" name="TextBox 198"/>
          <p:cNvSpPr txBox="1"/>
          <p:nvPr/>
        </p:nvSpPr>
        <p:spPr>
          <a:xfrm>
            <a:off x="8123930" y="3915652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Filled:  0</a:t>
            </a:r>
          </a:p>
          <a:p>
            <a:pPr algn="ctr"/>
            <a:r>
              <a:rPr lang="en-US" sz="500" b="1" dirty="0" smtClean="0"/>
              <a:t>Vacant: 1</a:t>
            </a:r>
          </a:p>
        </p:txBody>
      </p:sp>
      <p:sp>
        <p:nvSpPr>
          <p:cNvPr id="200" name="TextBox 199"/>
          <p:cNvSpPr txBox="1"/>
          <p:nvPr/>
        </p:nvSpPr>
        <p:spPr>
          <a:xfrm>
            <a:off x="6731050" y="6309239"/>
            <a:ext cx="13461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00" b="1" dirty="0" smtClean="0"/>
              <a:t>Supply Chain Section</a:t>
            </a:r>
          </a:p>
          <a:p>
            <a:r>
              <a:rPr lang="en-US" sz="400" b="1" dirty="0" smtClean="0"/>
              <a:t>                            Actual                  Vacant             Budget</a:t>
            </a:r>
          </a:p>
          <a:p>
            <a:r>
              <a:rPr lang="en-US" sz="400" b="1" dirty="0" smtClean="0"/>
              <a:t>Head                        0                             </a:t>
            </a:r>
            <a:r>
              <a:rPr lang="en-US" sz="400" b="1" dirty="0"/>
              <a:t>1</a:t>
            </a:r>
            <a:r>
              <a:rPr lang="en-US" sz="400" b="1" dirty="0" smtClean="0"/>
              <a:t>                    1</a:t>
            </a:r>
          </a:p>
          <a:p>
            <a:r>
              <a:rPr lang="en-US" sz="400" b="1" dirty="0" err="1" smtClean="0"/>
              <a:t>Spvr</a:t>
            </a:r>
            <a:r>
              <a:rPr lang="en-US" sz="400" b="1" dirty="0" smtClean="0"/>
              <a:t>                         2                             </a:t>
            </a:r>
            <a:r>
              <a:rPr lang="en-US" sz="400" b="1" dirty="0"/>
              <a:t>1</a:t>
            </a:r>
            <a:r>
              <a:rPr lang="en-US" sz="400" b="1" dirty="0" smtClean="0"/>
              <a:t>                     </a:t>
            </a:r>
            <a:r>
              <a:rPr lang="en-US" sz="400" b="1" dirty="0"/>
              <a:t>3</a:t>
            </a:r>
            <a:endParaRPr lang="en-US" sz="400" b="1" dirty="0" smtClean="0"/>
          </a:p>
          <a:p>
            <a:r>
              <a:rPr lang="en-US" sz="400" b="1" dirty="0" smtClean="0"/>
              <a:t>Staff                      </a:t>
            </a:r>
            <a:r>
              <a:rPr lang="en-US" sz="400" b="1" u="sng" dirty="0" smtClean="0"/>
              <a:t> 21                            </a:t>
            </a:r>
            <a:r>
              <a:rPr lang="en-US" sz="400" b="1" u="sng" dirty="0"/>
              <a:t>3</a:t>
            </a:r>
            <a:r>
              <a:rPr lang="en-US" sz="400" b="1" u="sng" dirty="0" smtClean="0"/>
              <a:t>                   24   </a:t>
            </a:r>
          </a:p>
          <a:p>
            <a:r>
              <a:rPr lang="en-US" sz="400" b="1" dirty="0" smtClean="0"/>
              <a:t>             Total         23                            </a:t>
            </a:r>
            <a:r>
              <a:rPr lang="en-US" sz="400" b="1" dirty="0"/>
              <a:t>5</a:t>
            </a:r>
            <a:r>
              <a:rPr lang="en-US" sz="400" b="1" dirty="0" smtClean="0"/>
              <a:t>                   28</a:t>
            </a:r>
          </a:p>
        </p:txBody>
      </p:sp>
      <p:sp>
        <p:nvSpPr>
          <p:cNvPr id="201" name="Rectangle 200"/>
          <p:cNvSpPr/>
          <p:nvPr/>
        </p:nvSpPr>
        <p:spPr>
          <a:xfrm>
            <a:off x="6731050" y="6324600"/>
            <a:ext cx="1238528" cy="446304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cxnSp>
        <p:nvCxnSpPr>
          <p:cNvPr id="202" name="Straight Connector 201"/>
          <p:cNvCxnSpPr/>
          <p:nvPr/>
        </p:nvCxnSpPr>
        <p:spPr>
          <a:xfrm flipV="1">
            <a:off x="228600" y="5906655"/>
            <a:ext cx="2923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1" name="Rectangle 130"/>
          <p:cNvSpPr/>
          <p:nvPr/>
        </p:nvSpPr>
        <p:spPr>
          <a:xfrm>
            <a:off x="304587" y="5806423"/>
            <a:ext cx="347677" cy="2805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3" name="TextBox 132"/>
          <p:cNvSpPr txBox="1"/>
          <p:nvPr/>
        </p:nvSpPr>
        <p:spPr>
          <a:xfrm>
            <a:off x="233067" y="5806883"/>
            <a:ext cx="5109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Document</a:t>
            </a:r>
          </a:p>
          <a:p>
            <a:pPr algn="ctr"/>
            <a:r>
              <a:rPr lang="en-US" sz="500" b="1" dirty="0" smtClean="0"/>
              <a:t>Control</a:t>
            </a:r>
          </a:p>
        </p:txBody>
      </p:sp>
      <p:sp>
        <p:nvSpPr>
          <p:cNvPr id="203" name="TextBox 202"/>
          <p:cNvSpPr txBox="1"/>
          <p:nvPr/>
        </p:nvSpPr>
        <p:spPr>
          <a:xfrm>
            <a:off x="4964755" y="5508134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Filled:  </a:t>
            </a:r>
            <a:r>
              <a:rPr lang="en-US" sz="500" b="1" dirty="0"/>
              <a:t>8</a:t>
            </a:r>
            <a:endParaRPr lang="en-US" sz="500" b="1" dirty="0" smtClean="0"/>
          </a:p>
          <a:p>
            <a:pPr algn="ctr"/>
            <a:r>
              <a:rPr lang="en-US" sz="500" b="1" dirty="0" smtClean="0"/>
              <a:t>Vacant: 2</a:t>
            </a:r>
          </a:p>
        </p:txBody>
      </p:sp>
      <p:cxnSp>
        <p:nvCxnSpPr>
          <p:cNvPr id="204" name="Straight Connector 203"/>
          <p:cNvCxnSpPr/>
          <p:nvPr/>
        </p:nvCxnSpPr>
        <p:spPr>
          <a:xfrm flipH="1">
            <a:off x="8818313" y="4379560"/>
            <a:ext cx="14104" cy="6267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5" name="Rectangle 204"/>
          <p:cNvSpPr/>
          <p:nvPr/>
        </p:nvSpPr>
        <p:spPr>
          <a:xfrm>
            <a:off x="8556656" y="4950078"/>
            <a:ext cx="455138" cy="239454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6" name="Rectangle 205"/>
          <p:cNvSpPr/>
          <p:nvPr/>
        </p:nvSpPr>
        <p:spPr>
          <a:xfrm>
            <a:off x="8557298" y="4494247"/>
            <a:ext cx="455138" cy="29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7" name="TextBox 206"/>
          <p:cNvSpPr txBox="1"/>
          <p:nvPr/>
        </p:nvSpPr>
        <p:spPr>
          <a:xfrm>
            <a:off x="8485856" y="4474230"/>
            <a:ext cx="630865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Procurement</a:t>
            </a:r>
          </a:p>
          <a:p>
            <a:pPr algn="ctr"/>
            <a:r>
              <a:rPr lang="en-US" sz="500" b="1" dirty="0" smtClean="0"/>
              <a:t>Supervisor</a:t>
            </a:r>
          </a:p>
          <a:p>
            <a:pPr algn="ctr"/>
            <a:r>
              <a:rPr lang="en-US" sz="500" b="1" dirty="0" smtClean="0"/>
              <a:t>(</a:t>
            </a:r>
            <a:r>
              <a:rPr lang="en-US" sz="500" b="1" dirty="0" err="1" smtClean="0"/>
              <a:t>Ysang</a:t>
            </a:r>
            <a:r>
              <a:rPr lang="en-US" sz="500" b="1" dirty="0" smtClean="0"/>
              <a:t>)</a:t>
            </a:r>
          </a:p>
        </p:txBody>
      </p:sp>
      <p:sp>
        <p:nvSpPr>
          <p:cNvPr id="208" name="TextBox 207"/>
          <p:cNvSpPr txBox="1"/>
          <p:nvPr/>
        </p:nvSpPr>
        <p:spPr>
          <a:xfrm>
            <a:off x="8456541" y="4938695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Purchaser</a:t>
            </a:r>
          </a:p>
          <a:p>
            <a:pPr algn="ctr"/>
            <a:r>
              <a:rPr lang="en-US" sz="500" b="1" dirty="0" smtClean="0"/>
              <a:t>(Ella / Jamaica)</a:t>
            </a:r>
          </a:p>
        </p:txBody>
      </p:sp>
      <p:sp>
        <p:nvSpPr>
          <p:cNvPr id="211" name="Rectangle 210"/>
          <p:cNvSpPr/>
          <p:nvPr/>
        </p:nvSpPr>
        <p:spPr>
          <a:xfrm>
            <a:off x="6831893" y="4952093"/>
            <a:ext cx="529716" cy="150409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2" name="TextBox 211"/>
          <p:cNvSpPr txBox="1"/>
          <p:nvPr/>
        </p:nvSpPr>
        <p:spPr>
          <a:xfrm>
            <a:off x="6787355" y="4942693"/>
            <a:ext cx="63086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Property Control</a:t>
            </a:r>
          </a:p>
        </p:txBody>
      </p:sp>
      <p:cxnSp>
        <p:nvCxnSpPr>
          <p:cNvPr id="177" name="Straight Connector 176"/>
          <p:cNvCxnSpPr>
            <a:stCxn id="129" idx="0"/>
          </p:cNvCxnSpPr>
          <p:nvPr/>
        </p:nvCxnSpPr>
        <p:spPr>
          <a:xfrm flipH="1" flipV="1">
            <a:off x="973990" y="5257070"/>
            <a:ext cx="1" cy="9018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Straight Connector 178"/>
          <p:cNvCxnSpPr/>
          <p:nvPr/>
        </p:nvCxnSpPr>
        <p:spPr>
          <a:xfrm flipV="1">
            <a:off x="652885" y="5909497"/>
            <a:ext cx="292300" cy="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Rectangle 179"/>
          <p:cNvSpPr/>
          <p:nvPr/>
        </p:nvSpPr>
        <p:spPr>
          <a:xfrm>
            <a:off x="728872" y="5809265"/>
            <a:ext cx="347677" cy="21360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1" name="TextBox 180"/>
          <p:cNvSpPr txBox="1"/>
          <p:nvPr/>
        </p:nvSpPr>
        <p:spPr>
          <a:xfrm>
            <a:off x="651486" y="5791685"/>
            <a:ext cx="510964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Liaison</a:t>
            </a:r>
          </a:p>
          <a:p>
            <a:pPr algn="ctr"/>
            <a:r>
              <a:rPr lang="en-US" sz="500" b="1" dirty="0" smtClean="0"/>
              <a:t>(Duking)</a:t>
            </a:r>
          </a:p>
        </p:txBody>
      </p:sp>
      <p:cxnSp>
        <p:nvCxnSpPr>
          <p:cNvPr id="209" name="Straight Connector 208"/>
          <p:cNvCxnSpPr/>
          <p:nvPr/>
        </p:nvCxnSpPr>
        <p:spPr>
          <a:xfrm flipH="1">
            <a:off x="7843502" y="3822367"/>
            <a:ext cx="1524" cy="1287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52501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6" name="Straight Connector 45"/>
          <p:cNvCxnSpPr/>
          <p:nvPr/>
        </p:nvCxnSpPr>
        <p:spPr>
          <a:xfrm flipH="1">
            <a:off x="5887837" y="1261558"/>
            <a:ext cx="6992" cy="625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Straight Connector 7"/>
          <p:cNvCxnSpPr/>
          <p:nvPr/>
        </p:nvCxnSpPr>
        <p:spPr>
          <a:xfrm flipH="1">
            <a:off x="3152441" y="1396170"/>
            <a:ext cx="6992" cy="62518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2648633" y="1092674"/>
            <a:ext cx="990600" cy="4099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/>
          <p:cNvSpPr txBox="1"/>
          <p:nvPr/>
        </p:nvSpPr>
        <p:spPr>
          <a:xfrm>
            <a:off x="2657413" y="10668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Finance &amp; Administration</a:t>
            </a:r>
          </a:p>
          <a:p>
            <a:pPr algn="ctr"/>
            <a:r>
              <a:rPr lang="en-US" sz="800" b="1" dirty="0" smtClean="0"/>
              <a:t>Manager</a:t>
            </a:r>
          </a:p>
        </p:txBody>
      </p:sp>
      <p:cxnSp>
        <p:nvCxnSpPr>
          <p:cNvPr id="18" name="Straight Connector 17"/>
          <p:cNvCxnSpPr/>
          <p:nvPr/>
        </p:nvCxnSpPr>
        <p:spPr>
          <a:xfrm flipV="1">
            <a:off x="2212015" y="1747600"/>
            <a:ext cx="1802045" cy="16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2" name="Rectangle 81"/>
          <p:cNvSpPr/>
          <p:nvPr/>
        </p:nvSpPr>
        <p:spPr>
          <a:xfrm>
            <a:off x="1850065" y="1890453"/>
            <a:ext cx="723900" cy="3033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1828800" y="1885374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Accounts Payable Section Head</a:t>
            </a:r>
          </a:p>
        </p:txBody>
      </p:sp>
      <p:cxnSp>
        <p:nvCxnSpPr>
          <p:cNvPr id="84" name="Straight Connector 83"/>
          <p:cNvCxnSpPr>
            <a:endCxn id="82" idx="0"/>
          </p:cNvCxnSpPr>
          <p:nvPr/>
        </p:nvCxnSpPr>
        <p:spPr>
          <a:xfrm>
            <a:off x="2212015" y="1751819"/>
            <a:ext cx="0" cy="138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112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59933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48" name="TextBox 147"/>
          <p:cNvSpPr txBox="1"/>
          <p:nvPr/>
        </p:nvSpPr>
        <p:spPr>
          <a:xfrm>
            <a:off x="914400" y="152400"/>
            <a:ext cx="723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JATHNIER CORPORATION FINANCE &amp; ADMINISTRATION FUNCTIONS, ACCOUNTABILITIES AND DELIVERABLES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37" name="Rectangle 136"/>
          <p:cNvSpPr/>
          <p:nvPr/>
        </p:nvSpPr>
        <p:spPr>
          <a:xfrm>
            <a:off x="2756473" y="1878578"/>
            <a:ext cx="723900" cy="3033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8" name="TextBox 137"/>
          <p:cNvSpPr txBox="1"/>
          <p:nvPr/>
        </p:nvSpPr>
        <p:spPr>
          <a:xfrm>
            <a:off x="2673676" y="1853306"/>
            <a:ext cx="9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Cost &amp; Inventory Management</a:t>
            </a:r>
          </a:p>
          <a:p>
            <a:pPr algn="ctr"/>
            <a:r>
              <a:rPr lang="en-US" sz="600" b="1" dirty="0" smtClean="0"/>
              <a:t>Section Head</a:t>
            </a:r>
          </a:p>
        </p:txBody>
      </p:sp>
      <p:sp>
        <p:nvSpPr>
          <p:cNvPr id="149" name="TextBox 148"/>
          <p:cNvSpPr txBox="1"/>
          <p:nvPr/>
        </p:nvSpPr>
        <p:spPr>
          <a:xfrm>
            <a:off x="219074" y="2286000"/>
            <a:ext cx="1228726" cy="5078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Finance &amp; Administration Manager</a:t>
            </a:r>
            <a:endParaRPr lang="en-US" sz="900" b="1" dirty="0"/>
          </a:p>
        </p:txBody>
      </p:sp>
      <p:sp>
        <p:nvSpPr>
          <p:cNvPr id="150" name="TextBox 149"/>
          <p:cNvSpPr txBox="1"/>
          <p:nvPr/>
        </p:nvSpPr>
        <p:spPr>
          <a:xfrm>
            <a:off x="1066800" y="2286000"/>
            <a:ext cx="1571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Administrative Function</a:t>
            </a:r>
          </a:p>
        </p:txBody>
      </p:sp>
      <p:sp>
        <p:nvSpPr>
          <p:cNvPr id="151" name="TextBox 150"/>
          <p:cNvSpPr txBox="1"/>
          <p:nvPr/>
        </p:nvSpPr>
        <p:spPr>
          <a:xfrm>
            <a:off x="4038600" y="2286000"/>
            <a:ext cx="21285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Operational Function</a:t>
            </a:r>
          </a:p>
        </p:txBody>
      </p:sp>
      <p:sp>
        <p:nvSpPr>
          <p:cNvPr id="152" name="TextBox 151"/>
          <p:cNvSpPr txBox="1"/>
          <p:nvPr/>
        </p:nvSpPr>
        <p:spPr>
          <a:xfrm>
            <a:off x="1066800" y="2512368"/>
            <a:ext cx="290512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850" dirty="0" smtClean="0"/>
              <a:t>Prime mover of the Vision, Mission and Corporate Core Values of the Organization.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 Leader with high integrity and a Quality driver, not only to F &amp; A functions &amp; Services, but also to all other departments.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Generalist &amp; Accountable to the overall result of the Finance &amp; Administration Department.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 and Responsible on the quality, strict implementation and execution of all F &amp; A standard policies and procedures.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Must possess sound and balance disposition in regards to personnel welfare and company’s interests.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Personally maintains and exemplify high moral values &amp; standards acceptable to the norms of the society and community where we operate.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 and responsible on providing an impartial, timely and objective execution of performance evaluation to all F &amp; A personnel</a:t>
            </a:r>
            <a:r>
              <a:rPr lang="en-US" sz="850" dirty="0"/>
              <a:t>.</a:t>
            </a:r>
            <a:endParaRPr lang="en-US" sz="850" dirty="0" smtClean="0"/>
          </a:p>
          <a:p>
            <a:pPr marL="228600" indent="-228600" algn="just">
              <a:buAutoNum type="arabicPeriod"/>
            </a:pPr>
            <a:r>
              <a:rPr lang="en-US" sz="850" dirty="0" smtClean="0"/>
              <a:t>Strictly maintains as the final review and decision in regards to all F &amp; A activities, plans and implementations.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Accountable, responsible and authorized to execute on all F &amp; A personnel the proper and standard execution of hiring, termination and issuance of sanctions.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Belonging to a Managerial Level, has the Administrative responsibility, accountability and authority to exercise administrative function to all other department’s personnel below the level of F &amp; A Manager.</a:t>
            </a:r>
          </a:p>
        </p:txBody>
      </p:sp>
      <p:sp>
        <p:nvSpPr>
          <p:cNvPr id="153" name="TextBox 152"/>
          <p:cNvSpPr txBox="1"/>
          <p:nvPr/>
        </p:nvSpPr>
        <p:spPr>
          <a:xfrm>
            <a:off x="4038600" y="2514600"/>
            <a:ext cx="4738844" cy="3885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850" dirty="0" smtClean="0"/>
              <a:t>Develop targets and progress reports, Check and review progress reports submitted by all F &amp; A Section Heads on a daily basis.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Have an In depth knowledge on details of all F &amp; A major functions</a:t>
            </a:r>
            <a:r>
              <a:rPr lang="en-US" sz="850" dirty="0"/>
              <a:t> </a:t>
            </a:r>
            <a:r>
              <a:rPr lang="en-US" sz="850" dirty="0" smtClean="0"/>
              <a:t>to be able to provide training, support and functional directives to F &amp; A.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Assess and make official decisions on all F &amp; A incoming and outgoing official transactions and management directives. 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Strictly implement and execute the standard F &amp; A function process flow chart of the following sections:</a:t>
            </a:r>
          </a:p>
          <a:p>
            <a:pPr algn="just"/>
            <a:r>
              <a:rPr lang="en-US" sz="850" dirty="0" smtClean="0"/>
              <a:t>           4.a. General Accounting – Treasury, General Accounting Procedures &amp; preparation of Financial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                                        Statements in line with GAAP for Analyst &amp; Top Management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                                        consumption and compliance to Government Regulatory Agencies.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4.b. Cost Management – Budget Analysist &amp; Production Cost Analysis in line with GAAP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                                      and Industry’s best practices.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4.c. Accounts Payable – Efficient Back Office Procedures &amp; Policies in terms of recognition of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                                    Accounts Payable, Aging of Accounts Payable &amp; Managing payment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                                    prioritization. Oversee all business compliances and Tax obligations.</a:t>
            </a:r>
          </a:p>
          <a:p>
            <a:pPr algn="just"/>
            <a:r>
              <a:rPr lang="en-US" sz="850" dirty="0" smtClean="0"/>
              <a:t>           4.d. Supply Chain – Oversee actual inventory physical distribution management. Set &amp; updates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                            Ordering-Re ordering Points. Implement best practices on Dynamics of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                            warehousing, </a:t>
            </a:r>
            <a:r>
              <a:rPr lang="en-US" sz="850" smtClean="0"/>
              <a:t>Logistics, property </a:t>
            </a:r>
            <a:r>
              <a:rPr lang="en-US" sz="850" dirty="0" smtClean="0"/>
              <a:t>control &amp; procurement.</a:t>
            </a:r>
          </a:p>
          <a:p>
            <a:pPr algn="just"/>
            <a:r>
              <a:rPr lang="en-US" sz="850" dirty="0" smtClean="0"/>
              <a:t> Accountable and Responsible on the quality, strict implementation and execution of all F &amp; A  standard internal controls policies and procedures.</a:t>
            </a:r>
            <a:endParaRPr lang="en-US" sz="850" dirty="0"/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Develop and regularly review all F &amp; A standard documentations, legal contracts and company mandatories as to its completeness and applicability.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Develop and regularly review all F &amp; A personnel on its Pre Employment, development and Post Employment Screening. </a:t>
            </a:r>
            <a:r>
              <a:rPr lang="en-US" sz="850" dirty="0"/>
              <a:t> </a:t>
            </a:r>
            <a:r>
              <a:rPr lang="en-US" sz="850" dirty="0" smtClean="0"/>
              <a:t>Align personnel to their career path for them to develop.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Insure security on a daily basis all F &amp; A documents and make F &amp; A section heads to be accountable on their specifics tasks &amp; responsibilities.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Strictly implement and follow department functional structure and leveling as well as overall organizational structure.</a:t>
            </a:r>
          </a:p>
        </p:txBody>
      </p:sp>
      <p:cxnSp>
        <p:nvCxnSpPr>
          <p:cNvPr id="24" name="Straight Connector 23"/>
          <p:cNvCxnSpPr/>
          <p:nvPr/>
        </p:nvCxnSpPr>
        <p:spPr>
          <a:xfrm flipH="1">
            <a:off x="4014060" y="1747156"/>
            <a:ext cx="2" cy="30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Rectangle 20"/>
          <p:cNvSpPr/>
          <p:nvPr/>
        </p:nvSpPr>
        <p:spPr>
          <a:xfrm>
            <a:off x="3681425" y="1878579"/>
            <a:ext cx="723900" cy="3033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TextBox 21"/>
          <p:cNvSpPr txBox="1"/>
          <p:nvPr/>
        </p:nvSpPr>
        <p:spPr>
          <a:xfrm>
            <a:off x="3551318" y="1895295"/>
            <a:ext cx="904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General Accounting Section Head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366652" y="1089424"/>
            <a:ext cx="990600" cy="4099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7" name="TextBox 26"/>
          <p:cNvSpPr txBox="1"/>
          <p:nvPr/>
        </p:nvSpPr>
        <p:spPr>
          <a:xfrm>
            <a:off x="5366652" y="1125106"/>
            <a:ext cx="99060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Supply Chain</a:t>
            </a:r>
          </a:p>
          <a:p>
            <a:pPr algn="ctr"/>
            <a:r>
              <a:rPr lang="en-US" sz="800" b="1" dirty="0" smtClean="0"/>
              <a:t>Manager</a:t>
            </a:r>
          </a:p>
        </p:txBody>
      </p:sp>
      <p:cxnSp>
        <p:nvCxnSpPr>
          <p:cNvPr id="37" name="Straight Connector 36"/>
          <p:cNvCxnSpPr/>
          <p:nvPr/>
        </p:nvCxnSpPr>
        <p:spPr>
          <a:xfrm flipV="1">
            <a:off x="4955215" y="1746626"/>
            <a:ext cx="1802045" cy="16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Rectangle 37"/>
          <p:cNvSpPr/>
          <p:nvPr/>
        </p:nvSpPr>
        <p:spPr>
          <a:xfrm>
            <a:off x="4593265" y="1889479"/>
            <a:ext cx="723900" cy="3033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TextBox 38"/>
          <p:cNvSpPr txBox="1"/>
          <p:nvPr/>
        </p:nvSpPr>
        <p:spPr>
          <a:xfrm>
            <a:off x="4570883" y="1863427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Warehouse &amp; Property Section Head</a:t>
            </a:r>
          </a:p>
        </p:txBody>
      </p:sp>
      <p:cxnSp>
        <p:nvCxnSpPr>
          <p:cNvPr id="40" name="Straight Connector 39"/>
          <p:cNvCxnSpPr>
            <a:endCxn id="38" idx="0"/>
          </p:cNvCxnSpPr>
          <p:nvPr/>
        </p:nvCxnSpPr>
        <p:spPr>
          <a:xfrm>
            <a:off x="4955215" y="1750845"/>
            <a:ext cx="0" cy="13863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Rectangle 40"/>
          <p:cNvSpPr/>
          <p:nvPr/>
        </p:nvSpPr>
        <p:spPr>
          <a:xfrm>
            <a:off x="5499673" y="1877604"/>
            <a:ext cx="723900" cy="3033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TextBox 41"/>
          <p:cNvSpPr txBox="1"/>
          <p:nvPr/>
        </p:nvSpPr>
        <p:spPr>
          <a:xfrm>
            <a:off x="5419249" y="1885373"/>
            <a:ext cx="904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Logistics</a:t>
            </a:r>
          </a:p>
          <a:p>
            <a:pPr algn="ctr"/>
            <a:r>
              <a:rPr lang="en-US" sz="600" b="1" dirty="0" smtClean="0"/>
              <a:t>Section Head</a:t>
            </a:r>
          </a:p>
        </p:txBody>
      </p:sp>
      <p:cxnSp>
        <p:nvCxnSpPr>
          <p:cNvPr id="43" name="Straight Connector 42"/>
          <p:cNvCxnSpPr/>
          <p:nvPr/>
        </p:nvCxnSpPr>
        <p:spPr>
          <a:xfrm flipH="1">
            <a:off x="6757260" y="1746182"/>
            <a:ext cx="2" cy="3035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4" name="Rectangle 43"/>
          <p:cNvSpPr/>
          <p:nvPr/>
        </p:nvSpPr>
        <p:spPr>
          <a:xfrm>
            <a:off x="6424625" y="1877605"/>
            <a:ext cx="723900" cy="303370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6340411" y="1890789"/>
            <a:ext cx="904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Procurement Section Head</a:t>
            </a:r>
          </a:p>
        </p:txBody>
      </p:sp>
      <p:cxnSp>
        <p:nvCxnSpPr>
          <p:cNvPr id="47" name="Straight Connector 46"/>
          <p:cNvCxnSpPr>
            <a:stCxn id="5" idx="3"/>
            <a:endCxn id="27" idx="1"/>
          </p:cNvCxnSpPr>
          <p:nvPr/>
        </p:nvCxnSpPr>
        <p:spPr>
          <a:xfrm flipV="1">
            <a:off x="3648013" y="1294383"/>
            <a:ext cx="1718639" cy="325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92868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Rectangle 65"/>
          <p:cNvSpPr/>
          <p:nvPr/>
        </p:nvSpPr>
        <p:spPr>
          <a:xfrm>
            <a:off x="76200" y="1367909"/>
            <a:ext cx="8935594" cy="101265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7" name="Rectangle 66"/>
          <p:cNvSpPr/>
          <p:nvPr/>
        </p:nvSpPr>
        <p:spPr>
          <a:xfrm>
            <a:off x="76200" y="3133468"/>
            <a:ext cx="8935594" cy="2173318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8" name="Rectangle 67"/>
          <p:cNvSpPr/>
          <p:nvPr/>
        </p:nvSpPr>
        <p:spPr>
          <a:xfrm>
            <a:off x="76200" y="2377541"/>
            <a:ext cx="8935594" cy="173725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69" name="TextBox 68"/>
          <p:cNvSpPr txBox="1"/>
          <p:nvPr/>
        </p:nvSpPr>
        <p:spPr>
          <a:xfrm>
            <a:off x="219074" y="2542401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Top Management</a:t>
            </a:r>
            <a:endParaRPr lang="en-US" sz="1200" dirty="0"/>
          </a:p>
        </p:txBody>
      </p:sp>
      <p:sp>
        <p:nvSpPr>
          <p:cNvPr id="70" name="TextBox 69"/>
          <p:cNvSpPr txBox="1"/>
          <p:nvPr/>
        </p:nvSpPr>
        <p:spPr>
          <a:xfrm>
            <a:off x="110644" y="4186535"/>
            <a:ext cx="1326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Middle </a:t>
            </a:r>
          </a:p>
          <a:p>
            <a:pPr algn="ctr"/>
            <a:r>
              <a:rPr lang="en-US" sz="1200" dirty="0" smtClean="0"/>
              <a:t>Management</a:t>
            </a:r>
            <a:endParaRPr lang="en-US" sz="1200" dirty="0"/>
          </a:p>
        </p:txBody>
      </p:sp>
      <p:sp>
        <p:nvSpPr>
          <p:cNvPr id="71" name="TextBox 70"/>
          <p:cNvSpPr txBox="1"/>
          <p:nvPr/>
        </p:nvSpPr>
        <p:spPr>
          <a:xfrm>
            <a:off x="219074" y="1524000"/>
            <a:ext cx="2066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Board / Executive Committee</a:t>
            </a:r>
            <a:endParaRPr lang="en-US" sz="1200" dirty="0"/>
          </a:p>
        </p:txBody>
      </p:sp>
      <p:cxnSp>
        <p:nvCxnSpPr>
          <p:cNvPr id="99" name="Straight Connector 98"/>
          <p:cNvCxnSpPr/>
          <p:nvPr/>
        </p:nvCxnSpPr>
        <p:spPr>
          <a:xfrm flipH="1" flipV="1">
            <a:off x="6182832" y="4831398"/>
            <a:ext cx="1962" cy="94559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Connector 62"/>
          <p:cNvCxnSpPr>
            <a:stCxn id="83" idx="2"/>
          </p:cNvCxnSpPr>
          <p:nvPr/>
        </p:nvCxnSpPr>
        <p:spPr>
          <a:xfrm flipH="1" flipV="1">
            <a:off x="5017860" y="4843409"/>
            <a:ext cx="708" cy="10855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1" name="Straight Connector 80"/>
          <p:cNvCxnSpPr/>
          <p:nvPr/>
        </p:nvCxnSpPr>
        <p:spPr>
          <a:xfrm flipH="1">
            <a:off x="3652340" y="4192365"/>
            <a:ext cx="2001" cy="64704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4" name="Straight Connector 63"/>
          <p:cNvCxnSpPr>
            <a:endCxn id="56" idx="0"/>
          </p:cNvCxnSpPr>
          <p:nvPr/>
        </p:nvCxnSpPr>
        <p:spPr>
          <a:xfrm>
            <a:off x="7651355" y="4191000"/>
            <a:ext cx="543" cy="156872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>
            <a:endCxn id="90" idx="0"/>
          </p:cNvCxnSpPr>
          <p:nvPr/>
        </p:nvCxnSpPr>
        <p:spPr>
          <a:xfrm flipH="1">
            <a:off x="2288215" y="4192263"/>
            <a:ext cx="5866" cy="7621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/>
          <p:cNvCxnSpPr/>
          <p:nvPr/>
        </p:nvCxnSpPr>
        <p:spPr>
          <a:xfrm flipH="1">
            <a:off x="5637422" y="4192263"/>
            <a:ext cx="1380" cy="65515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>
            <a:stCxn id="43" idx="2"/>
          </p:cNvCxnSpPr>
          <p:nvPr/>
        </p:nvCxnSpPr>
        <p:spPr>
          <a:xfrm>
            <a:off x="4400550" y="2104311"/>
            <a:ext cx="0" cy="20880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913331" y="3581400"/>
            <a:ext cx="990600" cy="4099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913331" y="3500452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b="1" dirty="0" smtClean="0"/>
          </a:p>
          <a:p>
            <a:pPr algn="ctr"/>
            <a:r>
              <a:rPr lang="en-US" sz="800" b="1" dirty="0" smtClean="0"/>
              <a:t>Production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5302890" y="4318457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3894281" y="2620089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>
          <a:xfrm>
            <a:off x="2817730" y="3304401"/>
            <a:ext cx="7832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TextBox 12"/>
          <p:cNvSpPr txBox="1"/>
          <p:nvPr/>
        </p:nvSpPr>
        <p:spPr>
          <a:xfrm>
            <a:off x="3894281" y="2620089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General</a:t>
            </a:r>
          </a:p>
          <a:p>
            <a:pPr algn="ctr"/>
            <a:r>
              <a:rPr lang="en-US" sz="1200" b="1" dirty="0" smtClean="0"/>
              <a:t>Manager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825266" y="3304401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Executive</a:t>
            </a:r>
          </a:p>
          <a:p>
            <a:pPr algn="ctr"/>
            <a:r>
              <a:rPr lang="en-US" sz="600" b="1" dirty="0" smtClean="0"/>
              <a:t>Assistant Office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415" y="4343399"/>
            <a:ext cx="904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Baking Center</a:t>
            </a:r>
          </a:p>
          <a:p>
            <a:pPr algn="ctr"/>
            <a:r>
              <a:rPr lang="en-US" sz="600" b="1" dirty="0" smtClean="0"/>
              <a:t>Head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654341" y="4194975"/>
            <a:ext cx="3991707" cy="69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>
            <a:stCxn id="14" idx="3"/>
          </p:cNvCxnSpPr>
          <p:nvPr/>
        </p:nvCxnSpPr>
        <p:spPr>
          <a:xfrm>
            <a:off x="3608531" y="3442901"/>
            <a:ext cx="800100" cy="0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247650" y="5715000"/>
            <a:ext cx="1009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Legend:</a:t>
            </a:r>
            <a:endParaRPr lang="en-US" sz="1200" dirty="0"/>
          </a:p>
        </p:txBody>
      </p:sp>
      <p:sp>
        <p:nvSpPr>
          <p:cNvPr id="20" name="Rectangle 19"/>
          <p:cNvSpPr/>
          <p:nvPr/>
        </p:nvSpPr>
        <p:spPr>
          <a:xfrm>
            <a:off x="952500" y="5806589"/>
            <a:ext cx="381000" cy="1253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955086" y="6043790"/>
            <a:ext cx="381000" cy="125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1333499" y="6204466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Vacant </a:t>
            </a:r>
            <a:endParaRPr lang="en-US" sz="600" dirty="0"/>
          </a:p>
        </p:txBody>
      </p:sp>
      <p:sp>
        <p:nvSpPr>
          <p:cNvPr id="24" name="TextBox 23"/>
          <p:cNvSpPr txBox="1"/>
          <p:nvPr/>
        </p:nvSpPr>
        <p:spPr>
          <a:xfrm>
            <a:off x="1333500" y="6019800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Specific functions hold by designated personnel.</a:t>
            </a:r>
            <a:endParaRPr lang="en-US" sz="600" dirty="0"/>
          </a:p>
        </p:txBody>
      </p:sp>
      <p:sp>
        <p:nvSpPr>
          <p:cNvPr id="25" name="TextBox 24"/>
          <p:cNvSpPr txBox="1"/>
          <p:nvPr/>
        </p:nvSpPr>
        <p:spPr>
          <a:xfrm>
            <a:off x="876300" y="152400"/>
            <a:ext cx="7353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 ORGANIZATIONAL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JATHNIER CORPORATION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RBS TOP LEVEL MANAGEMENT &amp; PRODUCTION DEPARTMENT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7" name="Rectangle 26"/>
          <p:cNvSpPr/>
          <p:nvPr/>
        </p:nvSpPr>
        <p:spPr>
          <a:xfrm>
            <a:off x="1932131" y="4330897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910866" y="4343400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Inventory / Cost </a:t>
            </a:r>
          </a:p>
          <a:p>
            <a:pPr algn="ctr"/>
            <a:r>
              <a:rPr lang="en-US" sz="600" b="1" dirty="0" smtClean="0"/>
              <a:t>Analyst</a:t>
            </a:r>
          </a:p>
        </p:txBody>
      </p:sp>
      <p:sp>
        <p:nvSpPr>
          <p:cNvPr id="44" name="Rectangle 43"/>
          <p:cNvSpPr/>
          <p:nvPr/>
        </p:nvSpPr>
        <p:spPr>
          <a:xfrm>
            <a:off x="4720040" y="4954430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4669465" y="4935379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Baking Center Supervisors</a:t>
            </a:r>
          </a:p>
        </p:txBody>
      </p:sp>
      <p:sp>
        <p:nvSpPr>
          <p:cNvPr id="84" name="Rectangle 83"/>
          <p:cNvSpPr/>
          <p:nvPr/>
        </p:nvSpPr>
        <p:spPr>
          <a:xfrm>
            <a:off x="955086" y="6231523"/>
            <a:ext cx="381000" cy="1253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TextBox 84"/>
          <p:cNvSpPr txBox="1"/>
          <p:nvPr/>
        </p:nvSpPr>
        <p:spPr>
          <a:xfrm>
            <a:off x="1333499" y="5791200"/>
            <a:ext cx="307513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err="1" smtClean="0"/>
              <a:t>Dacudao</a:t>
            </a:r>
            <a:r>
              <a:rPr lang="en-US" sz="600" dirty="0" smtClean="0"/>
              <a:t> Baking Center under Production Manager, </a:t>
            </a:r>
            <a:r>
              <a:rPr lang="en-US" sz="600" dirty="0" err="1" smtClean="0"/>
              <a:t>Toril</a:t>
            </a:r>
            <a:r>
              <a:rPr lang="en-US" sz="600" dirty="0" smtClean="0"/>
              <a:t> &amp; </a:t>
            </a:r>
            <a:r>
              <a:rPr lang="en-US" sz="600" dirty="0" err="1" smtClean="0"/>
              <a:t>Calinan</a:t>
            </a:r>
            <a:r>
              <a:rPr lang="en-US" sz="600" dirty="0" smtClean="0"/>
              <a:t> Baking Centers overseen by Cluster Heads.</a:t>
            </a:r>
            <a:endParaRPr lang="en-US" sz="600" dirty="0"/>
          </a:p>
        </p:txBody>
      </p:sp>
      <p:sp>
        <p:nvSpPr>
          <p:cNvPr id="86" name="Rectangle 85"/>
          <p:cNvSpPr/>
          <p:nvPr/>
        </p:nvSpPr>
        <p:spPr>
          <a:xfrm>
            <a:off x="3284681" y="4337942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3252441" y="4307446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Quality</a:t>
            </a:r>
          </a:p>
          <a:p>
            <a:pPr algn="ctr"/>
            <a:r>
              <a:rPr lang="en-US" sz="600" b="1" dirty="0" smtClean="0"/>
              <a:t>Assurance</a:t>
            </a:r>
          </a:p>
          <a:p>
            <a:pPr algn="ctr"/>
            <a:r>
              <a:rPr lang="en-US" sz="600" b="1" dirty="0" smtClean="0"/>
              <a:t>Officer</a:t>
            </a:r>
          </a:p>
        </p:txBody>
      </p:sp>
      <p:sp>
        <p:nvSpPr>
          <p:cNvPr id="90" name="Rectangle 89"/>
          <p:cNvSpPr/>
          <p:nvPr/>
        </p:nvSpPr>
        <p:spPr>
          <a:xfrm>
            <a:off x="1926265" y="4954430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1" name="TextBox 90"/>
          <p:cNvSpPr txBox="1"/>
          <p:nvPr/>
        </p:nvSpPr>
        <p:spPr>
          <a:xfrm>
            <a:off x="1905966" y="5009828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Analyst Staff</a:t>
            </a:r>
          </a:p>
        </p:txBody>
      </p:sp>
      <p:sp>
        <p:nvSpPr>
          <p:cNvPr id="97" name="Rectangle 96"/>
          <p:cNvSpPr/>
          <p:nvPr/>
        </p:nvSpPr>
        <p:spPr>
          <a:xfrm>
            <a:off x="5914051" y="4946422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/>
          <p:cNvSpPr txBox="1"/>
          <p:nvPr/>
        </p:nvSpPr>
        <p:spPr>
          <a:xfrm>
            <a:off x="5867400" y="4922202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Bake Technician</a:t>
            </a:r>
          </a:p>
          <a:p>
            <a:pPr algn="ctr"/>
            <a:r>
              <a:rPr lang="en-US" sz="500" b="1" dirty="0" smtClean="0"/>
              <a:t>Supervisor</a:t>
            </a:r>
          </a:p>
        </p:txBody>
      </p:sp>
      <p:cxnSp>
        <p:nvCxnSpPr>
          <p:cNvPr id="105" name="Straight Connector 104"/>
          <p:cNvCxnSpPr/>
          <p:nvPr/>
        </p:nvCxnSpPr>
        <p:spPr>
          <a:xfrm flipV="1">
            <a:off x="5012718" y="4837190"/>
            <a:ext cx="1160341" cy="26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Rectangle 42"/>
          <p:cNvSpPr/>
          <p:nvPr/>
        </p:nvSpPr>
        <p:spPr>
          <a:xfrm>
            <a:off x="3886200" y="1600200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5" name="TextBox 44"/>
          <p:cNvSpPr txBox="1"/>
          <p:nvPr/>
        </p:nvSpPr>
        <p:spPr>
          <a:xfrm>
            <a:off x="3886200" y="1563715"/>
            <a:ext cx="10287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VP/</a:t>
            </a:r>
          </a:p>
          <a:p>
            <a:pPr algn="ctr"/>
            <a:r>
              <a:rPr lang="en-US" sz="1050" b="1" dirty="0" smtClean="0"/>
              <a:t>Operations Director</a:t>
            </a:r>
          </a:p>
        </p:txBody>
      </p:sp>
      <p:sp>
        <p:nvSpPr>
          <p:cNvPr id="46" name="Rectangle 45"/>
          <p:cNvSpPr/>
          <p:nvPr/>
        </p:nvSpPr>
        <p:spPr>
          <a:xfrm>
            <a:off x="6705600" y="1600200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7" name="TextBox 46"/>
          <p:cNvSpPr txBox="1"/>
          <p:nvPr/>
        </p:nvSpPr>
        <p:spPr>
          <a:xfrm>
            <a:off x="6705600" y="1704201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President</a:t>
            </a:r>
          </a:p>
        </p:txBody>
      </p:sp>
      <p:cxnSp>
        <p:nvCxnSpPr>
          <p:cNvPr id="48" name="Straight Connector 47"/>
          <p:cNvCxnSpPr>
            <a:stCxn id="43" idx="3"/>
            <a:endCxn id="47" idx="1"/>
          </p:cNvCxnSpPr>
          <p:nvPr/>
        </p:nvCxnSpPr>
        <p:spPr>
          <a:xfrm flipV="1">
            <a:off x="4914900" y="1842701"/>
            <a:ext cx="1790700" cy="95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 48"/>
          <p:cNvSpPr/>
          <p:nvPr/>
        </p:nvSpPr>
        <p:spPr>
          <a:xfrm>
            <a:off x="7262825" y="4318457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7172350" y="4387334"/>
            <a:ext cx="9048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Material Controller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7381190" y="5745817"/>
            <a:ext cx="529716" cy="19778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6" name="TextBox 55"/>
          <p:cNvSpPr txBox="1"/>
          <p:nvPr/>
        </p:nvSpPr>
        <p:spPr>
          <a:xfrm>
            <a:off x="7336465" y="5759725"/>
            <a:ext cx="63086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Helper</a:t>
            </a:r>
          </a:p>
        </p:txBody>
      </p:sp>
      <p:sp>
        <p:nvSpPr>
          <p:cNvPr id="88" name="Rectangle 87"/>
          <p:cNvSpPr/>
          <p:nvPr/>
        </p:nvSpPr>
        <p:spPr>
          <a:xfrm>
            <a:off x="4317775" y="5353051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9" name="TextBox 88"/>
          <p:cNvSpPr txBox="1"/>
          <p:nvPr/>
        </p:nvSpPr>
        <p:spPr>
          <a:xfrm>
            <a:off x="4267200" y="5334000"/>
            <a:ext cx="65578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Operators/Bakers/</a:t>
            </a:r>
            <a:r>
              <a:rPr lang="en-US" sz="500" b="1" dirty="0" err="1" smtClean="0"/>
              <a:t>Cakeman</a:t>
            </a:r>
            <a:endParaRPr lang="en-US" sz="500" b="1" dirty="0" smtClean="0"/>
          </a:p>
        </p:txBody>
      </p:sp>
      <p:pic>
        <p:nvPicPr>
          <p:cNvPr id="96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59933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5" name="Rectangle 64"/>
          <p:cNvSpPr/>
          <p:nvPr/>
        </p:nvSpPr>
        <p:spPr>
          <a:xfrm>
            <a:off x="5155975" y="5353051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2" name="TextBox 71"/>
          <p:cNvSpPr txBox="1"/>
          <p:nvPr/>
        </p:nvSpPr>
        <p:spPr>
          <a:xfrm>
            <a:off x="5105400" y="5334000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Decorator/</a:t>
            </a:r>
          </a:p>
          <a:p>
            <a:pPr algn="ctr"/>
            <a:r>
              <a:rPr lang="en-US" sz="500" b="1" dirty="0" err="1" smtClean="0"/>
              <a:t>Preparator</a:t>
            </a:r>
            <a:endParaRPr lang="en-US" sz="500" b="1" dirty="0" smtClean="0"/>
          </a:p>
        </p:txBody>
      </p:sp>
      <p:cxnSp>
        <p:nvCxnSpPr>
          <p:cNvPr id="73" name="Straight Connector 72"/>
          <p:cNvCxnSpPr/>
          <p:nvPr/>
        </p:nvCxnSpPr>
        <p:spPr>
          <a:xfrm flipV="1">
            <a:off x="4614107" y="5255798"/>
            <a:ext cx="806725" cy="236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Connector 73"/>
          <p:cNvCxnSpPr/>
          <p:nvPr/>
        </p:nvCxnSpPr>
        <p:spPr>
          <a:xfrm flipV="1">
            <a:off x="5425571" y="5258981"/>
            <a:ext cx="0" cy="91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5" name="Straight Connector 74"/>
          <p:cNvCxnSpPr/>
          <p:nvPr/>
        </p:nvCxnSpPr>
        <p:spPr>
          <a:xfrm flipH="1" flipV="1">
            <a:off x="4620225" y="5258583"/>
            <a:ext cx="1" cy="9197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8" name="Rectangle 77"/>
          <p:cNvSpPr/>
          <p:nvPr/>
        </p:nvSpPr>
        <p:spPr>
          <a:xfrm>
            <a:off x="5908201" y="5745817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9" name="TextBox 78"/>
          <p:cNvSpPr txBox="1"/>
          <p:nvPr/>
        </p:nvSpPr>
        <p:spPr>
          <a:xfrm>
            <a:off x="5867400" y="5725394"/>
            <a:ext cx="6308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Bake Technicians</a:t>
            </a:r>
          </a:p>
        </p:txBody>
      </p:sp>
      <p:sp>
        <p:nvSpPr>
          <p:cNvPr id="82" name="Rectangle 81"/>
          <p:cNvSpPr/>
          <p:nvPr/>
        </p:nvSpPr>
        <p:spPr>
          <a:xfrm>
            <a:off x="4747860" y="5745817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3" name="TextBox 82"/>
          <p:cNvSpPr txBox="1"/>
          <p:nvPr/>
        </p:nvSpPr>
        <p:spPr>
          <a:xfrm>
            <a:off x="4703135" y="5759725"/>
            <a:ext cx="63086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Utility</a:t>
            </a:r>
          </a:p>
        </p:txBody>
      </p:sp>
      <p:cxnSp>
        <p:nvCxnSpPr>
          <p:cNvPr id="100" name="Straight Connector 99"/>
          <p:cNvCxnSpPr/>
          <p:nvPr/>
        </p:nvCxnSpPr>
        <p:spPr>
          <a:xfrm flipV="1">
            <a:off x="2286008" y="4190341"/>
            <a:ext cx="1360623" cy="2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Straight Connector 103"/>
          <p:cNvCxnSpPr/>
          <p:nvPr/>
        </p:nvCxnSpPr>
        <p:spPr>
          <a:xfrm flipV="1">
            <a:off x="3215462" y="4841193"/>
            <a:ext cx="823138" cy="622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6" name="Straight Connector 105"/>
          <p:cNvCxnSpPr>
            <a:stCxn id="93" idx="0"/>
          </p:cNvCxnSpPr>
          <p:nvPr/>
        </p:nvCxnSpPr>
        <p:spPr>
          <a:xfrm flipV="1">
            <a:off x="3215463" y="4847413"/>
            <a:ext cx="1435" cy="14576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Connector 106"/>
          <p:cNvCxnSpPr/>
          <p:nvPr/>
        </p:nvCxnSpPr>
        <p:spPr>
          <a:xfrm flipV="1">
            <a:off x="4031933" y="4842373"/>
            <a:ext cx="2772" cy="15080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2" name="Rectangle 91"/>
          <p:cNvSpPr/>
          <p:nvPr/>
        </p:nvSpPr>
        <p:spPr>
          <a:xfrm>
            <a:off x="2918923" y="4955155"/>
            <a:ext cx="599874" cy="2479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3" name="TextBox 92"/>
          <p:cNvSpPr txBox="1"/>
          <p:nvPr/>
        </p:nvSpPr>
        <p:spPr>
          <a:xfrm>
            <a:off x="2823830" y="4993179"/>
            <a:ext cx="78326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Quality Control</a:t>
            </a:r>
          </a:p>
        </p:txBody>
      </p:sp>
      <p:sp>
        <p:nvSpPr>
          <p:cNvPr id="102" name="Rectangle 101"/>
          <p:cNvSpPr/>
          <p:nvPr/>
        </p:nvSpPr>
        <p:spPr>
          <a:xfrm>
            <a:off x="3812058" y="4955155"/>
            <a:ext cx="599874" cy="247972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" name="TextBox 102"/>
          <p:cNvSpPr txBox="1"/>
          <p:nvPr/>
        </p:nvSpPr>
        <p:spPr>
          <a:xfrm>
            <a:off x="3712535" y="4967816"/>
            <a:ext cx="7832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/>
              <a:t>Research</a:t>
            </a:r>
            <a:r>
              <a:rPr lang="en-US" sz="500" b="1" dirty="0"/>
              <a:t> </a:t>
            </a:r>
            <a:r>
              <a:rPr lang="en-US" sz="500" b="1" dirty="0" smtClean="0"/>
              <a:t>and</a:t>
            </a:r>
          </a:p>
          <a:p>
            <a:pPr algn="ctr"/>
            <a:r>
              <a:rPr lang="en-US" sz="500" b="1" dirty="0" smtClean="0"/>
              <a:t>Development</a:t>
            </a:r>
          </a:p>
        </p:txBody>
      </p:sp>
    </p:spTree>
    <p:extLst>
      <p:ext uri="{BB962C8B-B14F-4D97-AF65-F5344CB8AC3E}">
        <p14:creationId xmlns:p14="http://schemas.microsoft.com/office/powerpoint/2010/main" val="13991749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4" name="Straight Connector 103"/>
          <p:cNvCxnSpPr/>
          <p:nvPr/>
        </p:nvCxnSpPr>
        <p:spPr>
          <a:xfrm>
            <a:off x="7333167" y="1560351"/>
            <a:ext cx="0" cy="199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/>
          <p:nvPr/>
        </p:nvCxnSpPr>
        <p:spPr>
          <a:xfrm>
            <a:off x="4823958" y="1555977"/>
            <a:ext cx="0" cy="199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3263073" y="1556005"/>
            <a:ext cx="0" cy="199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1" name="Straight Connector 100"/>
          <p:cNvCxnSpPr/>
          <p:nvPr/>
        </p:nvCxnSpPr>
        <p:spPr>
          <a:xfrm>
            <a:off x="1989730" y="1549022"/>
            <a:ext cx="0" cy="199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>
            <a:stCxn id="8" idx="2"/>
          </p:cNvCxnSpPr>
          <p:nvPr/>
        </p:nvCxnSpPr>
        <p:spPr>
          <a:xfrm>
            <a:off x="4305300" y="1353607"/>
            <a:ext cx="0" cy="199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3810000" y="943689"/>
            <a:ext cx="990600" cy="4099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TextBox 8"/>
          <p:cNvSpPr txBox="1"/>
          <p:nvPr/>
        </p:nvSpPr>
        <p:spPr>
          <a:xfrm>
            <a:off x="3810000" y="862741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b="1" dirty="0" smtClean="0"/>
          </a:p>
          <a:p>
            <a:pPr algn="ctr"/>
            <a:r>
              <a:rPr lang="en-US" sz="800" b="1" dirty="0" smtClean="0"/>
              <a:t>Production Manager</a:t>
            </a:r>
          </a:p>
        </p:txBody>
      </p:sp>
      <p:sp>
        <p:nvSpPr>
          <p:cNvPr id="10" name="Rectangle 9"/>
          <p:cNvSpPr/>
          <p:nvPr/>
        </p:nvSpPr>
        <p:spPr>
          <a:xfrm>
            <a:off x="4465299" y="1680718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TextBox 14"/>
          <p:cNvSpPr txBox="1"/>
          <p:nvPr/>
        </p:nvSpPr>
        <p:spPr>
          <a:xfrm>
            <a:off x="4374824" y="1705660"/>
            <a:ext cx="904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Baking Center</a:t>
            </a:r>
          </a:p>
          <a:p>
            <a:pPr algn="ctr"/>
            <a:r>
              <a:rPr lang="en-US" sz="600" b="1" dirty="0" smtClean="0"/>
              <a:t>Head</a:t>
            </a:r>
          </a:p>
        </p:txBody>
      </p:sp>
      <p:cxnSp>
        <p:nvCxnSpPr>
          <p:cNvPr id="16" name="Straight Connector 15"/>
          <p:cNvCxnSpPr/>
          <p:nvPr/>
        </p:nvCxnSpPr>
        <p:spPr>
          <a:xfrm>
            <a:off x="3263073" y="1553041"/>
            <a:ext cx="4070094" cy="592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7" name="Rectangle 26"/>
          <p:cNvSpPr/>
          <p:nvPr/>
        </p:nvSpPr>
        <p:spPr>
          <a:xfrm>
            <a:off x="1551131" y="1693186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TextBox 27"/>
          <p:cNvSpPr txBox="1"/>
          <p:nvPr/>
        </p:nvSpPr>
        <p:spPr>
          <a:xfrm>
            <a:off x="1529866" y="1705689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Inventory / Cost</a:t>
            </a:r>
          </a:p>
          <a:p>
            <a:pPr algn="ctr"/>
            <a:r>
              <a:rPr lang="en-US" sz="600" b="1" dirty="0" smtClean="0"/>
              <a:t>Analyst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903681" y="1700231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7" name="TextBox 86"/>
          <p:cNvSpPr txBox="1"/>
          <p:nvPr/>
        </p:nvSpPr>
        <p:spPr>
          <a:xfrm>
            <a:off x="2871441" y="1669735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Quality</a:t>
            </a:r>
          </a:p>
          <a:p>
            <a:pPr algn="ctr"/>
            <a:r>
              <a:rPr lang="en-US" sz="600" b="1" dirty="0" smtClean="0"/>
              <a:t>Assurance</a:t>
            </a:r>
          </a:p>
          <a:p>
            <a:pPr algn="ctr"/>
            <a:r>
              <a:rPr lang="en-US" sz="600" b="1" dirty="0" smtClean="0"/>
              <a:t>Officer</a:t>
            </a:r>
          </a:p>
        </p:txBody>
      </p:sp>
      <p:sp>
        <p:nvSpPr>
          <p:cNvPr id="49" name="Rectangle 48"/>
          <p:cNvSpPr/>
          <p:nvPr/>
        </p:nvSpPr>
        <p:spPr>
          <a:xfrm>
            <a:off x="6881825" y="1680746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6791350" y="1749623"/>
            <a:ext cx="904850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Material Control</a:t>
            </a:r>
          </a:p>
        </p:txBody>
      </p:sp>
      <p:pic>
        <p:nvPicPr>
          <p:cNvPr id="96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65794" y="685800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0" name="TextBox 99"/>
          <p:cNvSpPr txBox="1"/>
          <p:nvPr/>
        </p:nvSpPr>
        <p:spPr>
          <a:xfrm>
            <a:off x="914400" y="76200"/>
            <a:ext cx="723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JATHNIER CORPORATION PRODUCTION DEPARTMENT FUNCTIONS, ACCOUNTABILITIES AND DELIVERABLES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106" name="TextBox 105"/>
          <p:cNvSpPr txBox="1"/>
          <p:nvPr/>
        </p:nvSpPr>
        <p:spPr>
          <a:xfrm>
            <a:off x="219074" y="2286000"/>
            <a:ext cx="122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Production </a:t>
            </a:r>
          </a:p>
          <a:p>
            <a:r>
              <a:rPr lang="en-US" sz="900" b="1" dirty="0" smtClean="0"/>
              <a:t>Manager</a:t>
            </a:r>
            <a:endParaRPr lang="en-US" sz="900" b="1" dirty="0"/>
          </a:p>
        </p:txBody>
      </p:sp>
      <p:sp>
        <p:nvSpPr>
          <p:cNvPr id="107" name="TextBox 106"/>
          <p:cNvSpPr txBox="1"/>
          <p:nvPr/>
        </p:nvSpPr>
        <p:spPr>
          <a:xfrm>
            <a:off x="976156" y="2286000"/>
            <a:ext cx="1571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Administrative Function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3947956" y="2286000"/>
            <a:ext cx="21285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Operational Function</a:t>
            </a:r>
          </a:p>
        </p:txBody>
      </p:sp>
      <p:sp>
        <p:nvSpPr>
          <p:cNvPr id="109" name="TextBox 108"/>
          <p:cNvSpPr txBox="1"/>
          <p:nvPr/>
        </p:nvSpPr>
        <p:spPr>
          <a:xfrm>
            <a:off x="976156" y="2512368"/>
            <a:ext cx="2905126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850" dirty="0" smtClean="0"/>
              <a:t>Prime mover of the Vision, Mission and Corporate Core Values of the Organization.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 Leader with Integrity and a Quality driver, not only to  Production functions &amp; Services, but also to all other departments.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Generalist &amp; Accountable to the overall result of the Production Department including Commissaries &amp; Store Production.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 and Responsible on the quality, strict implementation and execution of all Production Department standard policies and procedures.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Must possess sound and balance disposition in regards to personnel welfare and company’s interests.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Personally maintains and exemplify high moral values &amp; standards acceptable to the norms of the society and community where we operate.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 and responsible on providing an impartial, timely and objective execution of performance evaluation to all Production Department personnel</a:t>
            </a:r>
            <a:r>
              <a:rPr lang="en-US" sz="850" dirty="0"/>
              <a:t>.</a:t>
            </a:r>
            <a:endParaRPr lang="en-US" sz="850" dirty="0" smtClean="0"/>
          </a:p>
          <a:p>
            <a:pPr marL="228600" indent="-228600" algn="just">
              <a:buAutoNum type="arabicPeriod"/>
            </a:pPr>
            <a:r>
              <a:rPr lang="en-US" sz="850" dirty="0" smtClean="0"/>
              <a:t>Strictly maintains as the final review and decision in regards to all Production Department activities, plans and implementations.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Accountable, responsible and authorized to execute on all Production Department personnel the proper and standard execution of hiring, termination and issuance of sanctions.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Belonging to a Managerial Level, has the Administrative responsibility, accountability and authority to exercise administrative function to all other department’s personnel below the level of Production Manager.</a:t>
            </a:r>
          </a:p>
        </p:txBody>
      </p:sp>
      <p:sp>
        <p:nvSpPr>
          <p:cNvPr id="110" name="TextBox 109"/>
          <p:cNvSpPr txBox="1"/>
          <p:nvPr/>
        </p:nvSpPr>
        <p:spPr>
          <a:xfrm>
            <a:off x="3947956" y="2514600"/>
            <a:ext cx="4738844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850" dirty="0" smtClean="0"/>
              <a:t>Develop targets and progress reports, Check and review progress reports submitted by all Production Section Heads on a daily basis.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Have an In depth knowledge on details of all Production major functions</a:t>
            </a:r>
            <a:r>
              <a:rPr lang="en-US" sz="850" dirty="0"/>
              <a:t> </a:t>
            </a:r>
            <a:r>
              <a:rPr lang="en-US" sz="850" dirty="0" smtClean="0"/>
              <a:t>to be able to provide training, support and functional directives to the whole Production Department and Store Production.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Assess and make official decisions on all Production Department incoming and outgoing official transactions and management directives. 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Strictly implement, execute and follow standard Production process flow chart of the following Production Department sections, including Store Production:</a:t>
            </a:r>
          </a:p>
          <a:p>
            <a:pPr algn="just"/>
            <a:r>
              <a:rPr lang="en-US" sz="850" dirty="0" smtClean="0"/>
              <a:t>           4.a. Cost Analyst Section – Align with Cost Management Specialist. This section must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establish effective extraction, recording and timely reporting of data through its Material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Utilization Efficiency Analysis (MUE), Direct Manufacturing Cost (DMC) and Cost of Non-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Conformances (CONCS).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4.b. Quality Assurance – This section must develop and provide Quality Management Standards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(QMS) on Raw Materials, Production Process and Technology, Finish Product, Packaging,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Handling and Storage. For Commissaries and Store Production Area.</a:t>
            </a:r>
          </a:p>
          <a:p>
            <a:pPr algn="just"/>
            <a:r>
              <a:rPr lang="en-US" sz="850" dirty="0" smtClean="0"/>
              <a:t>          4.c.  Baking Center – Strictly implement all production process standards and controls.  Set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production forecast &amp; target output base on Store Operations Department requirements. 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Set regular daily &amp; periodic facility and equipment PM/BM activity.  Set daily orientation of    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BOSH standards and target ZERO accident. Sets Product Standards in the production line.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4.d. Material Control – Establish accountability and control on actual material availability,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issuance and usage to baking section, </a:t>
            </a:r>
            <a:r>
              <a:rPr lang="en-US" sz="850" dirty="0" err="1" smtClean="0"/>
              <a:t>PreMix</a:t>
            </a:r>
            <a:r>
              <a:rPr lang="en-US" sz="850" dirty="0" smtClean="0"/>
              <a:t> Section &amp; </a:t>
            </a:r>
            <a:r>
              <a:rPr lang="en-US" sz="850" dirty="0" err="1" smtClean="0"/>
              <a:t>Palaman</a:t>
            </a:r>
            <a:r>
              <a:rPr lang="en-US" sz="850" dirty="0" smtClean="0"/>
              <a:t> Section. Responsible &amp;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accountable on the storage, safety and inventory of raw materials issued to Production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Department.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Develop and regularly review all Production Department standard documentations and company mandatories as to its completeness and applicability.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Develop and regularly review all Production personnel on its Pre Employment, development and Post Employment Screening. </a:t>
            </a:r>
            <a:r>
              <a:rPr lang="en-US" sz="850" dirty="0"/>
              <a:t> </a:t>
            </a:r>
            <a:r>
              <a:rPr lang="en-US" sz="850" dirty="0" smtClean="0"/>
              <a:t>Align personnel to their career path for them to develop.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Insure security on a daily basis all documents and make  production section heads to be accountable on their specifics tasks &amp; responsibilities.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Strictly implement and follow department functional structure and leveling as well as overall organizational structure.</a:t>
            </a:r>
          </a:p>
        </p:txBody>
      </p:sp>
      <p:cxnSp>
        <p:nvCxnSpPr>
          <p:cNvPr id="26" name="Straight Connector 25"/>
          <p:cNvCxnSpPr/>
          <p:nvPr/>
        </p:nvCxnSpPr>
        <p:spPr>
          <a:xfrm flipV="1">
            <a:off x="1989729" y="1553041"/>
            <a:ext cx="1273343" cy="141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Connector 28"/>
          <p:cNvCxnSpPr/>
          <p:nvPr/>
        </p:nvCxnSpPr>
        <p:spPr>
          <a:xfrm>
            <a:off x="5630734" y="1553089"/>
            <a:ext cx="0" cy="199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Rectangle 29"/>
          <p:cNvSpPr/>
          <p:nvPr/>
        </p:nvSpPr>
        <p:spPr>
          <a:xfrm>
            <a:off x="5272075" y="1677830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5181600" y="1702772"/>
            <a:ext cx="904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Pre Mix</a:t>
            </a:r>
          </a:p>
          <a:p>
            <a:pPr algn="ctr"/>
            <a:r>
              <a:rPr lang="en-US" sz="600" b="1" dirty="0" smtClean="0"/>
              <a:t>Head</a:t>
            </a:r>
          </a:p>
        </p:txBody>
      </p:sp>
      <p:cxnSp>
        <p:nvCxnSpPr>
          <p:cNvPr id="32" name="Straight Connector 31"/>
          <p:cNvCxnSpPr/>
          <p:nvPr/>
        </p:nvCxnSpPr>
        <p:spPr>
          <a:xfrm>
            <a:off x="6416559" y="1559354"/>
            <a:ext cx="0" cy="199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Rectangle 32"/>
          <p:cNvSpPr/>
          <p:nvPr/>
        </p:nvSpPr>
        <p:spPr>
          <a:xfrm>
            <a:off x="6057900" y="1684095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5931738" y="1709037"/>
            <a:ext cx="904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Stuffed Ingredients</a:t>
            </a:r>
          </a:p>
          <a:p>
            <a:pPr algn="ctr"/>
            <a:r>
              <a:rPr lang="en-US" sz="600" b="1" dirty="0" smtClean="0"/>
              <a:t>Head</a:t>
            </a:r>
          </a:p>
        </p:txBody>
      </p:sp>
      <p:cxnSp>
        <p:nvCxnSpPr>
          <p:cNvPr id="35" name="Straight Connector 34"/>
          <p:cNvCxnSpPr/>
          <p:nvPr/>
        </p:nvCxnSpPr>
        <p:spPr>
          <a:xfrm>
            <a:off x="4038867" y="1552917"/>
            <a:ext cx="0" cy="19968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6" name="Rectangle 35"/>
          <p:cNvSpPr/>
          <p:nvPr/>
        </p:nvSpPr>
        <p:spPr>
          <a:xfrm>
            <a:off x="3679475" y="1697143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7" name="TextBox 36"/>
          <p:cNvSpPr txBox="1"/>
          <p:nvPr/>
        </p:nvSpPr>
        <p:spPr>
          <a:xfrm>
            <a:off x="3647235" y="1666647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Research &amp; Development</a:t>
            </a:r>
          </a:p>
          <a:p>
            <a:pPr algn="ctr"/>
            <a:r>
              <a:rPr lang="en-US" sz="600" b="1" dirty="0" smtClean="0"/>
              <a:t>Officer</a:t>
            </a:r>
          </a:p>
        </p:txBody>
      </p:sp>
    </p:spTree>
    <p:extLst>
      <p:ext uri="{BB962C8B-B14F-4D97-AF65-F5344CB8AC3E}">
        <p14:creationId xmlns:p14="http://schemas.microsoft.com/office/powerpoint/2010/main" val="33767163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Rectangle 28"/>
          <p:cNvSpPr/>
          <p:nvPr/>
        </p:nvSpPr>
        <p:spPr>
          <a:xfrm>
            <a:off x="76200" y="1258331"/>
            <a:ext cx="8935594" cy="95002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6" name="Rectangle 35"/>
          <p:cNvSpPr/>
          <p:nvPr/>
        </p:nvSpPr>
        <p:spPr>
          <a:xfrm>
            <a:off x="76200" y="3133468"/>
            <a:ext cx="8935594" cy="21877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7" name="Rectangle 36"/>
          <p:cNvSpPr/>
          <p:nvPr/>
        </p:nvSpPr>
        <p:spPr>
          <a:xfrm>
            <a:off x="76200" y="2190981"/>
            <a:ext cx="8935594" cy="219761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38" name="TextBox 37"/>
          <p:cNvSpPr txBox="1"/>
          <p:nvPr/>
        </p:nvSpPr>
        <p:spPr>
          <a:xfrm>
            <a:off x="219074" y="2313801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Top Management</a:t>
            </a:r>
            <a:endParaRPr lang="en-US" sz="1200" dirty="0"/>
          </a:p>
        </p:txBody>
      </p:sp>
      <p:sp>
        <p:nvSpPr>
          <p:cNvPr id="39" name="TextBox 38"/>
          <p:cNvSpPr txBox="1"/>
          <p:nvPr/>
        </p:nvSpPr>
        <p:spPr>
          <a:xfrm>
            <a:off x="110644" y="4415135"/>
            <a:ext cx="1326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Middle </a:t>
            </a:r>
          </a:p>
          <a:p>
            <a:pPr algn="ctr"/>
            <a:r>
              <a:rPr lang="en-US" sz="1200" dirty="0" smtClean="0"/>
              <a:t>Management</a:t>
            </a:r>
            <a:endParaRPr lang="en-US" sz="1200" dirty="0"/>
          </a:p>
        </p:txBody>
      </p:sp>
      <p:sp>
        <p:nvSpPr>
          <p:cNvPr id="40" name="TextBox 39"/>
          <p:cNvSpPr txBox="1"/>
          <p:nvPr/>
        </p:nvSpPr>
        <p:spPr>
          <a:xfrm>
            <a:off x="219074" y="1295400"/>
            <a:ext cx="2066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Board / Executive Committee</a:t>
            </a:r>
            <a:endParaRPr lang="en-US" sz="1200" dirty="0"/>
          </a:p>
        </p:txBody>
      </p:sp>
      <p:cxnSp>
        <p:nvCxnSpPr>
          <p:cNvPr id="2" name="Straight Connector 1"/>
          <p:cNvCxnSpPr/>
          <p:nvPr/>
        </p:nvCxnSpPr>
        <p:spPr>
          <a:xfrm>
            <a:off x="3430986" y="4571842"/>
            <a:ext cx="1" cy="178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>
            <a:endCxn id="7" idx="0"/>
          </p:cNvCxnSpPr>
          <p:nvPr/>
        </p:nvCxnSpPr>
        <p:spPr>
          <a:xfrm>
            <a:off x="5643575" y="4573365"/>
            <a:ext cx="0" cy="126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stCxn id="30" idx="2"/>
          </p:cNvCxnSpPr>
          <p:nvPr/>
        </p:nvCxnSpPr>
        <p:spPr>
          <a:xfrm flipH="1">
            <a:off x="4472410" y="1951911"/>
            <a:ext cx="4340" cy="262135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977110" y="3657600"/>
            <a:ext cx="990600" cy="539114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977110" y="3636223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b="1" dirty="0" smtClean="0"/>
          </a:p>
          <a:p>
            <a:pPr algn="ctr"/>
            <a:r>
              <a:rPr lang="en-US" sz="800" b="1" dirty="0" smtClean="0"/>
              <a:t>Marketing 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1625" y="4699458"/>
            <a:ext cx="723900" cy="4059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958766" y="2469217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82215" y="3155017"/>
            <a:ext cx="7832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58766" y="2469217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General</a:t>
            </a:r>
          </a:p>
          <a:p>
            <a:pPr algn="ctr"/>
            <a:r>
              <a:rPr lang="en-US" sz="1200" b="1" dirty="0" smtClean="0"/>
              <a:t>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751" y="3155017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Executive</a:t>
            </a:r>
          </a:p>
          <a:p>
            <a:pPr algn="ctr"/>
            <a:r>
              <a:rPr lang="en-US" sz="600" b="1" dirty="0" smtClean="0"/>
              <a:t>Assistant Office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1150" y="4678619"/>
            <a:ext cx="9048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New Business</a:t>
            </a:r>
          </a:p>
          <a:p>
            <a:pPr algn="ctr"/>
            <a:r>
              <a:rPr lang="en-US" sz="600" b="1" dirty="0" smtClean="0"/>
              <a:t>Development &amp; </a:t>
            </a:r>
            <a:r>
              <a:rPr lang="en-US" sz="600" b="1" dirty="0" err="1" smtClean="0"/>
              <a:t>Partnerhip</a:t>
            </a:r>
            <a:endParaRPr lang="en-US" sz="600" b="1" dirty="0" smtClean="0"/>
          </a:p>
          <a:p>
            <a:pPr algn="ctr"/>
            <a:r>
              <a:rPr lang="en-US" sz="600" b="1" dirty="0" smtClean="0"/>
              <a:t>Officer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427917" y="4573264"/>
            <a:ext cx="2215658" cy="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1" idx="3"/>
          </p:cNvCxnSpPr>
          <p:nvPr/>
        </p:nvCxnSpPr>
        <p:spPr>
          <a:xfrm flipV="1">
            <a:off x="3673016" y="3278128"/>
            <a:ext cx="800100" cy="15389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7650" y="5715000"/>
            <a:ext cx="1009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Legend:</a:t>
            </a:r>
            <a:endParaRPr lang="en-US" sz="1200" dirty="0"/>
          </a:p>
        </p:txBody>
      </p:sp>
      <p:sp>
        <p:nvSpPr>
          <p:cNvPr id="18" name="Rectangle 17"/>
          <p:cNvSpPr/>
          <p:nvPr/>
        </p:nvSpPr>
        <p:spPr>
          <a:xfrm>
            <a:off x="955086" y="5815190"/>
            <a:ext cx="381000" cy="125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333499" y="5975866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Vacant </a:t>
            </a:r>
            <a:endParaRPr lang="en-US" sz="600" dirty="0"/>
          </a:p>
        </p:txBody>
      </p:sp>
      <p:sp>
        <p:nvSpPr>
          <p:cNvPr id="21" name="TextBox 20"/>
          <p:cNvSpPr txBox="1"/>
          <p:nvPr/>
        </p:nvSpPr>
        <p:spPr>
          <a:xfrm>
            <a:off x="1333500" y="5791200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Specific functions hold by designated personnel.</a:t>
            </a:r>
            <a:endParaRPr lang="en-US" sz="600" dirty="0"/>
          </a:p>
        </p:txBody>
      </p:sp>
      <p:sp>
        <p:nvSpPr>
          <p:cNvPr id="22" name="TextBox 21"/>
          <p:cNvSpPr txBox="1"/>
          <p:nvPr/>
        </p:nvSpPr>
        <p:spPr>
          <a:xfrm>
            <a:off x="955086" y="83510"/>
            <a:ext cx="7353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JATHNIER CORPORATION GENERIC ORGANIZATIONAL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RBS TOP LEVEL MANAGEMENT &amp; MARKETING DEPARTMENT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065966" y="4711897"/>
            <a:ext cx="723900" cy="39350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036283" y="4678619"/>
            <a:ext cx="783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Sales / Promotion / Consumer Analyst / Brand Officer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086" y="6002923"/>
            <a:ext cx="381000" cy="1253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/>
          <p:cNvSpPr/>
          <p:nvPr/>
        </p:nvSpPr>
        <p:spPr>
          <a:xfrm>
            <a:off x="3962400" y="1447800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/>
          <p:cNvSpPr txBox="1"/>
          <p:nvPr/>
        </p:nvSpPr>
        <p:spPr>
          <a:xfrm>
            <a:off x="3962400" y="1411315"/>
            <a:ext cx="10287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VP/</a:t>
            </a:r>
          </a:p>
          <a:p>
            <a:pPr algn="ctr"/>
            <a:r>
              <a:rPr lang="en-US" sz="1050" b="1" dirty="0" smtClean="0"/>
              <a:t>Operations Director</a:t>
            </a:r>
          </a:p>
        </p:txBody>
      </p:sp>
      <p:sp>
        <p:nvSpPr>
          <p:cNvPr id="32" name="Rectangle 31"/>
          <p:cNvSpPr/>
          <p:nvPr/>
        </p:nvSpPr>
        <p:spPr>
          <a:xfrm>
            <a:off x="6667500" y="1447800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3" name="TextBox 32"/>
          <p:cNvSpPr txBox="1"/>
          <p:nvPr/>
        </p:nvSpPr>
        <p:spPr>
          <a:xfrm>
            <a:off x="6667500" y="1551801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President</a:t>
            </a:r>
          </a:p>
        </p:txBody>
      </p:sp>
      <p:cxnSp>
        <p:nvCxnSpPr>
          <p:cNvPr id="34" name="Straight Connector 33"/>
          <p:cNvCxnSpPr>
            <a:stCxn id="30" idx="3"/>
            <a:endCxn id="32" idx="1"/>
          </p:cNvCxnSpPr>
          <p:nvPr/>
        </p:nvCxnSpPr>
        <p:spPr>
          <a:xfrm>
            <a:off x="4991100" y="1699856"/>
            <a:ext cx="16764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5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59933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610714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" name="Straight Connector 1"/>
          <p:cNvCxnSpPr/>
          <p:nvPr/>
        </p:nvCxnSpPr>
        <p:spPr>
          <a:xfrm>
            <a:off x="3427915" y="1525264"/>
            <a:ext cx="1" cy="178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>
            <a:endCxn id="7" idx="0"/>
          </p:cNvCxnSpPr>
          <p:nvPr/>
        </p:nvCxnSpPr>
        <p:spPr>
          <a:xfrm>
            <a:off x="5643575" y="1525365"/>
            <a:ext cx="0" cy="126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4473116" y="1082997"/>
            <a:ext cx="0" cy="4422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977816" y="919148"/>
            <a:ext cx="990600" cy="409918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977816" y="838200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b="1" dirty="0" smtClean="0"/>
          </a:p>
          <a:p>
            <a:pPr algn="ctr"/>
            <a:r>
              <a:rPr lang="en-US" sz="800" b="1" dirty="0" smtClean="0"/>
              <a:t>Marketing</a:t>
            </a:r>
          </a:p>
          <a:p>
            <a:pPr algn="ctr"/>
            <a:r>
              <a:rPr lang="en-US" sz="800" b="1" dirty="0" smtClean="0"/>
              <a:t>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1625" y="1651458"/>
            <a:ext cx="723900" cy="4059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5191150" y="1676400"/>
            <a:ext cx="9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New Business</a:t>
            </a:r>
          </a:p>
          <a:p>
            <a:pPr algn="ctr"/>
            <a:r>
              <a:rPr lang="en-US" sz="600" b="1" dirty="0" smtClean="0"/>
              <a:t>Development</a:t>
            </a:r>
          </a:p>
          <a:p>
            <a:pPr algn="ctr"/>
            <a:r>
              <a:rPr lang="en-US" sz="600" b="1" dirty="0" smtClean="0"/>
              <a:t>Officer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427917" y="1525264"/>
            <a:ext cx="2215658" cy="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065964" y="1663897"/>
            <a:ext cx="723900" cy="39350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036281" y="1629815"/>
            <a:ext cx="783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Sales / Promotion / Consumer Analyst / Brand Officer</a:t>
            </a:r>
          </a:p>
        </p:txBody>
      </p:sp>
      <p:pic>
        <p:nvPicPr>
          <p:cNvPr id="35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59933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1" name="TextBox 40"/>
          <p:cNvSpPr txBox="1"/>
          <p:nvPr/>
        </p:nvSpPr>
        <p:spPr>
          <a:xfrm>
            <a:off x="914400" y="76200"/>
            <a:ext cx="72390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JATHNIER CORPORATION MARKETING DEPARTMENT FUNCTIONS, ACCOUNTABILITIES AND DELIVERABLES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42" name="TextBox 41"/>
          <p:cNvSpPr txBox="1"/>
          <p:nvPr/>
        </p:nvSpPr>
        <p:spPr>
          <a:xfrm>
            <a:off x="219074" y="2286000"/>
            <a:ext cx="122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Marketing </a:t>
            </a:r>
          </a:p>
          <a:p>
            <a:r>
              <a:rPr lang="en-US" sz="900" b="1" dirty="0" smtClean="0"/>
              <a:t>Manager</a:t>
            </a:r>
            <a:endParaRPr lang="en-US" sz="900" b="1" dirty="0"/>
          </a:p>
        </p:txBody>
      </p:sp>
      <p:sp>
        <p:nvSpPr>
          <p:cNvPr id="43" name="TextBox 42"/>
          <p:cNvSpPr txBox="1"/>
          <p:nvPr/>
        </p:nvSpPr>
        <p:spPr>
          <a:xfrm>
            <a:off x="976156" y="2286000"/>
            <a:ext cx="1571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Administrative Function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3947956" y="2286000"/>
            <a:ext cx="21285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Operational Function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76156" y="2512368"/>
            <a:ext cx="2905126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850" dirty="0" smtClean="0"/>
              <a:t>Prime mover of the Vision, Mission and Corporate Core Values of the Organization.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 Leader with high Integrity and a Quality driver, not only to  Marketing Department functions &amp; Services, but also to all other departments.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Generalist &amp; Accountable to the overall result of the Marketing Department.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 and Responsible on the quality, strict implementation and execution of all Marketing Department standard policies and procedures.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Must possess sound and balance disposition in regards to personnel welfare and company’s interests.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Personally maintains and exemplify high moral values &amp; standards acceptable to the norms of the society and community where we operate.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 and responsible on providing an impartial, timely and objective execution of performance evaluation to all Marketing Department personnel</a:t>
            </a:r>
            <a:r>
              <a:rPr lang="en-US" sz="850" dirty="0"/>
              <a:t>.</a:t>
            </a:r>
            <a:endParaRPr lang="en-US" sz="850" dirty="0" smtClean="0"/>
          </a:p>
          <a:p>
            <a:pPr marL="228600" indent="-228600" algn="just">
              <a:buAutoNum type="arabicPeriod"/>
            </a:pPr>
            <a:r>
              <a:rPr lang="en-US" sz="850" dirty="0" smtClean="0"/>
              <a:t>Strictly maintains as the final review and decision in regards to all Marketing Department activities, plans and implementations.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Accountable, responsible and authorized to execute on Marketing Department personnel the proper and standard hiring, termination and issuance of sanctions.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Belonging to a Managerial Level, has the Administrative responsibility, accountability and authority to exercise administrative function to all other department’s personnel below the level of Marketing Manager.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3947956" y="2514600"/>
            <a:ext cx="4738844" cy="32316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850" dirty="0" smtClean="0"/>
              <a:t>Develop targets and progress reports, Check and review progress reports submitted by all Marketing Section Heads on a daily basis.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Have an In depth knowledge on details of all Marketing major functions</a:t>
            </a:r>
            <a:r>
              <a:rPr lang="en-US" sz="850" dirty="0"/>
              <a:t> </a:t>
            </a:r>
            <a:r>
              <a:rPr lang="en-US" sz="850" dirty="0" smtClean="0"/>
              <a:t>to be able to provide training, support and functional directives to the whole Production Department and Store Production.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Assess and make official decisions on all Marketing Department incoming and outgoing official transactions and management directives. 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Strictly implement, execute and follow standard process flow chart of the following Marketing Department sections:</a:t>
            </a:r>
          </a:p>
          <a:p>
            <a:pPr algn="just"/>
            <a:r>
              <a:rPr lang="en-US" sz="850" dirty="0" smtClean="0"/>
              <a:t>           4.a. Sales, Ads &amp; Promo, Consumer Analyst, Brand Officer – Align with Cost Management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Specialist. This section must establish effective marketing analysis, programs and activities to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support Sales set targets with Store Operations Department.  Maintain strict adherence to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Corporate Identity System Design (Brand).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4.b. </a:t>
            </a:r>
            <a:r>
              <a:rPr lang="en-US" sz="850" dirty="0"/>
              <a:t> </a:t>
            </a:r>
            <a:r>
              <a:rPr lang="en-US" sz="850" dirty="0" smtClean="0"/>
              <a:t>New Business Development – Align with company’s core competence. This section must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develop and provide marketing study, set operational requirement, identify cost centers to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profit centers (spin off) and endorse recommendations to Top Management. 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Develop and regularly review all Marketing Department standard documentations and company mandatories as to its completeness and applicability.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Develop and regularly review all Marketing personnel on its Pre Employment, development and Post Employment Screening. </a:t>
            </a:r>
            <a:r>
              <a:rPr lang="en-US" sz="850" dirty="0"/>
              <a:t> </a:t>
            </a:r>
            <a:r>
              <a:rPr lang="en-US" sz="850" dirty="0" smtClean="0"/>
              <a:t>Align personnel to their career path for them to develop.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Insure security on a daily basis all marketing documents and make  marketing section heads to be accountable on their specifics tasks &amp; responsibilities.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Strictly implement and follow department functional structure and leveling as well as overall organizational structure.</a:t>
            </a:r>
          </a:p>
        </p:txBody>
      </p:sp>
    </p:spTree>
    <p:extLst>
      <p:ext uri="{BB962C8B-B14F-4D97-AF65-F5344CB8AC3E}">
        <p14:creationId xmlns:p14="http://schemas.microsoft.com/office/powerpoint/2010/main" val="372036469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Rectangle 76"/>
          <p:cNvSpPr/>
          <p:nvPr/>
        </p:nvSpPr>
        <p:spPr>
          <a:xfrm>
            <a:off x="76200" y="1222177"/>
            <a:ext cx="8935594" cy="823024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8" name="Rectangle 77"/>
          <p:cNvSpPr/>
          <p:nvPr/>
        </p:nvSpPr>
        <p:spPr>
          <a:xfrm>
            <a:off x="76200" y="4172940"/>
            <a:ext cx="8935594" cy="13588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79" name="Rectangle 78"/>
          <p:cNvSpPr/>
          <p:nvPr/>
        </p:nvSpPr>
        <p:spPr>
          <a:xfrm>
            <a:off x="76200" y="2045201"/>
            <a:ext cx="8935594" cy="2146393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80" name="TextBox 79"/>
          <p:cNvSpPr txBox="1"/>
          <p:nvPr/>
        </p:nvSpPr>
        <p:spPr>
          <a:xfrm>
            <a:off x="219074" y="2161401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Top Management</a:t>
            </a:r>
            <a:endParaRPr lang="en-US" sz="1200" dirty="0"/>
          </a:p>
        </p:txBody>
      </p:sp>
      <p:sp>
        <p:nvSpPr>
          <p:cNvPr id="81" name="TextBox 80"/>
          <p:cNvSpPr txBox="1"/>
          <p:nvPr/>
        </p:nvSpPr>
        <p:spPr>
          <a:xfrm>
            <a:off x="-65010" y="4217965"/>
            <a:ext cx="1326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Middle </a:t>
            </a:r>
          </a:p>
          <a:p>
            <a:pPr algn="ctr"/>
            <a:r>
              <a:rPr lang="en-US" sz="1200" dirty="0" smtClean="0"/>
              <a:t>Management</a:t>
            </a:r>
            <a:endParaRPr lang="en-US" sz="1200" dirty="0"/>
          </a:p>
        </p:txBody>
      </p:sp>
      <p:sp>
        <p:nvSpPr>
          <p:cNvPr id="82" name="TextBox 81"/>
          <p:cNvSpPr txBox="1"/>
          <p:nvPr/>
        </p:nvSpPr>
        <p:spPr>
          <a:xfrm>
            <a:off x="219074" y="1295400"/>
            <a:ext cx="2066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Board / Executive Committee</a:t>
            </a:r>
            <a:endParaRPr lang="en-US" sz="1200" dirty="0"/>
          </a:p>
        </p:txBody>
      </p:sp>
      <p:cxnSp>
        <p:nvCxnSpPr>
          <p:cNvPr id="51" name="Straight Connector 50"/>
          <p:cNvCxnSpPr/>
          <p:nvPr/>
        </p:nvCxnSpPr>
        <p:spPr>
          <a:xfrm>
            <a:off x="4159372" y="3751877"/>
            <a:ext cx="90514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2" name="Straight Connector 71"/>
          <p:cNvCxnSpPr/>
          <p:nvPr/>
        </p:nvCxnSpPr>
        <p:spPr>
          <a:xfrm flipH="1">
            <a:off x="6749754" y="4966163"/>
            <a:ext cx="7362" cy="108143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/>
          <p:cNvCxnSpPr>
            <a:endCxn id="39" idx="2"/>
          </p:cNvCxnSpPr>
          <p:nvPr/>
        </p:nvCxnSpPr>
        <p:spPr>
          <a:xfrm flipH="1">
            <a:off x="4162755" y="4953000"/>
            <a:ext cx="15167" cy="113631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stCxn id="8" idx="2"/>
          </p:cNvCxnSpPr>
          <p:nvPr/>
        </p:nvCxnSpPr>
        <p:spPr>
          <a:xfrm>
            <a:off x="5048250" y="1876182"/>
            <a:ext cx="32530" cy="405816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Rectangle 7"/>
          <p:cNvSpPr/>
          <p:nvPr/>
        </p:nvSpPr>
        <p:spPr>
          <a:xfrm>
            <a:off x="4533900" y="1372071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1411120" y="2667000"/>
            <a:ext cx="7832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4533900" y="1476120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prstClr val="black"/>
                </a:solidFill>
              </a:rPr>
              <a:t>President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418656" y="2667000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Executive</a:t>
            </a:r>
          </a:p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Assistant Office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1585922" y="4342754"/>
            <a:ext cx="6882910" cy="188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1" idx="3"/>
          </p:cNvCxnSpPr>
          <p:nvPr/>
        </p:nvCxnSpPr>
        <p:spPr>
          <a:xfrm flipV="1">
            <a:off x="2201921" y="2795382"/>
            <a:ext cx="2846329" cy="1011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7650" y="5943600"/>
            <a:ext cx="1009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>
                <a:solidFill>
                  <a:prstClr val="black"/>
                </a:solidFill>
              </a:rPr>
              <a:t>Legend:</a:t>
            </a:r>
            <a:endParaRPr lang="en-US" sz="1200" dirty="0">
              <a:solidFill>
                <a:prstClr val="black"/>
              </a:solidFill>
            </a:endParaRPr>
          </a:p>
        </p:txBody>
      </p:sp>
      <p:sp>
        <p:nvSpPr>
          <p:cNvPr id="16" name="Rectangle 15"/>
          <p:cNvSpPr/>
          <p:nvPr/>
        </p:nvSpPr>
        <p:spPr>
          <a:xfrm>
            <a:off x="952500" y="6019800"/>
            <a:ext cx="381000" cy="125343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7" name="Rectangle 16"/>
          <p:cNvSpPr/>
          <p:nvPr/>
        </p:nvSpPr>
        <p:spPr>
          <a:xfrm>
            <a:off x="952500" y="6199257"/>
            <a:ext cx="381000" cy="125343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8" name="Rectangle 17"/>
          <p:cNvSpPr/>
          <p:nvPr/>
        </p:nvSpPr>
        <p:spPr>
          <a:xfrm>
            <a:off x="955086" y="6392524"/>
            <a:ext cx="381000" cy="125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1336085" y="5990138"/>
            <a:ext cx="23489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>
                <a:solidFill>
                  <a:prstClr val="black"/>
                </a:solidFill>
              </a:rPr>
              <a:t>For hire or contractual function.</a:t>
            </a:r>
            <a:endParaRPr lang="en-US" sz="600" dirty="0">
              <a:solidFill>
                <a:prstClr val="black"/>
              </a:solidFill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1333499" y="6553200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>
                <a:solidFill>
                  <a:prstClr val="black"/>
                </a:solidFill>
              </a:rPr>
              <a:t>Vacant </a:t>
            </a:r>
            <a:endParaRPr lang="en-US" sz="600" dirty="0">
              <a:solidFill>
                <a:prstClr val="black"/>
              </a:solidFill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1333500" y="6368534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>
                <a:solidFill>
                  <a:prstClr val="black"/>
                </a:solidFill>
              </a:rPr>
              <a:t>Specific functions hold by designated personnel.</a:t>
            </a:r>
            <a:endParaRPr lang="en-US" sz="600" dirty="0">
              <a:solidFill>
                <a:prstClr val="black"/>
              </a:solidFill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876300" y="152400"/>
            <a:ext cx="7353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GENERIC ORGANIZATIONAL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</a:t>
            </a:r>
          </a:p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ROSEFOOD REALTY CORPORATION TOP LEVEL MANAGEMENT &amp; ENGINEERING/MAINTENANCE DEPARTMENT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093386" y="4489988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8" name="Rectangle 27"/>
          <p:cNvSpPr/>
          <p:nvPr/>
        </p:nvSpPr>
        <p:spPr>
          <a:xfrm>
            <a:off x="955086" y="6580257"/>
            <a:ext cx="381000" cy="1253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29" name="TextBox 28"/>
          <p:cNvSpPr txBox="1"/>
          <p:nvPr/>
        </p:nvSpPr>
        <p:spPr>
          <a:xfrm>
            <a:off x="1333499" y="6183868"/>
            <a:ext cx="23489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>
                <a:solidFill>
                  <a:prstClr val="black"/>
                </a:solidFill>
              </a:rPr>
              <a:t>Function performed by Sir Dan.</a:t>
            </a:r>
            <a:endParaRPr lang="en-US" sz="600" dirty="0">
              <a:solidFill>
                <a:prstClr val="black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671307" y="4497033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19356" y="4478717"/>
            <a:ext cx="8638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Fleet &amp; Equipment Supervisor</a:t>
            </a:r>
          </a:p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(</a:t>
            </a:r>
            <a:r>
              <a:rPr lang="en-US" sz="500" b="1" dirty="0" err="1" smtClean="0">
                <a:solidFill>
                  <a:prstClr val="black"/>
                </a:solidFill>
              </a:rPr>
              <a:t>ReyJohn</a:t>
            </a:r>
            <a:r>
              <a:rPr lang="en-US" sz="500" b="1" dirty="0" smtClean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52257" y="5115290"/>
            <a:ext cx="78083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572000" y="5107075"/>
            <a:ext cx="9525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General Building</a:t>
            </a:r>
            <a:r>
              <a:rPr lang="en-US" sz="500" b="1" dirty="0">
                <a:solidFill>
                  <a:prstClr val="black"/>
                </a:solidFill>
              </a:rPr>
              <a:t> </a:t>
            </a:r>
            <a:r>
              <a:rPr lang="en-US" sz="500" b="1" dirty="0" smtClean="0">
                <a:solidFill>
                  <a:prstClr val="black"/>
                </a:solidFill>
              </a:rPr>
              <a:t>Construction &amp; Renovation  </a:t>
            </a:r>
            <a:endParaRPr lang="en-US" sz="500" b="1" dirty="0">
              <a:solidFill>
                <a:prstClr val="black"/>
              </a:solidFill>
            </a:endParaRPr>
          </a:p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Foreman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800451" y="5114827"/>
            <a:ext cx="723900" cy="3033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795555" y="5081600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Automotive &amp; Electrical Mechanic</a:t>
            </a:r>
          </a:p>
        </p:txBody>
      </p:sp>
      <p:sp>
        <p:nvSpPr>
          <p:cNvPr id="36" name="Rectangle 35"/>
          <p:cNvSpPr/>
          <p:nvPr/>
        </p:nvSpPr>
        <p:spPr>
          <a:xfrm>
            <a:off x="3897543" y="5601414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3830628" y="5607341"/>
            <a:ext cx="656141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Driver/Operator</a:t>
            </a:r>
          </a:p>
        </p:txBody>
      </p:sp>
      <p:sp>
        <p:nvSpPr>
          <p:cNvPr id="38" name="Rectangle 37"/>
          <p:cNvSpPr/>
          <p:nvPr/>
        </p:nvSpPr>
        <p:spPr>
          <a:xfrm>
            <a:off x="3898250" y="5899523"/>
            <a:ext cx="529716" cy="19778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9" name="TextBox 38"/>
          <p:cNvSpPr txBox="1"/>
          <p:nvPr/>
        </p:nvSpPr>
        <p:spPr>
          <a:xfrm>
            <a:off x="3898250" y="5920034"/>
            <a:ext cx="529010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Helper</a:t>
            </a:r>
          </a:p>
        </p:txBody>
      </p:sp>
      <p:sp>
        <p:nvSpPr>
          <p:cNvPr id="42" name="Rectangle 41"/>
          <p:cNvSpPr/>
          <p:nvPr/>
        </p:nvSpPr>
        <p:spPr>
          <a:xfrm>
            <a:off x="2363620" y="1371600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363620" y="1371600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prstClr val="black"/>
                </a:solidFill>
              </a:rPr>
              <a:t>Vice</a:t>
            </a:r>
          </a:p>
          <a:p>
            <a:pPr algn="ctr"/>
            <a:r>
              <a:rPr lang="en-US" sz="1200" b="1" dirty="0" smtClean="0">
                <a:solidFill>
                  <a:prstClr val="black"/>
                </a:solidFill>
              </a:rPr>
              <a:t>President</a:t>
            </a:r>
          </a:p>
        </p:txBody>
      </p:sp>
      <p:cxnSp>
        <p:nvCxnSpPr>
          <p:cNvPr id="46" name="Straight Connector 45"/>
          <p:cNvCxnSpPr/>
          <p:nvPr/>
        </p:nvCxnSpPr>
        <p:spPr>
          <a:xfrm>
            <a:off x="2819400" y="1875711"/>
            <a:ext cx="0" cy="929788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8" name="Rectangle 47"/>
          <p:cNvSpPr/>
          <p:nvPr/>
        </p:nvSpPr>
        <p:spPr>
          <a:xfrm>
            <a:off x="3592249" y="3616718"/>
            <a:ext cx="783264" cy="36338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3584115" y="3599476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Engineering &amp; Maintenance Assistant</a:t>
            </a:r>
          </a:p>
        </p:txBody>
      </p:sp>
      <p:cxnSp>
        <p:nvCxnSpPr>
          <p:cNvPr id="57" name="Straight Connector 56"/>
          <p:cNvCxnSpPr/>
          <p:nvPr/>
        </p:nvCxnSpPr>
        <p:spPr>
          <a:xfrm flipV="1">
            <a:off x="3325583" y="5422819"/>
            <a:ext cx="0" cy="1891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8" name="Rectangle 57"/>
          <p:cNvSpPr/>
          <p:nvPr/>
        </p:nvSpPr>
        <p:spPr>
          <a:xfrm>
            <a:off x="3057085" y="5606035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3054500" y="5622342"/>
            <a:ext cx="529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Technicians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555841" y="5112091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530851" y="5122822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Accounting</a:t>
            </a:r>
          </a:p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Supervisor</a:t>
            </a:r>
          </a:p>
        </p:txBody>
      </p:sp>
      <p:cxnSp>
        <p:nvCxnSpPr>
          <p:cNvPr id="53" name="Straight Connector 52"/>
          <p:cNvCxnSpPr>
            <a:endCxn id="50" idx="0"/>
          </p:cNvCxnSpPr>
          <p:nvPr/>
        </p:nvCxnSpPr>
        <p:spPr>
          <a:xfrm>
            <a:off x="5917791" y="4967175"/>
            <a:ext cx="0" cy="144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961194" y="5115758"/>
            <a:ext cx="723900" cy="3407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916865" y="5087504"/>
            <a:ext cx="832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Machine &amp; Fabrication </a:t>
            </a:r>
          </a:p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Foreman</a:t>
            </a:r>
          </a:p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(Glass/Aluminum, Steel, Paint &amp; Carpentry)</a:t>
            </a:r>
          </a:p>
        </p:txBody>
      </p:sp>
      <p:cxnSp>
        <p:nvCxnSpPr>
          <p:cNvPr id="60" name="Straight Connector 59"/>
          <p:cNvCxnSpPr>
            <a:endCxn id="23" idx="0"/>
          </p:cNvCxnSpPr>
          <p:nvPr/>
        </p:nvCxnSpPr>
        <p:spPr>
          <a:xfrm>
            <a:off x="3455336" y="4351456"/>
            <a:ext cx="0" cy="138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3321943" y="4956023"/>
            <a:ext cx="0" cy="153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4812144" y="5605215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5" name="TextBox 64"/>
          <p:cNvSpPr txBox="1"/>
          <p:nvPr/>
        </p:nvSpPr>
        <p:spPr>
          <a:xfrm>
            <a:off x="4752634" y="5587179"/>
            <a:ext cx="66473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err="1" smtClean="0">
                <a:solidFill>
                  <a:prstClr val="black"/>
                </a:solidFill>
              </a:rPr>
              <a:t>Leadman</a:t>
            </a:r>
            <a:r>
              <a:rPr lang="en-US" sz="500" b="1" dirty="0" smtClean="0">
                <a:solidFill>
                  <a:prstClr val="black"/>
                </a:solidFill>
              </a:rPr>
              <a:t>/Skilled</a:t>
            </a:r>
          </a:p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Manpower </a:t>
            </a:r>
          </a:p>
        </p:txBody>
      </p:sp>
      <p:cxnSp>
        <p:nvCxnSpPr>
          <p:cNvPr id="47" name="Straight Connector 46"/>
          <p:cNvCxnSpPr/>
          <p:nvPr/>
        </p:nvCxnSpPr>
        <p:spPr>
          <a:xfrm flipV="1">
            <a:off x="2519008" y="4957838"/>
            <a:ext cx="1658914" cy="337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23" idx="2"/>
          </p:cNvCxnSpPr>
          <p:nvPr/>
        </p:nvCxnSpPr>
        <p:spPr>
          <a:xfrm flipH="1">
            <a:off x="3450660" y="4793358"/>
            <a:ext cx="4676" cy="162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6" name="Rectangle 65"/>
          <p:cNvSpPr/>
          <p:nvPr/>
        </p:nvSpPr>
        <p:spPr>
          <a:xfrm>
            <a:off x="2362200" y="2162889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7" name="TextBox 66"/>
          <p:cNvSpPr txBox="1"/>
          <p:nvPr/>
        </p:nvSpPr>
        <p:spPr>
          <a:xfrm>
            <a:off x="2362200" y="2162889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>
                <a:solidFill>
                  <a:prstClr val="black"/>
                </a:solidFill>
              </a:rPr>
              <a:t>General</a:t>
            </a:r>
          </a:p>
          <a:p>
            <a:pPr algn="ctr"/>
            <a:r>
              <a:rPr lang="en-US" sz="1200" b="1" dirty="0" smtClean="0">
                <a:solidFill>
                  <a:prstClr val="black"/>
                </a:solidFill>
              </a:rPr>
              <a:t>Manager</a:t>
            </a:r>
          </a:p>
        </p:txBody>
      </p:sp>
      <p:cxnSp>
        <p:nvCxnSpPr>
          <p:cNvPr id="70" name="Straight Connector 69"/>
          <p:cNvCxnSpPr>
            <a:stCxn id="42" idx="3"/>
            <a:endCxn id="8" idx="1"/>
          </p:cNvCxnSpPr>
          <p:nvPr/>
        </p:nvCxnSpPr>
        <p:spPr>
          <a:xfrm>
            <a:off x="3392320" y="1623656"/>
            <a:ext cx="1141580" cy="47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59933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Rectangle 63"/>
          <p:cNvSpPr/>
          <p:nvPr/>
        </p:nvSpPr>
        <p:spPr>
          <a:xfrm>
            <a:off x="6379535" y="5105400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358270" y="5125276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Material Control</a:t>
            </a:r>
          </a:p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Supervisor</a:t>
            </a:r>
            <a:endParaRPr lang="en-US" sz="400" b="1" dirty="0" smtClean="0">
              <a:solidFill>
                <a:prstClr val="black"/>
              </a:solidFill>
            </a:endParaRPr>
          </a:p>
        </p:txBody>
      </p:sp>
      <p:sp>
        <p:nvSpPr>
          <p:cNvPr id="73" name="Rectangle 72"/>
          <p:cNvSpPr/>
          <p:nvPr/>
        </p:nvSpPr>
        <p:spPr>
          <a:xfrm>
            <a:off x="6373214" y="5609486"/>
            <a:ext cx="723900" cy="25741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4" name="TextBox 73"/>
          <p:cNvSpPr txBox="1"/>
          <p:nvPr/>
        </p:nvSpPr>
        <p:spPr>
          <a:xfrm>
            <a:off x="6350978" y="5590401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Warehouseman/</a:t>
            </a:r>
          </a:p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Checker </a:t>
            </a:r>
          </a:p>
        </p:txBody>
      </p:sp>
      <p:sp>
        <p:nvSpPr>
          <p:cNvPr id="75" name="Rectangle 74"/>
          <p:cNvSpPr/>
          <p:nvPr/>
        </p:nvSpPr>
        <p:spPr>
          <a:xfrm>
            <a:off x="4815783" y="5934344"/>
            <a:ext cx="529716" cy="293457"/>
          </a:xfrm>
          <a:prstGeom prst="rect">
            <a:avLst/>
          </a:prstGeom>
          <a:solidFill>
            <a:schemeClr val="accent6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76" name="TextBox 75"/>
          <p:cNvSpPr txBox="1"/>
          <p:nvPr/>
        </p:nvSpPr>
        <p:spPr>
          <a:xfrm>
            <a:off x="4815784" y="5934344"/>
            <a:ext cx="529716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Construction Labor</a:t>
            </a:r>
          </a:p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Manpower 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621867" y="4478717"/>
            <a:ext cx="838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Building &amp; Facilities Supervisor</a:t>
            </a:r>
          </a:p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(Jun Samar)</a:t>
            </a:r>
          </a:p>
        </p:txBody>
      </p:sp>
      <p:cxnSp>
        <p:nvCxnSpPr>
          <p:cNvPr id="83" name="Straight Connector 82"/>
          <p:cNvCxnSpPr>
            <a:endCxn id="87" idx="2"/>
          </p:cNvCxnSpPr>
          <p:nvPr/>
        </p:nvCxnSpPr>
        <p:spPr>
          <a:xfrm flipV="1">
            <a:off x="2525233" y="5351621"/>
            <a:ext cx="0" cy="28414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4" name="Rectangle 83"/>
          <p:cNvSpPr/>
          <p:nvPr/>
        </p:nvSpPr>
        <p:spPr>
          <a:xfrm>
            <a:off x="2256735" y="5611282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5" name="TextBox 84"/>
          <p:cNvSpPr txBox="1"/>
          <p:nvPr/>
        </p:nvSpPr>
        <p:spPr>
          <a:xfrm>
            <a:off x="2254150" y="5627589"/>
            <a:ext cx="529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Technicians</a:t>
            </a:r>
          </a:p>
        </p:txBody>
      </p:sp>
      <p:sp>
        <p:nvSpPr>
          <p:cNvPr id="86" name="Rectangle 85"/>
          <p:cNvSpPr/>
          <p:nvPr/>
        </p:nvSpPr>
        <p:spPr>
          <a:xfrm>
            <a:off x="2160844" y="5121005"/>
            <a:ext cx="723900" cy="227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2133600" y="5105400"/>
            <a:ext cx="7832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Equipment Repair &amp; Maintenance Foreman</a:t>
            </a:r>
          </a:p>
        </p:txBody>
      </p:sp>
      <p:cxnSp>
        <p:nvCxnSpPr>
          <p:cNvPr id="88" name="Straight Connector 87"/>
          <p:cNvCxnSpPr/>
          <p:nvPr/>
        </p:nvCxnSpPr>
        <p:spPr>
          <a:xfrm>
            <a:off x="2525233" y="4967175"/>
            <a:ext cx="0" cy="153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9" name="Rectangle 88"/>
          <p:cNvSpPr/>
          <p:nvPr/>
        </p:nvSpPr>
        <p:spPr>
          <a:xfrm>
            <a:off x="4572000" y="2975034"/>
            <a:ext cx="990600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0" name="TextBox 89"/>
          <p:cNvSpPr txBox="1"/>
          <p:nvPr/>
        </p:nvSpPr>
        <p:spPr>
          <a:xfrm>
            <a:off x="4573797" y="2860623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b="1" dirty="0" smtClean="0">
              <a:solidFill>
                <a:prstClr val="black"/>
              </a:solidFill>
            </a:endParaRPr>
          </a:p>
          <a:p>
            <a:pPr algn="ctr"/>
            <a:r>
              <a:rPr lang="en-US" sz="800" b="1" dirty="0" smtClean="0">
                <a:solidFill>
                  <a:prstClr val="black"/>
                </a:solidFill>
              </a:rPr>
              <a:t>Engineering &amp; Maintenance Head</a:t>
            </a:r>
          </a:p>
        </p:txBody>
      </p:sp>
      <p:sp>
        <p:nvSpPr>
          <p:cNvPr id="91" name="Rectangle 90"/>
          <p:cNvSpPr/>
          <p:nvPr/>
        </p:nvSpPr>
        <p:spPr>
          <a:xfrm>
            <a:off x="8086476" y="4492873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8071970" y="4519057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Purchaser</a:t>
            </a:r>
          </a:p>
        </p:txBody>
      </p:sp>
      <p:cxnSp>
        <p:nvCxnSpPr>
          <p:cNvPr id="93" name="Straight Connector 92"/>
          <p:cNvCxnSpPr/>
          <p:nvPr/>
        </p:nvCxnSpPr>
        <p:spPr>
          <a:xfrm>
            <a:off x="8468832" y="4336626"/>
            <a:ext cx="0" cy="151044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4" name="Rectangle 93"/>
          <p:cNvSpPr/>
          <p:nvPr/>
        </p:nvSpPr>
        <p:spPr>
          <a:xfrm>
            <a:off x="5943600" y="4497147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5922335" y="4468610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Administrative Officer</a:t>
            </a:r>
          </a:p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(Ana Grace)</a:t>
            </a:r>
          </a:p>
        </p:txBody>
      </p:sp>
      <p:sp>
        <p:nvSpPr>
          <p:cNvPr id="97" name="Rectangle 96"/>
          <p:cNvSpPr/>
          <p:nvPr/>
        </p:nvSpPr>
        <p:spPr>
          <a:xfrm>
            <a:off x="6379535" y="6049031"/>
            <a:ext cx="723900" cy="25741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6358270" y="6047601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Warehouseman/</a:t>
            </a:r>
          </a:p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Checker </a:t>
            </a:r>
          </a:p>
        </p:txBody>
      </p:sp>
      <p:sp>
        <p:nvSpPr>
          <p:cNvPr id="99" name="Rectangle 98"/>
          <p:cNvSpPr/>
          <p:nvPr/>
        </p:nvSpPr>
        <p:spPr>
          <a:xfrm>
            <a:off x="7156041" y="4490884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0" name="TextBox 99"/>
          <p:cNvSpPr txBox="1"/>
          <p:nvPr/>
        </p:nvSpPr>
        <p:spPr>
          <a:xfrm>
            <a:off x="7141535" y="4517068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Human Resource</a:t>
            </a:r>
          </a:p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Supervisor</a:t>
            </a:r>
          </a:p>
        </p:txBody>
      </p:sp>
      <p:cxnSp>
        <p:nvCxnSpPr>
          <p:cNvPr id="101" name="Straight Connector 100"/>
          <p:cNvCxnSpPr/>
          <p:nvPr/>
        </p:nvCxnSpPr>
        <p:spPr>
          <a:xfrm>
            <a:off x="5917160" y="4962718"/>
            <a:ext cx="839956" cy="19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" name="Straight Connector 101"/>
          <p:cNvCxnSpPr/>
          <p:nvPr/>
        </p:nvCxnSpPr>
        <p:spPr>
          <a:xfrm>
            <a:off x="7536090" y="4345072"/>
            <a:ext cx="0" cy="144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Straight Connector 102"/>
          <p:cNvCxnSpPr>
            <a:endCxn id="107" idx="2"/>
          </p:cNvCxnSpPr>
          <p:nvPr/>
        </p:nvCxnSpPr>
        <p:spPr>
          <a:xfrm flipV="1">
            <a:off x="1589126" y="5328217"/>
            <a:ext cx="0" cy="36108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" name="Rectangle 103"/>
          <p:cNvSpPr/>
          <p:nvPr/>
        </p:nvSpPr>
        <p:spPr>
          <a:xfrm>
            <a:off x="1323650" y="5623589"/>
            <a:ext cx="529716" cy="19778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105" name="TextBox 104"/>
          <p:cNvSpPr txBox="1"/>
          <p:nvPr/>
        </p:nvSpPr>
        <p:spPr>
          <a:xfrm>
            <a:off x="1321065" y="5639896"/>
            <a:ext cx="529716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Draftsmen</a:t>
            </a:r>
          </a:p>
        </p:txBody>
      </p:sp>
      <p:sp>
        <p:nvSpPr>
          <p:cNvPr id="106" name="Rectangle 105"/>
          <p:cNvSpPr/>
          <p:nvPr/>
        </p:nvSpPr>
        <p:spPr>
          <a:xfrm>
            <a:off x="1227759" y="5133312"/>
            <a:ext cx="723900" cy="227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cxnSp>
        <p:nvCxnSpPr>
          <p:cNvPr id="108" name="Straight Connector 107"/>
          <p:cNvCxnSpPr>
            <a:endCxn id="106" idx="0"/>
          </p:cNvCxnSpPr>
          <p:nvPr/>
        </p:nvCxnSpPr>
        <p:spPr>
          <a:xfrm>
            <a:off x="1585922" y="4360613"/>
            <a:ext cx="3787" cy="77269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7" name="TextBox 106"/>
          <p:cNvSpPr txBox="1"/>
          <p:nvPr/>
        </p:nvSpPr>
        <p:spPr>
          <a:xfrm>
            <a:off x="1197493" y="5158940"/>
            <a:ext cx="783265" cy="1692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Project Inspectors</a:t>
            </a:r>
          </a:p>
        </p:txBody>
      </p:sp>
      <p:sp>
        <p:nvSpPr>
          <p:cNvPr id="5" name="Rectangle 4"/>
          <p:cNvSpPr/>
          <p:nvPr/>
        </p:nvSpPr>
        <p:spPr>
          <a:xfrm>
            <a:off x="1147426" y="4483736"/>
            <a:ext cx="876991" cy="38100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100892" y="4367738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b="1" dirty="0" smtClean="0">
              <a:solidFill>
                <a:prstClr val="black"/>
              </a:solidFill>
            </a:endParaRPr>
          </a:p>
          <a:p>
            <a:pPr algn="ctr"/>
            <a:r>
              <a:rPr lang="en-US" sz="800" b="1" dirty="0" smtClean="0">
                <a:solidFill>
                  <a:prstClr val="black"/>
                </a:solidFill>
              </a:rPr>
              <a:t>Design &amp; Project Cost Estimator</a:t>
            </a:r>
          </a:p>
        </p:txBody>
      </p:sp>
      <p:cxnSp>
        <p:nvCxnSpPr>
          <p:cNvPr id="109" name="Straight Connector 108"/>
          <p:cNvCxnSpPr/>
          <p:nvPr/>
        </p:nvCxnSpPr>
        <p:spPr>
          <a:xfrm>
            <a:off x="6285049" y="4342754"/>
            <a:ext cx="0" cy="144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0" name="Straight Connector 109"/>
          <p:cNvCxnSpPr/>
          <p:nvPr/>
        </p:nvCxnSpPr>
        <p:spPr>
          <a:xfrm>
            <a:off x="6279741" y="4808084"/>
            <a:ext cx="0" cy="14491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72775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72" name="Straight Connector 71"/>
          <p:cNvCxnSpPr>
            <a:endCxn id="69" idx="2"/>
          </p:cNvCxnSpPr>
          <p:nvPr/>
        </p:nvCxnSpPr>
        <p:spPr>
          <a:xfrm>
            <a:off x="6700902" y="1522839"/>
            <a:ext cx="0" cy="35494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/>
          <p:cNvCxnSpPr/>
          <p:nvPr/>
        </p:nvCxnSpPr>
        <p:spPr>
          <a:xfrm flipH="1">
            <a:off x="3928057" y="2132386"/>
            <a:ext cx="1" cy="353239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 flipH="1">
            <a:off x="4876800" y="1114025"/>
            <a:ext cx="1" cy="13716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4312586" y="913186"/>
            <a:ext cx="990600" cy="38100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4312586" y="832521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b="1" dirty="0" smtClean="0">
              <a:solidFill>
                <a:prstClr val="black"/>
              </a:solidFill>
            </a:endParaRPr>
          </a:p>
          <a:p>
            <a:pPr algn="ctr"/>
            <a:r>
              <a:rPr lang="en-US" sz="800" b="1" dirty="0" smtClean="0">
                <a:solidFill>
                  <a:prstClr val="black"/>
                </a:solidFill>
              </a:rPr>
              <a:t>Engineering  &amp;  Maintenance Head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3455336" y="1522786"/>
            <a:ext cx="3250264" cy="805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3" name="Rectangle 22"/>
          <p:cNvSpPr/>
          <p:nvPr/>
        </p:nvSpPr>
        <p:spPr>
          <a:xfrm>
            <a:off x="3093386" y="1669374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0" name="Rectangle 29"/>
          <p:cNvSpPr/>
          <p:nvPr/>
        </p:nvSpPr>
        <p:spPr>
          <a:xfrm>
            <a:off x="4445936" y="1676419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3019356" y="1658103"/>
            <a:ext cx="86382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Fleet &amp; Equipment Supervisor</a:t>
            </a:r>
          </a:p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(</a:t>
            </a:r>
            <a:r>
              <a:rPr lang="en-US" sz="500" b="1" dirty="0" err="1" smtClean="0">
                <a:solidFill>
                  <a:prstClr val="black"/>
                </a:solidFill>
              </a:rPr>
              <a:t>ReyJohn</a:t>
            </a:r>
            <a:r>
              <a:rPr lang="en-US" sz="500" b="1" dirty="0" smtClean="0">
                <a:solidFill>
                  <a:prstClr val="black"/>
                </a:solidFill>
              </a:rPr>
              <a:t>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426886" y="2294676"/>
            <a:ext cx="78083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3" name="TextBox 32"/>
          <p:cNvSpPr txBox="1"/>
          <p:nvPr/>
        </p:nvSpPr>
        <p:spPr>
          <a:xfrm>
            <a:off x="4346629" y="2286461"/>
            <a:ext cx="952501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General Building</a:t>
            </a:r>
            <a:r>
              <a:rPr lang="en-US" sz="500" b="1" dirty="0">
                <a:solidFill>
                  <a:prstClr val="black"/>
                </a:solidFill>
              </a:rPr>
              <a:t> </a:t>
            </a:r>
            <a:r>
              <a:rPr lang="en-US" sz="500" b="1" dirty="0" smtClean="0">
                <a:solidFill>
                  <a:prstClr val="black"/>
                </a:solidFill>
              </a:rPr>
              <a:t>Construction &amp; Renovation  </a:t>
            </a:r>
            <a:endParaRPr lang="en-US" sz="500" b="1" dirty="0">
              <a:solidFill>
                <a:prstClr val="black"/>
              </a:solidFill>
            </a:endParaRPr>
          </a:p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Foreman</a:t>
            </a:r>
          </a:p>
        </p:txBody>
      </p:sp>
      <p:sp>
        <p:nvSpPr>
          <p:cNvPr id="34" name="Rectangle 33"/>
          <p:cNvSpPr/>
          <p:nvPr/>
        </p:nvSpPr>
        <p:spPr>
          <a:xfrm>
            <a:off x="3550586" y="2294213"/>
            <a:ext cx="723900" cy="303370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3545690" y="2260986"/>
            <a:ext cx="78326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Automotive &amp; Electrical Mechanic</a:t>
            </a:r>
          </a:p>
        </p:txBody>
      </p:sp>
      <p:sp>
        <p:nvSpPr>
          <p:cNvPr id="50" name="Rectangle 49"/>
          <p:cNvSpPr/>
          <p:nvPr/>
        </p:nvSpPr>
        <p:spPr>
          <a:xfrm>
            <a:off x="5414073" y="1679876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5403931" y="1706247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Administrative Officer</a:t>
            </a:r>
          </a:p>
        </p:txBody>
      </p:sp>
      <p:cxnSp>
        <p:nvCxnSpPr>
          <p:cNvPr id="53" name="Straight Connector 52"/>
          <p:cNvCxnSpPr>
            <a:endCxn id="52" idx="0"/>
          </p:cNvCxnSpPr>
          <p:nvPr/>
        </p:nvCxnSpPr>
        <p:spPr>
          <a:xfrm>
            <a:off x="5795564" y="1529664"/>
            <a:ext cx="0" cy="14694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Rectangle 54"/>
          <p:cNvSpPr/>
          <p:nvPr/>
        </p:nvSpPr>
        <p:spPr>
          <a:xfrm>
            <a:off x="2593352" y="2295144"/>
            <a:ext cx="723900" cy="340701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2549023" y="2266890"/>
            <a:ext cx="832078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Machine &amp; Fabrication </a:t>
            </a:r>
          </a:p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Foreman</a:t>
            </a:r>
          </a:p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(Glass/Aluminum, Steel, Paint &amp; Carpentry)</a:t>
            </a:r>
          </a:p>
        </p:txBody>
      </p:sp>
      <p:cxnSp>
        <p:nvCxnSpPr>
          <p:cNvPr id="60" name="Straight Connector 59"/>
          <p:cNvCxnSpPr>
            <a:endCxn id="23" idx="0"/>
          </p:cNvCxnSpPr>
          <p:nvPr/>
        </p:nvCxnSpPr>
        <p:spPr>
          <a:xfrm>
            <a:off x="3455336" y="1530842"/>
            <a:ext cx="0" cy="13853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Straight Connector 60"/>
          <p:cNvCxnSpPr/>
          <p:nvPr/>
        </p:nvCxnSpPr>
        <p:spPr>
          <a:xfrm>
            <a:off x="2954101" y="2135409"/>
            <a:ext cx="0" cy="153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Connector 46"/>
          <p:cNvCxnSpPr/>
          <p:nvPr/>
        </p:nvCxnSpPr>
        <p:spPr>
          <a:xfrm flipV="1">
            <a:off x="2058640" y="2137076"/>
            <a:ext cx="1869417" cy="67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8" name="Straight Connector 67"/>
          <p:cNvCxnSpPr>
            <a:stCxn id="23" idx="2"/>
          </p:cNvCxnSpPr>
          <p:nvPr/>
        </p:nvCxnSpPr>
        <p:spPr>
          <a:xfrm flipH="1">
            <a:off x="3450660" y="1972744"/>
            <a:ext cx="4676" cy="16266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71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72400" y="801356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Rectangle 63"/>
          <p:cNvSpPr/>
          <p:nvPr/>
        </p:nvSpPr>
        <p:spPr>
          <a:xfrm>
            <a:off x="6328473" y="1673185"/>
            <a:ext cx="723900" cy="303370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6309269" y="1693114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>
                <a:solidFill>
                  <a:prstClr val="black"/>
                </a:solidFill>
              </a:rPr>
              <a:t>Purchaser</a:t>
            </a:r>
            <a:endParaRPr lang="en-US" sz="400" b="1" dirty="0" smtClean="0">
              <a:solidFill>
                <a:prstClr val="black"/>
              </a:solidFill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4396496" y="1658103"/>
            <a:ext cx="838200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Building &amp; Facilities Supervisor</a:t>
            </a:r>
          </a:p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(Jun Samar)</a:t>
            </a:r>
          </a:p>
        </p:txBody>
      </p:sp>
      <p:sp>
        <p:nvSpPr>
          <p:cNvPr id="86" name="Rectangle 85"/>
          <p:cNvSpPr/>
          <p:nvPr/>
        </p:nvSpPr>
        <p:spPr>
          <a:xfrm>
            <a:off x="1694251" y="2300391"/>
            <a:ext cx="723900" cy="227543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</a:endParaRPr>
          </a:p>
        </p:txBody>
      </p:sp>
      <p:sp>
        <p:nvSpPr>
          <p:cNvPr id="87" name="TextBox 86"/>
          <p:cNvSpPr txBox="1"/>
          <p:nvPr/>
        </p:nvSpPr>
        <p:spPr>
          <a:xfrm>
            <a:off x="1667007" y="2284786"/>
            <a:ext cx="783265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500" b="1" dirty="0" smtClean="0">
                <a:solidFill>
                  <a:prstClr val="black"/>
                </a:solidFill>
              </a:rPr>
              <a:t>Equipment Repair &amp; Maintenance Foreman</a:t>
            </a:r>
          </a:p>
        </p:txBody>
      </p:sp>
      <p:cxnSp>
        <p:nvCxnSpPr>
          <p:cNvPr id="88" name="Straight Connector 87"/>
          <p:cNvCxnSpPr/>
          <p:nvPr/>
        </p:nvCxnSpPr>
        <p:spPr>
          <a:xfrm>
            <a:off x="2058640" y="2146561"/>
            <a:ext cx="0" cy="15383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1" name="TextBox 90"/>
          <p:cNvSpPr txBox="1"/>
          <p:nvPr/>
        </p:nvSpPr>
        <p:spPr>
          <a:xfrm>
            <a:off x="548694" y="25860"/>
            <a:ext cx="7848600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ROSEFOOD REALTY CORPORATION ENGINEERING &amp; MAINTENANCE DEPARTMENT FUNCTIONS, ACCOUNTABILITIES AND DELIVERABLES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92" name="TextBox 91"/>
          <p:cNvSpPr txBox="1"/>
          <p:nvPr/>
        </p:nvSpPr>
        <p:spPr>
          <a:xfrm>
            <a:off x="-9526" y="2724358"/>
            <a:ext cx="12287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900" b="1" dirty="0" smtClean="0"/>
              <a:t>EMD </a:t>
            </a:r>
          </a:p>
          <a:p>
            <a:pPr algn="ctr"/>
            <a:r>
              <a:rPr lang="en-US" sz="900" b="1" dirty="0" smtClean="0"/>
              <a:t>Manager</a:t>
            </a:r>
            <a:endParaRPr lang="en-US" sz="900" b="1" dirty="0"/>
          </a:p>
        </p:txBody>
      </p:sp>
      <p:sp>
        <p:nvSpPr>
          <p:cNvPr id="93" name="TextBox 92"/>
          <p:cNvSpPr txBox="1"/>
          <p:nvPr/>
        </p:nvSpPr>
        <p:spPr>
          <a:xfrm>
            <a:off x="1052356" y="2724358"/>
            <a:ext cx="157162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Administrative Function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4024156" y="2724358"/>
            <a:ext cx="2128596" cy="2308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00" b="1" dirty="0" smtClean="0"/>
              <a:t>Operational Function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1052356" y="2950726"/>
            <a:ext cx="2905126" cy="38856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850" dirty="0" smtClean="0"/>
              <a:t>Prime mover of the Vision, Mission and Corporate Core Values of the Organization.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 Leader with high Integrity and a Quality driver, not only to EM Department functions &amp; Services, but also to all other departments.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Generalist &amp; Accountable to the overall result of the EM Department.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 and Responsible on the quality, strict implementation and execution of all EM Department standard policies and procedures.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Must possess sound and balance disposition in regards to personnel welfare and company’s interests.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Personally maintains and exemplify high moral values &amp; standards acceptable to the norms of the society and community where we operate.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 and responsible on providing an impartial, timely and objective execution of performance evaluation to all EM Department personnel</a:t>
            </a:r>
            <a:r>
              <a:rPr lang="en-US" sz="850" dirty="0"/>
              <a:t>.</a:t>
            </a:r>
            <a:endParaRPr lang="en-US" sz="850" dirty="0" smtClean="0"/>
          </a:p>
          <a:p>
            <a:pPr marL="228600" indent="-228600" algn="just">
              <a:buAutoNum type="arabicPeriod"/>
            </a:pPr>
            <a:r>
              <a:rPr lang="en-US" sz="850" dirty="0" smtClean="0"/>
              <a:t>Strictly maintains as the final review and decision in regards to all EM Department activities, plans and implementations.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Accountable, responsible and authorized to execute on Marketing Department personnel the proper and standard hiring, termination and issuance of sanctions.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Belonging to a Managerial Level, has the Administrative responsibility, accountability and authority to exercise administrative function to all other department’s personnel below the level of EMD Head.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024156" y="2952958"/>
            <a:ext cx="4738844" cy="37548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28600" indent="-228600" algn="just">
              <a:buAutoNum type="arabicPeriod"/>
            </a:pPr>
            <a:r>
              <a:rPr lang="en-US" sz="850" dirty="0" smtClean="0"/>
              <a:t>Develop targets and progress reports, Check and review progress reports submitted by all EMD Section Heads on a daily basis.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Have an In depth knowledge on details of all EMD major functions</a:t>
            </a:r>
            <a:r>
              <a:rPr lang="en-US" sz="850" dirty="0"/>
              <a:t> </a:t>
            </a:r>
            <a:r>
              <a:rPr lang="en-US" sz="850" dirty="0" smtClean="0"/>
              <a:t>to be able to provide training, support and functional directives to the whole EM Department.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Assess and make official operational decisions on all EM Department incoming and outgoing official transactions and management directives. </a:t>
            </a:r>
          </a:p>
          <a:p>
            <a:pPr marL="228600" indent="-228600" algn="just">
              <a:buAutoNum type="arabicPeriod"/>
            </a:pPr>
            <a:r>
              <a:rPr lang="en-US" sz="850" dirty="0" smtClean="0"/>
              <a:t>Strictly implement documentation, execute and follow standard process flow chart of the following EM Department sections:</a:t>
            </a:r>
          </a:p>
          <a:p>
            <a:pPr algn="just"/>
            <a:r>
              <a:rPr lang="en-US" sz="850" dirty="0" smtClean="0"/>
              <a:t>           4.a. Fleet &amp; Equipment Supervisor – maintain line sustenance on 3 sub-sections. Assure direction,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work quality standard, Efficiency, work safety and standard progress reporting of the 3 sub-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sections. 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4.b. </a:t>
            </a:r>
            <a:r>
              <a:rPr lang="en-US" sz="850" dirty="0"/>
              <a:t> </a:t>
            </a:r>
            <a:r>
              <a:rPr lang="en-US" sz="850" dirty="0" smtClean="0"/>
              <a:t>Building &amp; Facilities Supervisor – maintain line sustenance of general building construction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and renovation.  Assure direction, work quality standard, Efficiency, work safety and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standard progress reporting.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4.c.  Material Man (Purchaser) – Follow strictly Standard Material Purchasing Process </a:t>
            </a:r>
            <a:r>
              <a:rPr lang="en-US" sz="850" dirty="0"/>
              <a:t>Flow, </a:t>
            </a:r>
            <a:endParaRPr lang="en-US" sz="850" dirty="0" smtClean="0"/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Vendor Accreditation, </a:t>
            </a:r>
            <a:r>
              <a:rPr lang="en-US" sz="850" dirty="0"/>
              <a:t>canvassing </a:t>
            </a:r>
            <a:r>
              <a:rPr lang="en-US" sz="850" dirty="0" smtClean="0"/>
              <a:t>and Material Usage Efficiency.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4.d.  Stockman (Property Control) – Accountable to Follow strictly Dynamics of Warehousing,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Daily Stock Inventory (</a:t>
            </a:r>
            <a:r>
              <a:rPr lang="en-US" sz="850" dirty="0" err="1" smtClean="0"/>
              <a:t>BiN</a:t>
            </a:r>
            <a:r>
              <a:rPr lang="en-US" sz="850" dirty="0" smtClean="0"/>
              <a:t> card system), Control &amp; condition assessment of all items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considered as company property (Light &amp; Heavy Equipment, Machines, Light &amp; Power Tools, </a:t>
            </a:r>
          </a:p>
          <a:p>
            <a:pPr algn="just"/>
            <a:r>
              <a:rPr lang="en-US" sz="850" dirty="0"/>
              <a:t> </a:t>
            </a:r>
            <a:r>
              <a:rPr lang="en-US" sz="850" dirty="0" smtClean="0"/>
              <a:t>                  including peripherals and accessories) 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Develop and regularly review all EM Department standard documentations and company mandatories as to its completeness and applicability.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Develop and regularly review all EMD personnel on its Pre Employment, development and Post Employment Screening. </a:t>
            </a:r>
            <a:r>
              <a:rPr lang="en-US" sz="850" dirty="0"/>
              <a:t> </a:t>
            </a:r>
            <a:r>
              <a:rPr lang="en-US" sz="850" dirty="0" smtClean="0"/>
              <a:t>Align personnel to their career path for them to develop.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Insure security on a daily basis all EMD documents and make  EMD section heads to be accountable on their specifics tasks &amp; responsibilities.</a:t>
            </a:r>
          </a:p>
          <a:p>
            <a:pPr marL="228600" indent="-228600" algn="just">
              <a:buAutoNum type="arabicPeriod" startAt="5"/>
            </a:pPr>
            <a:r>
              <a:rPr lang="en-US" sz="850" dirty="0" smtClean="0"/>
              <a:t>Strictly implement and follow department functional structure and leveling as well as overall organizational structure.</a:t>
            </a:r>
          </a:p>
        </p:txBody>
      </p:sp>
    </p:spTree>
    <p:extLst>
      <p:ext uri="{BB962C8B-B14F-4D97-AF65-F5344CB8AC3E}">
        <p14:creationId xmlns:p14="http://schemas.microsoft.com/office/powerpoint/2010/main" val="3386563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Rectangle 38"/>
          <p:cNvSpPr/>
          <p:nvPr/>
        </p:nvSpPr>
        <p:spPr>
          <a:xfrm>
            <a:off x="76200" y="1220089"/>
            <a:ext cx="8935594" cy="103266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0" name="Rectangle 39"/>
          <p:cNvSpPr/>
          <p:nvPr/>
        </p:nvSpPr>
        <p:spPr>
          <a:xfrm>
            <a:off x="76200" y="3133468"/>
            <a:ext cx="8935594" cy="195555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1" name="Rectangle 40"/>
          <p:cNvSpPr/>
          <p:nvPr/>
        </p:nvSpPr>
        <p:spPr>
          <a:xfrm>
            <a:off x="76200" y="2240451"/>
            <a:ext cx="8935594" cy="2069705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2" name="TextBox 41"/>
          <p:cNvSpPr txBox="1"/>
          <p:nvPr/>
        </p:nvSpPr>
        <p:spPr>
          <a:xfrm>
            <a:off x="219074" y="2466201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Top Management</a:t>
            </a:r>
            <a:endParaRPr lang="en-US" sz="1200" dirty="0"/>
          </a:p>
        </p:txBody>
      </p:sp>
      <p:sp>
        <p:nvSpPr>
          <p:cNvPr id="43" name="TextBox 42"/>
          <p:cNvSpPr txBox="1"/>
          <p:nvPr/>
        </p:nvSpPr>
        <p:spPr>
          <a:xfrm>
            <a:off x="110644" y="4415135"/>
            <a:ext cx="1326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Middle </a:t>
            </a:r>
          </a:p>
          <a:p>
            <a:pPr algn="ctr"/>
            <a:r>
              <a:rPr lang="en-US" sz="1200" dirty="0" smtClean="0"/>
              <a:t>Management</a:t>
            </a:r>
            <a:endParaRPr lang="en-US" sz="1200" dirty="0"/>
          </a:p>
        </p:txBody>
      </p:sp>
      <p:sp>
        <p:nvSpPr>
          <p:cNvPr id="44" name="TextBox 43"/>
          <p:cNvSpPr txBox="1"/>
          <p:nvPr/>
        </p:nvSpPr>
        <p:spPr>
          <a:xfrm>
            <a:off x="219074" y="1295400"/>
            <a:ext cx="2066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Board / Executive Committee</a:t>
            </a:r>
            <a:endParaRPr lang="en-US" sz="1200" dirty="0"/>
          </a:p>
        </p:txBody>
      </p:sp>
      <p:cxnSp>
        <p:nvCxnSpPr>
          <p:cNvPr id="2" name="Straight Connector 1"/>
          <p:cNvCxnSpPr>
            <a:endCxn id="24" idx="0"/>
          </p:cNvCxnSpPr>
          <p:nvPr/>
        </p:nvCxnSpPr>
        <p:spPr>
          <a:xfrm>
            <a:off x="3427915" y="4429558"/>
            <a:ext cx="1" cy="178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>
            <a:endCxn id="7" idx="0"/>
          </p:cNvCxnSpPr>
          <p:nvPr/>
        </p:nvCxnSpPr>
        <p:spPr>
          <a:xfrm>
            <a:off x="5643575" y="4420965"/>
            <a:ext cx="0" cy="126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stCxn id="33" idx="2"/>
          </p:cNvCxnSpPr>
          <p:nvPr/>
        </p:nvCxnSpPr>
        <p:spPr>
          <a:xfrm>
            <a:off x="4476750" y="1951911"/>
            <a:ext cx="0" cy="2469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977816" y="3781082"/>
            <a:ext cx="990600" cy="409918"/>
          </a:xfrm>
          <a:prstGeom prst="rect">
            <a:avLst/>
          </a:prstGeom>
          <a:solidFill>
            <a:schemeClr val="accent1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990721" y="3677113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b="1" dirty="0" smtClean="0"/>
          </a:p>
          <a:p>
            <a:pPr algn="ctr"/>
            <a:r>
              <a:rPr lang="en-US" sz="800" b="1" dirty="0" smtClean="0"/>
              <a:t>Legal Services</a:t>
            </a:r>
          </a:p>
          <a:p>
            <a:pPr algn="ctr"/>
            <a:r>
              <a:rPr lang="en-US" sz="800" b="1" dirty="0" smtClean="0"/>
              <a:t>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1625" y="4547058"/>
            <a:ext cx="723900" cy="405942"/>
          </a:xfrm>
          <a:prstGeom prst="rect">
            <a:avLst/>
          </a:prstGeom>
          <a:solidFill>
            <a:schemeClr val="bg1">
              <a:lumMod val="65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958766" y="2543889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82215" y="3380601"/>
            <a:ext cx="7832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58766" y="2586335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General</a:t>
            </a:r>
          </a:p>
          <a:p>
            <a:pPr algn="ctr"/>
            <a:r>
              <a:rPr lang="en-US" sz="1200" b="1" dirty="0" smtClean="0"/>
              <a:t>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751" y="3380601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Executive</a:t>
            </a:r>
          </a:p>
          <a:p>
            <a:pPr algn="ctr"/>
            <a:r>
              <a:rPr lang="en-US" sz="600" b="1" dirty="0" smtClean="0"/>
              <a:t>Assistant Office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1150" y="4572000"/>
            <a:ext cx="9048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Legal Attorney</a:t>
            </a:r>
          </a:p>
          <a:p>
            <a:pPr algn="ctr"/>
            <a:r>
              <a:rPr lang="en-US" sz="600" b="1" dirty="0" smtClean="0"/>
              <a:t>Retainer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427917" y="4420864"/>
            <a:ext cx="2215658" cy="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1" idx="3"/>
          </p:cNvCxnSpPr>
          <p:nvPr/>
        </p:nvCxnSpPr>
        <p:spPr>
          <a:xfrm flipV="1">
            <a:off x="3673016" y="3503712"/>
            <a:ext cx="800100" cy="15389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7650" y="5715000"/>
            <a:ext cx="1009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Legend: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952500" y="5791200"/>
            <a:ext cx="381000" cy="125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Rectangle 16"/>
          <p:cNvSpPr/>
          <p:nvPr/>
        </p:nvSpPr>
        <p:spPr>
          <a:xfrm>
            <a:off x="952500" y="5970657"/>
            <a:ext cx="381000" cy="12534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333499" y="6139934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Vacant </a:t>
            </a:r>
            <a:endParaRPr lang="en-US" sz="600" dirty="0"/>
          </a:p>
        </p:txBody>
      </p:sp>
      <p:sp>
        <p:nvSpPr>
          <p:cNvPr id="21" name="TextBox 20"/>
          <p:cNvSpPr txBox="1"/>
          <p:nvPr/>
        </p:nvSpPr>
        <p:spPr>
          <a:xfrm>
            <a:off x="1327811" y="5768605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Specific functions hold by designated personnel.</a:t>
            </a:r>
            <a:endParaRPr lang="en-US" sz="600" dirty="0"/>
          </a:p>
        </p:txBody>
      </p:sp>
      <p:sp>
        <p:nvSpPr>
          <p:cNvPr id="22" name="TextBox 21"/>
          <p:cNvSpPr txBox="1"/>
          <p:nvPr/>
        </p:nvSpPr>
        <p:spPr>
          <a:xfrm>
            <a:off x="876300" y="152400"/>
            <a:ext cx="7353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JATHNIER CORPORATION GENERIC ORGANIZATIONAL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RBS TOP LEVEL MANAGEMENT &amp; LEGAL SERVICES DEPARTMENT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057550" y="4559497"/>
            <a:ext cx="723900" cy="3935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036283" y="4608495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Corporate Legal Relations Officer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086" y="6166991"/>
            <a:ext cx="381000" cy="1253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TextBox 28"/>
          <p:cNvSpPr txBox="1"/>
          <p:nvPr/>
        </p:nvSpPr>
        <p:spPr>
          <a:xfrm>
            <a:off x="1333499" y="5940995"/>
            <a:ext cx="2348981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Retainer.</a:t>
            </a:r>
            <a:endParaRPr lang="en-US" sz="600" dirty="0"/>
          </a:p>
        </p:txBody>
      </p:sp>
      <p:cxnSp>
        <p:nvCxnSpPr>
          <p:cNvPr id="30" name="Straight Connector 29"/>
          <p:cNvCxnSpPr>
            <a:stCxn id="23" idx="2"/>
            <a:endCxn id="32" idx="0"/>
          </p:cNvCxnSpPr>
          <p:nvPr/>
        </p:nvCxnSpPr>
        <p:spPr>
          <a:xfrm flipH="1">
            <a:off x="3418368" y="4953000"/>
            <a:ext cx="1132" cy="332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048000" y="5245297"/>
            <a:ext cx="723900" cy="265095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026735" y="5285601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Legal Staff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2400" y="1447800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958766" y="1411315"/>
            <a:ext cx="10287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VP/</a:t>
            </a:r>
          </a:p>
          <a:p>
            <a:pPr algn="ctr"/>
            <a:r>
              <a:rPr lang="en-US" sz="1050" b="1" dirty="0" smtClean="0"/>
              <a:t>Operations Director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9900" y="1447800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819900" y="1551801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President</a:t>
            </a:r>
          </a:p>
        </p:txBody>
      </p:sp>
      <p:cxnSp>
        <p:nvCxnSpPr>
          <p:cNvPr id="37" name="Straight Connector 36"/>
          <p:cNvCxnSpPr>
            <a:stCxn id="33" idx="3"/>
            <a:endCxn id="35" idx="1"/>
          </p:cNvCxnSpPr>
          <p:nvPr/>
        </p:nvCxnSpPr>
        <p:spPr>
          <a:xfrm>
            <a:off x="4991100" y="169985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59933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658087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Rectangle 42"/>
          <p:cNvSpPr/>
          <p:nvPr/>
        </p:nvSpPr>
        <p:spPr>
          <a:xfrm>
            <a:off x="76200" y="1236319"/>
            <a:ext cx="8935594" cy="1002769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4" name="Rectangle 43"/>
          <p:cNvSpPr/>
          <p:nvPr/>
        </p:nvSpPr>
        <p:spPr>
          <a:xfrm>
            <a:off x="76200" y="4324380"/>
            <a:ext cx="8935594" cy="76777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5" name="Rectangle 44"/>
          <p:cNvSpPr/>
          <p:nvPr/>
        </p:nvSpPr>
        <p:spPr>
          <a:xfrm>
            <a:off x="76200" y="2233609"/>
            <a:ext cx="8935594" cy="2099937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6" name="TextBox 45"/>
          <p:cNvSpPr txBox="1"/>
          <p:nvPr/>
        </p:nvSpPr>
        <p:spPr>
          <a:xfrm>
            <a:off x="219074" y="2362200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Top Management</a:t>
            </a:r>
            <a:endParaRPr lang="en-US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110644" y="4415135"/>
            <a:ext cx="1326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Middle </a:t>
            </a:r>
          </a:p>
          <a:p>
            <a:pPr algn="ctr"/>
            <a:r>
              <a:rPr lang="en-US" sz="1200" dirty="0" smtClean="0"/>
              <a:t>Management</a:t>
            </a:r>
            <a:endParaRPr lang="en-US" sz="1200" dirty="0"/>
          </a:p>
        </p:txBody>
      </p:sp>
      <p:sp>
        <p:nvSpPr>
          <p:cNvPr id="48" name="TextBox 47"/>
          <p:cNvSpPr txBox="1"/>
          <p:nvPr/>
        </p:nvSpPr>
        <p:spPr>
          <a:xfrm>
            <a:off x="219074" y="1295400"/>
            <a:ext cx="2066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Board / Executive Committee</a:t>
            </a:r>
            <a:endParaRPr lang="en-US" sz="1200" dirty="0"/>
          </a:p>
        </p:txBody>
      </p:sp>
      <p:cxnSp>
        <p:nvCxnSpPr>
          <p:cNvPr id="42" name="Straight Connector 41"/>
          <p:cNvCxnSpPr/>
          <p:nvPr/>
        </p:nvCxnSpPr>
        <p:spPr>
          <a:xfrm flipH="1">
            <a:off x="6598586" y="4953000"/>
            <a:ext cx="1132" cy="332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" name="Straight Connector 1"/>
          <p:cNvCxnSpPr/>
          <p:nvPr/>
        </p:nvCxnSpPr>
        <p:spPr>
          <a:xfrm>
            <a:off x="5399567" y="4419600"/>
            <a:ext cx="1" cy="178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>
            <a:endCxn id="7" idx="0"/>
          </p:cNvCxnSpPr>
          <p:nvPr/>
        </p:nvCxnSpPr>
        <p:spPr>
          <a:xfrm>
            <a:off x="6604493" y="4420965"/>
            <a:ext cx="0" cy="126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>
            <a:stCxn id="33" idx="2"/>
          </p:cNvCxnSpPr>
          <p:nvPr/>
        </p:nvCxnSpPr>
        <p:spPr>
          <a:xfrm>
            <a:off x="4476750" y="1951911"/>
            <a:ext cx="0" cy="246905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977816" y="3781082"/>
            <a:ext cx="990600" cy="409918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977816" y="3700134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b="1" dirty="0" smtClean="0"/>
          </a:p>
          <a:p>
            <a:pPr algn="ctr"/>
            <a:r>
              <a:rPr lang="en-US" sz="800" b="1" dirty="0" smtClean="0"/>
              <a:t>Supply Chain</a:t>
            </a:r>
          </a:p>
          <a:p>
            <a:pPr algn="ctr"/>
            <a:r>
              <a:rPr lang="en-US" sz="800" b="1" dirty="0" smtClean="0"/>
              <a:t>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6242543" y="4547058"/>
            <a:ext cx="723900" cy="405942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958766" y="2543889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82215" y="3380601"/>
            <a:ext cx="7832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58766" y="2586335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General</a:t>
            </a:r>
          </a:p>
          <a:p>
            <a:pPr algn="ctr"/>
            <a:r>
              <a:rPr lang="en-US" sz="1200" b="1" dirty="0" smtClean="0"/>
              <a:t>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751" y="3380601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Executive</a:t>
            </a:r>
          </a:p>
          <a:p>
            <a:pPr algn="ctr"/>
            <a:r>
              <a:rPr lang="en-US" sz="600" b="1" dirty="0" smtClean="0"/>
              <a:t>Assistant Office</a:t>
            </a:r>
          </a:p>
        </p:txBody>
      </p:sp>
      <p:cxnSp>
        <p:nvCxnSpPr>
          <p:cNvPr id="13" name="Straight Connector 12"/>
          <p:cNvCxnSpPr/>
          <p:nvPr/>
        </p:nvCxnSpPr>
        <p:spPr>
          <a:xfrm flipV="1">
            <a:off x="3191028" y="4411602"/>
            <a:ext cx="3419322" cy="11276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1" idx="3"/>
          </p:cNvCxnSpPr>
          <p:nvPr/>
        </p:nvCxnSpPr>
        <p:spPr>
          <a:xfrm flipV="1">
            <a:off x="3673016" y="3515468"/>
            <a:ext cx="796197" cy="3633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7650" y="5715000"/>
            <a:ext cx="1009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Legend: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346584" y="6063734"/>
            <a:ext cx="381000" cy="125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727583" y="6216134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Vacant </a:t>
            </a:r>
            <a:endParaRPr lang="en-US" sz="600" dirty="0"/>
          </a:p>
        </p:txBody>
      </p:sp>
      <p:sp>
        <p:nvSpPr>
          <p:cNvPr id="21" name="TextBox 20"/>
          <p:cNvSpPr txBox="1"/>
          <p:nvPr/>
        </p:nvSpPr>
        <p:spPr>
          <a:xfrm>
            <a:off x="721895" y="6041139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Specific functions hold by designated personnel.</a:t>
            </a:r>
            <a:endParaRPr lang="en-US" sz="600" dirty="0"/>
          </a:p>
        </p:txBody>
      </p:sp>
      <p:sp>
        <p:nvSpPr>
          <p:cNvPr id="22" name="TextBox 21"/>
          <p:cNvSpPr txBox="1"/>
          <p:nvPr/>
        </p:nvSpPr>
        <p:spPr>
          <a:xfrm>
            <a:off x="876300" y="152400"/>
            <a:ext cx="7353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JATHNIER CORPORATION GENERIC ORGANIZATIONAL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TOP LEVEL MANAGEMENT &amp; SUPPLY CHAIN MANAGEMENT DEPARTMENT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5029200" y="4559497"/>
            <a:ext cx="723900" cy="39350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5007935" y="4540150"/>
            <a:ext cx="783265" cy="44627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Purchaser 1</a:t>
            </a:r>
          </a:p>
          <a:p>
            <a:pPr algn="ctr"/>
            <a:r>
              <a:rPr lang="en-US" sz="500" b="1" dirty="0" smtClean="0"/>
              <a:t>(Raw Mats, Office &amp; branch Supplies, Forms, Equipment)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49170" y="6243191"/>
            <a:ext cx="381000" cy="1253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>
            <a:stCxn id="23" idx="2"/>
            <a:endCxn id="32" idx="0"/>
          </p:cNvCxnSpPr>
          <p:nvPr/>
        </p:nvCxnSpPr>
        <p:spPr>
          <a:xfrm flipH="1">
            <a:off x="5390018" y="4953000"/>
            <a:ext cx="1132" cy="332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5019650" y="5245297"/>
            <a:ext cx="723900" cy="39350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4998385" y="5285601"/>
            <a:ext cx="783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Purchasing Staff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2400" y="1447800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962400" y="1411315"/>
            <a:ext cx="10287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VP/</a:t>
            </a:r>
          </a:p>
          <a:p>
            <a:pPr algn="ctr"/>
            <a:r>
              <a:rPr lang="en-US" sz="1050" b="1" dirty="0" smtClean="0"/>
              <a:t>Operations Director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9900" y="1447800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819900" y="1551801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President</a:t>
            </a:r>
          </a:p>
        </p:txBody>
      </p:sp>
      <p:cxnSp>
        <p:nvCxnSpPr>
          <p:cNvPr id="37" name="Straight Connector 36"/>
          <p:cNvCxnSpPr>
            <a:stCxn id="33" idx="3"/>
            <a:endCxn id="35" idx="1"/>
          </p:cNvCxnSpPr>
          <p:nvPr/>
        </p:nvCxnSpPr>
        <p:spPr>
          <a:xfrm>
            <a:off x="4991100" y="169985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59933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9" name="TextBox 38"/>
          <p:cNvSpPr txBox="1"/>
          <p:nvPr/>
        </p:nvSpPr>
        <p:spPr>
          <a:xfrm>
            <a:off x="6218718" y="4587226"/>
            <a:ext cx="783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 smtClean="0"/>
              <a:t>Purchaser 2</a:t>
            </a:r>
          </a:p>
          <a:p>
            <a:pPr algn="ctr"/>
            <a:r>
              <a:rPr lang="en-US" sz="700" b="1" dirty="0" smtClean="0"/>
              <a:t>(Construction)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248400" y="5245297"/>
            <a:ext cx="723900" cy="3935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6227135" y="5285601"/>
            <a:ext cx="783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Purchasing Staff</a:t>
            </a:r>
          </a:p>
        </p:txBody>
      </p:sp>
      <p:cxnSp>
        <p:nvCxnSpPr>
          <p:cNvPr id="49" name="Straight Connector 48"/>
          <p:cNvCxnSpPr/>
          <p:nvPr/>
        </p:nvCxnSpPr>
        <p:spPr>
          <a:xfrm>
            <a:off x="4267619" y="4424974"/>
            <a:ext cx="1" cy="178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0" name="Rectangle 49"/>
          <p:cNvSpPr/>
          <p:nvPr/>
        </p:nvSpPr>
        <p:spPr>
          <a:xfrm>
            <a:off x="3917015" y="4566405"/>
            <a:ext cx="723900" cy="39350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/>
          <p:cNvSpPr txBox="1"/>
          <p:nvPr/>
        </p:nvSpPr>
        <p:spPr>
          <a:xfrm>
            <a:off x="3877782" y="4593879"/>
            <a:ext cx="783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Logistics Supervisor</a:t>
            </a:r>
          </a:p>
        </p:txBody>
      </p:sp>
      <p:cxnSp>
        <p:nvCxnSpPr>
          <p:cNvPr id="52" name="Straight Connector 51"/>
          <p:cNvCxnSpPr>
            <a:stCxn id="50" idx="2"/>
            <a:endCxn id="71" idx="0"/>
          </p:cNvCxnSpPr>
          <p:nvPr/>
        </p:nvCxnSpPr>
        <p:spPr>
          <a:xfrm flipH="1">
            <a:off x="4267621" y="4959908"/>
            <a:ext cx="11344" cy="124037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Rectangle 52"/>
          <p:cNvSpPr/>
          <p:nvPr/>
        </p:nvSpPr>
        <p:spPr>
          <a:xfrm>
            <a:off x="3907465" y="5252205"/>
            <a:ext cx="723900" cy="39350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4" name="TextBox 53"/>
          <p:cNvSpPr txBox="1"/>
          <p:nvPr/>
        </p:nvSpPr>
        <p:spPr>
          <a:xfrm>
            <a:off x="3875986" y="5341234"/>
            <a:ext cx="783265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Fleet Officer</a:t>
            </a:r>
          </a:p>
        </p:txBody>
      </p:sp>
      <p:cxnSp>
        <p:nvCxnSpPr>
          <p:cNvPr id="55" name="Straight Connector 54"/>
          <p:cNvCxnSpPr/>
          <p:nvPr/>
        </p:nvCxnSpPr>
        <p:spPr>
          <a:xfrm>
            <a:off x="3201583" y="4415232"/>
            <a:ext cx="1" cy="178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6" name="Rectangle 55"/>
          <p:cNvSpPr/>
          <p:nvPr/>
        </p:nvSpPr>
        <p:spPr>
          <a:xfrm>
            <a:off x="2831216" y="4555129"/>
            <a:ext cx="723900" cy="393503"/>
          </a:xfrm>
          <a:prstGeom prst="rect">
            <a:avLst/>
          </a:prstGeom>
          <a:solidFill>
            <a:schemeClr val="tx2">
              <a:lumMod val="40000"/>
              <a:lumOff val="6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7" name="TextBox 56"/>
          <p:cNvSpPr txBox="1"/>
          <p:nvPr/>
        </p:nvSpPr>
        <p:spPr>
          <a:xfrm>
            <a:off x="2804831" y="4582600"/>
            <a:ext cx="783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Warehouse</a:t>
            </a:r>
          </a:p>
          <a:p>
            <a:pPr algn="ctr"/>
            <a:r>
              <a:rPr lang="en-US" sz="800" b="1" dirty="0" smtClean="0"/>
              <a:t>Supervisor</a:t>
            </a:r>
          </a:p>
        </p:txBody>
      </p:sp>
      <p:cxnSp>
        <p:nvCxnSpPr>
          <p:cNvPr id="58" name="Straight Connector 57"/>
          <p:cNvCxnSpPr>
            <a:stCxn id="56" idx="2"/>
            <a:endCxn id="62" idx="0"/>
          </p:cNvCxnSpPr>
          <p:nvPr/>
        </p:nvCxnSpPr>
        <p:spPr>
          <a:xfrm flipH="1">
            <a:off x="3191027" y="4948632"/>
            <a:ext cx="2139" cy="1240445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2829078" y="5240929"/>
            <a:ext cx="723900" cy="47407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0" name="TextBox 59"/>
          <p:cNvSpPr txBox="1"/>
          <p:nvPr/>
        </p:nvSpPr>
        <p:spPr>
          <a:xfrm>
            <a:off x="2799395" y="5244209"/>
            <a:ext cx="7832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Documentation Officer</a:t>
            </a:r>
          </a:p>
          <a:p>
            <a:pPr algn="ctr"/>
            <a:endParaRPr lang="en-US" sz="600" b="1" dirty="0"/>
          </a:p>
          <a:p>
            <a:pPr algn="ctr"/>
            <a:r>
              <a:rPr lang="en-US" sz="600" b="1" dirty="0" smtClean="0"/>
              <a:t>Warehouseman</a:t>
            </a:r>
          </a:p>
        </p:txBody>
      </p:sp>
      <p:sp>
        <p:nvSpPr>
          <p:cNvPr id="61" name="Rectangle 60"/>
          <p:cNvSpPr/>
          <p:nvPr/>
        </p:nvSpPr>
        <p:spPr>
          <a:xfrm>
            <a:off x="2829078" y="5848603"/>
            <a:ext cx="723900" cy="2151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2" name="Rectangle 61"/>
          <p:cNvSpPr/>
          <p:nvPr/>
        </p:nvSpPr>
        <p:spPr>
          <a:xfrm>
            <a:off x="2829077" y="6189077"/>
            <a:ext cx="723900" cy="2151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6" name="TextBox 65"/>
          <p:cNvSpPr txBox="1"/>
          <p:nvPr/>
        </p:nvSpPr>
        <p:spPr>
          <a:xfrm>
            <a:off x="2796706" y="5869955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Checker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2796705" y="6204309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Helper</a:t>
            </a:r>
          </a:p>
        </p:txBody>
      </p:sp>
      <p:sp>
        <p:nvSpPr>
          <p:cNvPr id="68" name="Rectangle 67"/>
          <p:cNvSpPr/>
          <p:nvPr/>
        </p:nvSpPr>
        <p:spPr>
          <a:xfrm>
            <a:off x="3908361" y="5844574"/>
            <a:ext cx="723900" cy="2151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9" name="Rectangle 68"/>
          <p:cNvSpPr/>
          <p:nvPr/>
        </p:nvSpPr>
        <p:spPr>
          <a:xfrm>
            <a:off x="3908360" y="6185048"/>
            <a:ext cx="723900" cy="21513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TextBox 69"/>
          <p:cNvSpPr txBox="1"/>
          <p:nvPr/>
        </p:nvSpPr>
        <p:spPr>
          <a:xfrm>
            <a:off x="3875989" y="5865926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Driver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3875988" y="6200280"/>
            <a:ext cx="783265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Helper</a:t>
            </a:r>
          </a:p>
        </p:txBody>
      </p:sp>
    </p:spTree>
    <p:extLst>
      <p:ext uri="{BB962C8B-B14F-4D97-AF65-F5344CB8AC3E}">
        <p14:creationId xmlns:p14="http://schemas.microsoft.com/office/powerpoint/2010/main" val="13353916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Rectangle 41"/>
          <p:cNvSpPr/>
          <p:nvPr/>
        </p:nvSpPr>
        <p:spPr>
          <a:xfrm>
            <a:off x="76200" y="1281510"/>
            <a:ext cx="8935594" cy="1012528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3" name="Rectangle 42"/>
          <p:cNvSpPr/>
          <p:nvPr/>
        </p:nvSpPr>
        <p:spPr>
          <a:xfrm>
            <a:off x="76200" y="3133468"/>
            <a:ext cx="8935594" cy="19820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4" name="Rectangle 43"/>
          <p:cNvSpPr/>
          <p:nvPr/>
        </p:nvSpPr>
        <p:spPr>
          <a:xfrm>
            <a:off x="76200" y="2299156"/>
            <a:ext cx="8935594" cy="2023659"/>
          </a:xfrm>
          <a:prstGeom prst="rect">
            <a:avLst/>
          </a:prstGeom>
          <a:solidFill>
            <a:schemeClr val="bg2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PH"/>
          </a:p>
        </p:txBody>
      </p:sp>
      <p:sp>
        <p:nvSpPr>
          <p:cNvPr id="45" name="TextBox 44"/>
          <p:cNvSpPr txBox="1"/>
          <p:nvPr/>
        </p:nvSpPr>
        <p:spPr>
          <a:xfrm>
            <a:off x="219074" y="2390001"/>
            <a:ext cx="130492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Top Management</a:t>
            </a:r>
            <a:endParaRPr lang="en-US" sz="1200" dirty="0"/>
          </a:p>
        </p:txBody>
      </p:sp>
      <p:sp>
        <p:nvSpPr>
          <p:cNvPr id="46" name="TextBox 45"/>
          <p:cNvSpPr txBox="1"/>
          <p:nvPr/>
        </p:nvSpPr>
        <p:spPr>
          <a:xfrm>
            <a:off x="110644" y="4415135"/>
            <a:ext cx="132652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dirty="0" smtClean="0"/>
              <a:t>Middle </a:t>
            </a:r>
          </a:p>
          <a:p>
            <a:pPr algn="ctr"/>
            <a:r>
              <a:rPr lang="en-US" sz="1200" dirty="0" smtClean="0"/>
              <a:t>Management</a:t>
            </a:r>
            <a:endParaRPr lang="en-US" sz="1200" dirty="0"/>
          </a:p>
        </p:txBody>
      </p:sp>
      <p:sp>
        <p:nvSpPr>
          <p:cNvPr id="47" name="TextBox 46"/>
          <p:cNvSpPr txBox="1"/>
          <p:nvPr/>
        </p:nvSpPr>
        <p:spPr>
          <a:xfrm>
            <a:off x="219074" y="1295400"/>
            <a:ext cx="206692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Board / Executive Committee</a:t>
            </a:r>
            <a:endParaRPr lang="en-US" sz="1200" dirty="0"/>
          </a:p>
        </p:txBody>
      </p:sp>
      <p:cxnSp>
        <p:nvCxnSpPr>
          <p:cNvPr id="2" name="Straight Connector 1"/>
          <p:cNvCxnSpPr>
            <a:endCxn id="24" idx="0"/>
          </p:cNvCxnSpPr>
          <p:nvPr/>
        </p:nvCxnSpPr>
        <p:spPr>
          <a:xfrm>
            <a:off x="3427917" y="4420864"/>
            <a:ext cx="1" cy="17893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" name="Straight Connector 2"/>
          <p:cNvCxnSpPr>
            <a:endCxn id="7" idx="0"/>
          </p:cNvCxnSpPr>
          <p:nvPr/>
        </p:nvCxnSpPr>
        <p:spPr>
          <a:xfrm>
            <a:off x="5643575" y="4420965"/>
            <a:ext cx="0" cy="126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Straight Connector 3"/>
          <p:cNvCxnSpPr/>
          <p:nvPr/>
        </p:nvCxnSpPr>
        <p:spPr>
          <a:xfrm>
            <a:off x="4473116" y="1951911"/>
            <a:ext cx="0" cy="3502967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3977816" y="3781082"/>
            <a:ext cx="990600" cy="409918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TextBox 5"/>
          <p:cNvSpPr txBox="1"/>
          <p:nvPr/>
        </p:nvSpPr>
        <p:spPr>
          <a:xfrm>
            <a:off x="3977816" y="3700134"/>
            <a:ext cx="990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endParaRPr lang="en-US" sz="800" b="1" dirty="0" smtClean="0"/>
          </a:p>
          <a:p>
            <a:pPr algn="ctr"/>
            <a:r>
              <a:rPr lang="en-US" sz="800" b="1" dirty="0" smtClean="0"/>
              <a:t>Audit &amp; Risk</a:t>
            </a:r>
          </a:p>
          <a:p>
            <a:pPr algn="ctr"/>
            <a:r>
              <a:rPr lang="en-US" sz="800" b="1" dirty="0" smtClean="0"/>
              <a:t>Manager</a:t>
            </a:r>
          </a:p>
        </p:txBody>
      </p:sp>
      <p:sp>
        <p:nvSpPr>
          <p:cNvPr id="7" name="Rectangle 6"/>
          <p:cNvSpPr/>
          <p:nvPr/>
        </p:nvSpPr>
        <p:spPr>
          <a:xfrm>
            <a:off x="5281625" y="4547058"/>
            <a:ext cx="723900" cy="40594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>
          <a:xfrm>
            <a:off x="3958766" y="2543889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>
          <a:xfrm>
            <a:off x="2882215" y="3380601"/>
            <a:ext cx="783264" cy="24622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TextBox 9"/>
          <p:cNvSpPr txBox="1"/>
          <p:nvPr/>
        </p:nvSpPr>
        <p:spPr>
          <a:xfrm>
            <a:off x="3958766" y="2586335"/>
            <a:ext cx="10287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General</a:t>
            </a:r>
          </a:p>
          <a:p>
            <a:pPr algn="ctr"/>
            <a:r>
              <a:rPr lang="en-US" sz="1200" b="1" dirty="0" smtClean="0"/>
              <a:t>Manager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889751" y="3380601"/>
            <a:ext cx="78326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Executive</a:t>
            </a:r>
          </a:p>
          <a:p>
            <a:pPr algn="ctr"/>
            <a:r>
              <a:rPr lang="en-US" sz="600" b="1" dirty="0" smtClean="0"/>
              <a:t>Assistant Office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191150" y="4572000"/>
            <a:ext cx="9048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600" b="1" dirty="0" smtClean="0"/>
              <a:t>Management Information System</a:t>
            </a:r>
          </a:p>
          <a:p>
            <a:pPr algn="ctr"/>
            <a:r>
              <a:rPr lang="en-US" sz="600" b="1" dirty="0" smtClean="0"/>
              <a:t>Officer (MIS)</a:t>
            </a:r>
          </a:p>
        </p:txBody>
      </p:sp>
      <p:cxnSp>
        <p:nvCxnSpPr>
          <p:cNvPr id="13" name="Straight Connector 12"/>
          <p:cNvCxnSpPr/>
          <p:nvPr/>
        </p:nvCxnSpPr>
        <p:spPr>
          <a:xfrm>
            <a:off x="3427917" y="4421473"/>
            <a:ext cx="2215658" cy="10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>
            <a:stCxn id="11" idx="3"/>
          </p:cNvCxnSpPr>
          <p:nvPr/>
        </p:nvCxnSpPr>
        <p:spPr>
          <a:xfrm flipV="1">
            <a:off x="3673016" y="3503712"/>
            <a:ext cx="800100" cy="15389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247650" y="5715000"/>
            <a:ext cx="10096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200" dirty="0" smtClean="0"/>
              <a:t>Legend:</a:t>
            </a:r>
            <a:endParaRPr lang="en-US" sz="1200" dirty="0"/>
          </a:p>
        </p:txBody>
      </p:sp>
      <p:sp>
        <p:nvSpPr>
          <p:cNvPr id="16" name="Rectangle 15"/>
          <p:cNvSpPr/>
          <p:nvPr/>
        </p:nvSpPr>
        <p:spPr>
          <a:xfrm>
            <a:off x="952500" y="5791200"/>
            <a:ext cx="381000" cy="12534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0" name="TextBox 19"/>
          <p:cNvSpPr txBox="1"/>
          <p:nvPr/>
        </p:nvSpPr>
        <p:spPr>
          <a:xfrm>
            <a:off x="1333499" y="5987534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Vacant </a:t>
            </a:r>
            <a:endParaRPr lang="en-US" sz="600" dirty="0"/>
          </a:p>
        </p:txBody>
      </p:sp>
      <p:sp>
        <p:nvSpPr>
          <p:cNvPr id="21" name="TextBox 20"/>
          <p:cNvSpPr txBox="1"/>
          <p:nvPr/>
        </p:nvSpPr>
        <p:spPr>
          <a:xfrm>
            <a:off x="1327811" y="5768605"/>
            <a:ext cx="1863217" cy="18466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" dirty="0" smtClean="0"/>
              <a:t>Specific functions hold by designated personnel.</a:t>
            </a:r>
            <a:endParaRPr lang="en-US" sz="600" dirty="0"/>
          </a:p>
        </p:txBody>
      </p:sp>
      <p:sp>
        <p:nvSpPr>
          <p:cNvPr id="22" name="TextBox 21"/>
          <p:cNvSpPr txBox="1"/>
          <p:nvPr/>
        </p:nvSpPr>
        <p:spPr>
          <a:xfrm>
            <a:off x="876300" y="152400"/>
            <a:ext cx="73533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JATHNIER CORPORATION GENERIC ORGANIZATIONAL </a:t>
            </a:r>
            <a:r>
              <a:rPr lang="en-US" sz="2000" b="1" dirty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STRUCTURE </a:t>
            </a:r>
            <a:r>
              <a:rPr lang="en-US" sz="2000" b="1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OF TOP LEVEL MANAGEMENT &amp; INTERNAL AUDIT DEPARTMENT 2022</a:t>
            </a:r>
            <a:endParaRPr lang="en-US" sz="2000" b="1" dirty="0">
              <a:solidFill>
                <a:srgbClr val="FF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23" name="Rectangle 22"/>
          <p:cNvSpPr/>
          <p:nvPr/>
        </p:nvSpPr>
        <p:spPr>
          <a:xfrm>
            <a:off x="3057550" y="4559497"/>
            <a:ext cx="723900" cy="3935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/>
          <p:cNvSpPr txBox="1"/>
          <p:nvPr/>
        </p:nvSpPr>
        <p:spPr>
          <a:xfrm>
            <a:off x="3036285" y="4599801"/>
            <a:ext cx="783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Functional Audit Officer</a:t>
            </a:r>
          </a:p>
        </p:txBody>
      </p:sp>
      <p:sp>
        <p:nvSpPr>
          <p:cNvPr id="28" name="Rectangle 27"/>
          <p:cNvSpPr/>
          <p:nvPr/>
        </p:nvSpPr>
        <p:spPr>
          <a:xfrm>
            <a:off x="955086" y="6014591"/>
            <a:ext cx="381000" cy="12534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30" name="Straight Connector 29"/>
          <p:cNvCxnSpPr>
            <a:stCxn id="23" idx="2"/>
            <a:endCxn id="32" idx="0"/>
          </p:cNvCxnSpPr>
          <p:nvPr/>
        </p:nvCxnSpPr>
        <p:spPr>
          <a:xfrm flipH="1">
            <a:off x="3418368" y="4953000"/>
            <a:ext cx="1132" cy="332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" name="Rectangle 30"/>
          <p:cNvSpPr/>
          <p:nvPr/>
        </p:nvSpPr>
        <p:spPr>
          <a:xfrm>
            <a:off x="3048000" y="5245297"/>
            <a:ext cx="723900" cy="3935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2" name="TextBox 31"/>
          <p:cNvSpPr txBox="1"/>
          <p:nvPr/>
        </p:nvSpPr>
        <p:spPr>
          <a:xfrm>
            <a:off x="3026735" y="5285601"/>
            <a:ext cx="783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Internal Auditor</a:t>
            </a:r>
          </a:p>
        </p:txBody>
      </p:sp>
      <p:sp>
        <p:nvSpPr>
          <p:cNvPr id="33" name="Rectangle 32"/>
          <p:cNvSpPr/>
          <p:nvPr/>
        </p:nvSpPr>
        <p:spPr>
          <a:xfrm>
            <a:off x="3962400" y="1447800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4" name="TextBox 33"/>
          <p:cNvSpPr txBox="1"/>
          <p:nvPr/>
        </p:nvSpPr>
        <p:spPr>
          <a:xfrm>
            <a:off x="3977816" y="1411315"/>
            <a:ext cx="1028700" cy="5770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50" b="1" dirty="0" smtClean="0"/>
              <a:t>VP/</a:t>
            </a:r>
          </a:p>
          <a:p>
            <a:pPr algn="ctr"/>
            <a:r>
              <a:rPr lang="en-US" sz="1050" b="1" dirty="0" smtClean="0"/>
              <a:t>Operations Director</a:t>
            </a:r>
          </a:p>
        </p:txBody>
      </p:sp>
      <p:sp>
        <p:nvSpPr>
          <p:cNvPr id="35" name="Rectangle 34"/>
          <p:cNvSpPr/>
          <p:nvPr/>
        </p:nvSpPr>
        <p:spPr>
          <a:xfrm>
            <a:off x="6819900" y="1447800"/>
            <a:ext cx="1028700" cy="504111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TextBox 35"/>
          <p:cNvSpPr txBox="1"/>
          <p:nvPr/>
        </p:nvSpPr>
        <p:spPr>
          <a:xfrm>
            <a:off x="6819900" y="1551801"/>
            <a:ext cx="102870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200" b="1" dirty="0" smtClean="0"/>
              <a:t>President</a:t>
            </a:r>
          </a:p>
        </p:txBody>
      </p:sp>
      <p:cxnSp>
        <p:nvCxnSpPr>
          <p:cNvPr id="37" name="Straight Connector 36"/>
          <p:cNvCxnSpPr>
            <a:stCxn id="33" idx="3"/>
            <a:endCxn id="35" idx="1"/>
          </p:cNvCxnSpPr>
          <p:nvPr/>
        </p:nvCxnSpPr>
        <p:spPr>
          <a:xfrm>
            <a:off x="4991100" y="1699856"/>
            <a:ext cx="182880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8" name="Picture 2" descr="C:\Users\User\Desktop\ROSE LOGO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6438" y="5993368"/>
            <a:ext cx="921006" cy="6464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9" name="Straight Connector 38"/>
          <p:cNvCxnSpPr>
            <a:endCxn id="41" idx="0"/>
          </p:cNvCxnSpPr>
          <p:nvPr/>
        </p:nvCxnSpPr>
        <p:spPr>
          <a:xfrm flipH="1">
            <a:off x="5628168" y="4953000"/>
            <a:ext cx="1132" cy="332601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Rectangle 39"/>
          <p:cNvSpPr/>
          <p:nvPr/>
        </p:nvSpPr>
        <p:spPr>
          <a:xfrm>
            <a:off x="5257800" y="5245297"/>
            <a:ext cx="723900" cy="393503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1" name="TextBox 40"/>
          <p:cNvSpPr txBox="1"/>
          <p:nvPr/>
        </p:nvSpPr>
        <p:spPr>
          <a:xfrm>
            <a:off x="5236535" y="5285601"/>
            <a:ext cx="78326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700" b="1" dirty="0" smtClean="0"/>
              <a:t>Information</a:t>
            </a:r>
          </a:p>
          <a:p>
            <a:pPr algn="ctr"/>
            <a:r>
              <a:rPr lang="en-US" sz="700" b="1" dirty="0" smtClean="0"/>
              <a:t>Technology (IT)</a:t>
            </a:r>
          </a:p>
        </p:txBody>
      </p:sp>
      <p:sp>
        <p:nvSpPr>
          <p:cNvPr id="49" name="Rectangle 48"/>
          <p:cNvSpPr/>
          <p:nvPr/>
        </p:nvSpPr>
        <p:spPr>
          <a:xfrm>
            <a:off x="4145615" y="4560119"/>
            <a:ext cx="723900" cy="3935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TextBox 49"/>
          <p:cNvSpPr txBox="1"/>
          <p:nvPr/>
        </p:nvSpPr>
        <p:spPr>
          <a:xfrm>
            <a:off x="4124350" y="4600423"/>
            <a:ext cx="783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Financial Audit Officer</a:t>
            </a:r>
          </a:p>
        </p:txBody>
      </p:sp>
      <p:sp>
        <p:nvSpPr>
          <p:cNvPr id="52" name="Rectangle 51"/>
          <p:cNvSpPr/>
          <p:nvPr/>
        </p:nvSpPr>
        <p:spPr>
          <a:xfrm>
            <a:off x="4136065" y="5245919"/>
            <a:ext cx="723900" cy="393503"/>
          </a:xfrm>
          <a:prstGeom prst="rect">
            <a:avLst/>
          </a:prstGeom>
          <a:solidFill>
            <a:schemeClr val="accent1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3" name="TextBox 52"/>
          <p:cNvSpPr txBox="1"/>
          <p:nvPr/>
        </p:nvSpPr>
        <p:spPr>
          <a:xfrm>
            <a:off x="4114800" y="5286223"/>
            <a:ext cx="783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Internal Auditor</a:t>
            </a:r>
          </a:p>
        </p:txBody>
      </p:sp>
      <p:sp>
        <p:nvSpPr>
          <p:cNvPr id="54" name="Rectangle 53"/>
          <p:cNvSpPr/>
          <p:nvPr/>
        </p:nvSpPr>
        <p:spPr>
          <a:xfrm>
            <a:off x="6247191" y="4538552"/>
            <a:ext cx="723900" cy="393503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3175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5" name="TextBox 54"/>
          <p:cNvSpPr txBox="1"/>
          <p:nvPr/>
        </p:nvSpPr>
        <p:spPr>
          <a:xfrm>
            <a:off x="6227135" y="4580541"/>
            <a:ext cx="783265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800" b="1" dirty="0" smtClean="0"/>
              <a:t>External Auditor</a:t>
            </a:r>
          </a:p>
        </p:txBody>
      </p:sp>
      <p:cxnSp>
        <p:nvCxnSpPr>
          <p:cNvPr id="56" name="Straight Connector 55"/>
          <p:cNvCxnSpPr/>
          <p:nvPr/>
        </p:nvCxnSpPr>
        <p:spPr>
          <a:xfrm>
            <a:off x="6610350" y="4420964"/>
            <a:ext cx="0" cy="126093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Straight Connector 56"/>
          <p:cNvCxnSpPr/>
          <p:nvPr/>
        </p:nvCxnSpPr>
        <p:spPr>
          <a:xfrm>
            <a:off x="5628167" y="4419409"/>
            <a:ext cx="980974" cy="3828"/>
          </a:xfrm>
          <a:prstGeom prst="line">
            <a:avLst/>
          </a:prstGeom>
          <a:ln>
            <a:prstDash val="lg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34153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4043</TotalTime>
  <Words>4925</Words>
  <Application>Microsoft Office PowerPoint</Application>
  <PresentationFormat>On-screen Show (4:3)</PresentationFormat>
  <Paragraphs>898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0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User</dc:creator>
  <cp:lastModifiedBy>GLC</cp:lastModifiedBy>
  <cp:revision>325</cp:revision>
  <cp:lastPrinted>2019-05-24T06:24:40Z</cp:lastPrinted>
  <dcterms:created xsi:type="dcterms:W3CDTF">2017-09-08T05:03:54Z</dcterms:created>
  <dcterms:modified xsi:type="dcterms:W3CDTF">2023-05-23T03:34:13Z</dcterms:modified>
</cp:coreProperties>
</file>